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Outfit ExtraBold"/>
      <p:bold r:id="rId21"/>
    </p:embeddedFont>
    <p:embeddedFont>
      <p:font typeface="Plus Jakarta Sans"/>
      <p:regular r:id="rId22"/>
      <p:bold r:id="rId23"/>
      <p:italic r:id="rId24"/>
      <p:boldItalic r:id="rId25"/>
    </p:embeddedFont>
    <p:embeddedFont>
      <p:font typeface="Outfit"/>
      <p:regular r:id="rId26"/>
      <p:bold r:id="rId27"/>
    </p:embeddedFont>
    <p:embeddedFont>
      <p:font typeface="Plus Jakarta Sans Medium"/>
      <p:regular r:id="rId28"/>
      <p:bold r:id="rId29"/>
      <p:italic r:id="rId30"/>
      <p:boldItalic r:id="rId31"/>
    </p:embeddedFont>
    <p:embeddedFont>
      <p:font typeface="Outfit SemiBold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0C5A9C-FC89-42B1-A8F8-8DF4940E52CC}">
  <a:tblStyle styleId="{9B0C5A9C-FC89-42B1-A8F8-8DF4940E52C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lusJakartaSans-regular.fntdata"/><Relationship Id="rId21" Type="http://schemas.openxmlformats.org/officeDocument/2006/relationships/font" Target="fonts/OutfitExtraBold-bold.fntdata"/><Relationship Id="rId24" Type="http://schemas.openxmlformats.org/officeDocument/2006/relationships/font" Target="fonts/PlusJakartaSans-italic.fntdata"/><Relationship Id="rId23" Type="http://schemas.openxmlformats.org/officeDocument/2006/relationships/font" Target="fonts/PlusJakarta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utfit-regular.fntdata"/><Relationship Id="rId25" Type="http://schemas.openxmlformats.org/officeDocument/2006/relationships/font" Target="fonts/PlusJakartaSans-boldItalic.fntdata"/><Relationship Id="rId28" Type="http://schemas.openxmlformats.org/officeDocument/2006/relationships/font" Target="fonts/PlusJakartaSansMedium-regular.fntdata"/><Relationship Id="rId27" Type="http://schemas.openxmlformats.org/officeDocument/2006/relationships/font" Target="fonts/Outfi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usJakartaSansMedium-boldItalic.fntdata"/><Relationship Id="rId30" Type="http://schemas.openxmlformats.org/officeDocument/2006/relationships/font" Target="fonts/PlusJakartaSansMedium-italic.fntdata"/><Relationship Id="rId11" Type="http://schemas.openxmlformats.org/officeDocument/2006/relationships/slide" Target="slides/slide5.xml"/><Relationship Id="rId33" Type="http://schemas.openxmlformats.org/officeDocument/2006/relationships/font" Target="fonts/OutfitSemiBold-bold.fntdata"/><Relationship Id="rId10" Type="http://schemas.openxmlformats.org/officeDocument/2006/relationships/slide" Target="slides/slide4.xml"/><Relationship Id="rId32" Type="http://schemas.openxmlformats.org/officeDocument/2006/relationships/font" Target="fonts/OutfitSemiBold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11" Type="http://schemas.openxmlformats.org/officeDocument/2006/relationships/image" Target="../media/image16.png"/><Relationship Id="rId10" Type="http://schemas.openxmlformats.org/officeDocument/2006/relationships/image" Target="../media/image7.png"/><Relationship Id="rId9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11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33.png"/><Relationship Id="rId7" Type="http://schemas.openxmlformats.org/officeDocument/2006/relationships/image" Target="../media/image22.png"/><Relationship Id="rId8" Type="http://schemas.openxmlformats.org/officeDocument/2006/relationships/image" Target="../media/image3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53.png"/><Relationship Id="rId5" Type="http://schemas.openxmlformats.org/officeDocument/2006/relationships/image" Target="../media/image4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4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8.png"/><Relationship Id="rId9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37.png"/><Relationship Id="rId7" Type="http://schemas.openxmlformats.org/officeDocument/2006/relationships/image" Target="../media/image35.png"/><Relationship Id="rId8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54.png"/><Relationship Id="rId9" Type="http://schemas.openxmlformats.org/officeDocument/2006/relationships/image" Target="../media/image57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32.png"/><Relationship Id="rId8" Type="http://schemas.openxmlformats.org/officeDocument/2006/relationships/image" Target="../media/image43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52.png"/><Relationship Id="rId10" Type="http://schemas.openxmlformats.org/officeDocument/2006/relationships/image" Target="../media/image40.png"/><Relationship Id="rId13" Type="http://schemas.openxmlformats.org/officeDocument/2006/relationships/image" Target="../media/image46.png"/><Relationship Id="rId1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34.png"/><Relationship Id="rId9" Type="http://schemas.openxmlformats.org/officeDocument/2006/relationships/image" Target="../media/image41.png"/><Relationship Id="rId15" Type="http://schemas.openxmlformats.org/officeDocument/2006/relationships/image" Target="../media/image47.png"/><Relationship Id="rId14" Type="http://schemas.openxmlformats.org/officeDocument/2006/relationships/image" Target="../media/image44.png"/><Relationship Id="rId5" Type="http://schemas.openxmlformats.org/officeDocument/2006/relationships/image" Target="../media/image31.png"/><Relationship Id="rId6" Type="http://schemas.openxmlformats.org/officeDocument/2006/relationships/image" Target="../media/image58.png"/><Relationship Id="rId7" Type="http://schemas.openxmlformats.org/officeDocument/2006/relationships/image" Target="../media/image38.png"/><Relationship Id="rId8" Type="http://schemas.openxmlformats.org/officeDocument/2006/relationships/image" Target="../media/image4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695801"/>
            <a:ext cx="106680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95375" y="571500"/>
            <a:ext cx="10001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UNFV | FIIS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8410575" y="604837"/>
            <a:ext cx="30194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FERIA DE INNOVACIÓN TECNOLÓGICA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2289869"/>
            <a:ext cx="7620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DE INVESTIGACIÓN APLICADA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2628900"/>
            <a:ext cx="11201400" cy="712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0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Kinexión: </a:t>
            </a:r>
            <a:r>
              <a:rPr b="0" i="0" lang="en-US" sz="5100" u="none" cap="none" strike="noStrike">
                <a:solidFill>
                  <a:srgbClr val="F97316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Rehabilitación Inteligente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3749053"/>
            <a:ext cx="7620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Una muñequera IoT y plataforma cloud que devuelve precisión, movilidad y autonomía a pacientes post-ACV.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5943450"/>
            <a:ext cx="4042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Desarrolladores:</a:t>
            </a: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Alvarez J. • Ccoyllo S. • Enriquez J. • Isidro K.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Asesor:</a:t>
            </a: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Ing. Hernán Villafuerte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8296275" y="6114901"/>
            <a:ext cx="31337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973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UNIVERSIDAD NACIONAL FEDERICO VILLARREAL</a:t>
            </a:r>
            <a:endParaRPr/>
          </a:p>
        </p:txBody>
      </p:sp>
      <p:pic>
        <p:nvPicPr>
          <p:cNvPr descr="image.png" id="93" name="Google Shape;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5312"/>
            <a:ext cx="2381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62075"/>
            <a:ext cx="5095875" cy="492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362075"/>
            <a:ext cx="5095875" cy="49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104900" y="2554634"/>
            <a:ext cx="463057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97316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La Brecha en el Perú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04900" y="3030884"/>
            <a:ext cx="44100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Cada año, más de </a:t>
            </a:r>
            <a:r>
              <a:rPr b="1" i="0" lang="en-US" sz="1350" u="none" cap="none" strike="noStrike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15,000 peruanos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sufren un Accidente Cerebrovascular (ACV). Alrededor del </a:t>
            </a:r>
            <a:r>
              <a:rPr b="1" i="0" lang="en-US" sz="1350" u="none" cap="none" strike="noStrike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60% sobrevive con secuelas motoras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 cognitivas severas.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04900" y="3996630"/>
            <a:ext cx="44100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terapia física tradicional depende enteramente del traslado del paciente, lo que disminuye drásticamente la adherencia al tratamiento por costos y movilidad reducida.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77025" y="2554634"/>
            <a:ext cx="463057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97316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Tecnología Inalcanzable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77025" y="3030884"/>
            <a:ext cx="44100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Los equipos de evaluación biomecánica y clínica especializados del mercado internacional (como Dynavision o Fitlight) cuestan entre </a:t>
            </a:r>
            <a:r>
              <a:rPr b="1" i="0" lang="en-US" sz="1350" u="none" cap="none" strike="noStrike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USD 1,000 y USD 16,000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77025" y="4270920"/>
            <a:ext cx="44100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Esto hace que la tecnología de telerehabilitación sea de acceso nulo o inviable para los hospitales públicos y las familias peruanas de bajos recursos.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52500" y="571500"/>
            <a:ext cx="11001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El Problema: </a:t>
            </a:r>
            <a:r>
              <a:rPr b="1" i="0" lang="en-US" sz="2850" u="none" cap="none" strike="noStrike">
                <a:solidFill>
                  <a:srgbClr val="F97316"/>
                </a:solidFill>
                <a:latin typeface="Outfit"/>
                <a:ea typeface="Outfit"/>
                <a:cs typeface="Outfit"/>
                <a:sym typeface="Outfit"/>
              </a:rPr>
              <a:t>La Realidad del ACV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762000" y="571500"/>
            <a:ext cx="47625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809750" y="2403276"/>
            <a:ext cx="8572500" cy="208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"Hoy en día, el progreso de un paciente hemipléjico se mide a simple vista en el consultorio, basándose en la apreciación empírica y subjetiva del terapeuta."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966912" y="4769048"/>
            <a:ext cx="82581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Kinexión no reemplaza al especialista: le entrega las métricas precisas y la auditoría clínica objetiva que hoy le faltan.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428750" y="1927026"/>
            <a:ext cx="542925" cy="143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F9731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“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52500" y="571500"/>
            <a:ext cx="11001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La Realidad Actual: </a:t>
            </a:r>
            <a:r>
              <a:rPr b="1" i="0" lang="en-US" sz="2850" u="none" cap="none" strike="noStrike">
                <a:solidFill>
                  <a:srgbClr val="F97316"/>
                </a:solidFill>
                <a:latin typeface="Outfit"/>
                <a:ea typeface="Outfit"/>
                <a:cs typeface="Outfit"/>
                <a:sym typeface="Outfit"/>
              </a:rPr>
              <a:t>Subjetividad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762000" y="571500"/>
            <a:ext cx="47625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762000" y="571500"/>
            <a:ext cx="560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La Solución: </a:t>
            </a:r>
            <a:r>
              <a:rPr b="1" i="0" lang="en-US" sz="2850" u="none" cap="none" strike="noStrike">
                <a:solidFill>
                  <a:srgbClr val="F97316"/>
                </a:solidFill>
                <a:latin typeface="Outfit"/>
                <a:ea typeface="Outfit"/>
                <a:cs typeface="Outfit"/>
                <a:sym typeface="Outfit"/>
              </a:rPr>
              <a:t>Kinexión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62000" y="6143476"/>
            <a:ext cx="5334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Ecosistema Kinexión • 2026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62000" y="2221259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Tecnología Democrática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62000" y="2697509"/>
            <a:ext cx="5334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Presentamos un ecosistema completo de telerehabilitación compuesto por un dispositivo </a:t>
            </a:r>
            <a:r>
              <a:rPr b="0" i="1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wearable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alta sensibilidad y una plataforma asíncrona en la nube.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62000" y="3710880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Ventajas principales de nuestra ingeniería: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028700" y="4175670"/>
            <a:ext cx="5067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Costo de fabricación menor a USD 35.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028700" y="4545210"/>
            <a:ext cx="5067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Conectividad autónoma por red Wi-Fi integrada.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028700" y="4914751"/>
            <a:ext cx="5067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Transmisión asíncrona de telemetría sin lag de red.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22225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59179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96133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title="Gemini_Generated_Image_yv2t87yv2t87yv2t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6000" y="0"/>
            <a:ext cx="61858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24087"/>
            <a:ext cx="2488406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8531" y="2224087"/>
            <a:ext cx="2488406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224087"/>
            <a:ext cx="2488406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41593" y="2224087"/>
            <a:ext cx="2488406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1057275" y="3195637"/>
            <a:ext cx="199274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Raspberry Pi Pico W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057275" y="3843337"/>
            <a:ext cx="1897856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Procesador principal RP2040 con soporte Wi-Fi. Realiza el procesamiento en el borde (Edge Computing) y el auto-discovery de la sesión.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3783806" y="3195637"/>
            <a:ext cx="19927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Sensor MPU6050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3783806" y="3576637"/>
            <a:ext cx="1897856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Unidad de medición inercial (IMU) de 6 ejes que captura aceleración lineal y velocidad angular a una frecuencia constante de 20 Hz.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510337" y="3195637"/>
            <a:ext cx="19927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Batería Li-Ion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510337" y="3576637"/>
            <a:ext cx="1897856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Alimentación interna de 3.7V recargable que dota al dispositivo de portabilidad absoluta, permitiendo su uso seguro y libre de cables de red.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236868" y="3195637"/>
            <a:ext cx="19927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Cargador TP4056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9236868" y="3576637"/>
            <a:ext cx="1897856" cy="1071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Controlador de carga con puerto Tipo-C integrado, garantizando una recarga estable y segura para el uso diario del paciente en casa.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25860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83806" y="25860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10337" y="258603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36868" y="258603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952500" y="571500"/>
            <a:ext cx="11001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El Dispositivo: </a:t>
            </a:r>
            <a:r>
              <a:rPr b="1" i="0" lang="en-US" sz="2850" u="none" cap="none" strike="noStrike">
                <a:solidFill>
                  <a:srgbClr val="F97316"/>
                </a:solidFill>
                <a:latin typeface="Outfit"/>
                <a:ea typeface="Outfit"/>
                <a:cs typeface="Outfit"/>
                <a:sym typeface="Outfit"/>
              </a:rPr>
              <a:t>Arquitectura Hardware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762000" y="571500"/>
            <a:ext cx="47625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98985" y="286702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2295" y="286702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04830" y="286702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99378" y="2867025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/>
          <p:nvPr/>
        </p:nvSpPr>
        <p:spPr>
          <a:xfrm>
            <a:off x="1295400" y="3381375"/>
            <a:ext cx="96012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703328" y="3848100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Captura en Ráfaga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762000" y="4181475"/>
            <a:ext cx="234687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IMU lee los datos biomecánicos. Se implementa un Burst-Read I2C de 14 bytes para anular microdesfases de captura.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3477037" y="3848100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Edge Computing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3535709" y="4181475"/>
            <a:ext cx="234687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Pico W filtra las señales de gravedad, aislando la aceleración dinámica neta del paciente en tiempo real.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250747" y="3848100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Canal de Telemetría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309419" y="4181475"/>
            <a:ext cx="234687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información es transmitida de forma asíncrona hacia el backend en FastAPI (Railway) usando JSON ligero.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9024457" y="3848100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Monitoreo Reactivo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9083129" y="4181475"/>
            <a:ext cx="234687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dashboard en React recibe los datos analizados mediante WebSockets, graficando las métricas clínicas al instante.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952500" y="571500"/>
            <a:ext cx="11001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Flujo de Datos: </a:t>
            </a:r>
            <a:r>
              <a:rPr b="1" i="0" lang="en-US" sz="2850" u="none" cap="none" strike="noStrike">
                <a:solidFill>
                  <a:srgbClr val="F97316"/>
                </a:solidFill>
                <a:latin typeface="Outfit"/>
                <a:ea typeface="Outfit"/>
                <a:cs typeface="Outfit"/>
                <a:sym typeface="Outfit"/>
              </a:rPr>
              <a:t>Cómo Funciona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762000" y="571500"/>
            <a:ext cx="47625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02681"/>
            <a:ext cx="3397299" cy="28432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424" y="2402681"/>
            <a:ext cx="3397299" cy="28432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849" y="2402681"/>
            <a:ext cx="3397299" cy="284321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1057275" y="3402806"/>
            <a:ext cx="29470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Latencia Motriz (ms)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1057275" y="3783806"/>
            <a:ext cx="2806749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Mide la neuroplasticidad cerebral.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057275" y="4093368"/>
            <a:ext cx="28067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Calcula el retraso exacto en milisegundos entre la aparición del estímulo visual (GO) y la respuesta sináptica del brazo del paciente.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4692699" y="3402806"/>
            <a:ext cx="29470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Ángulo de Inclinación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4692699" y="3783806"/>
            <a:ext cx="2806749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Mide el rango de movimiento (ROM).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4692699" y="4093368"/>
            <a:ext cx="28067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Usa trigonometría espacial (Pitch &amp; Roll) para determinar el ángulo tridimensional alcanzado por la articulación de la muñeca.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8328124" y="3402806"/>
            <a:ext cx="29470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Tasa de Temblor (Hz)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8328124" y="3783806"/>
            <a:ext cx="2806749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Detecta fatiga neuromuscular.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8328124" y="4093368"/>
            <a:ext cx="28067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Aísla el ruido motor involuntario mediante varianza matemática. Clasifica temblores severos que alerten de un sobreesfuerzo físico.</a:t>
            </a:r>
            <a:endParaRPr/>
          </a:p>
        </p:txBody>
      </p:sp>
      <p:pic>
        <p:nvPicPr>
          <p:cNvPr descr="image.png" id="197" name="Google Shape;19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79320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279320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28124" y="2793206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952500" y="571500"/>
            <a:ext cx="11001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Biomarcadores: </a:t>
            </a:r>
            <a:r>
              <a:rPr b="1" i="0" lang="en-US" sz="2850" u="none" cap="none" strike="noStrike">
                <a:solidFill>
                  <a:srgbClr val="F97316"/>
                </a:solidFill>
                <a:latin typeface="Outfit"/>
                <a:ea typeface="Outfit"/>
                <a:cs typeface="Outfit"/>
                <a:sym typeface="Outfit"/>
              </a:rPr>
              <a:t>Métricas Clínicas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762000" y="571500"/>
            <a:ext cx="47625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714625"/>
            <a:ext cx="5095875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895725"/>
            <a:ext cx="5095875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762000" y="2538561"/>
            <a:ext cx="5095875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"El movimiento no es solo una contracción muscular mecánica, sino el resultado de complejos procesos cognitivos de reclutamiento neuronal."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762000" y="4008983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— Dr. Carlo Perfetti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762000" y="4378523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KINEXIÓN utiliza el protocolo terapéutico Go/No-Go para entrenar el control inhibitorio y la toma de decisiones motrices de manera paralela.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534150" y="2914650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Activación Cerebral Cohesiva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534150" y="3181350"/>
            <a:ext cx="46958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 obligar al cerebro a discernir visualmente antes de actuar, aceleramos la neuroplasticidad, forzándolo a abrir nuevas vías de comunicación neuronal.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534150" y="4095750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Resolución de Problemas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534150" y="4362450"/>
            <a:ext cx="46958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paciente no repite movimientos mecánicos vacíos; interactúa con estímulos aleatorios que obligan al cerebro a reaprender el espacio tridimensional.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952500" y="571500"/>
            <a:ext cx="11001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Sustento Médico: </a:t>
            </a:r>
            <a:r>
              <a:rPr b="1" i="0" lang="en-US" sz="2850" u="none" cap="none" strike="noStrike">
                <a:solidFill>
                  <a:srgbClr val="F97316"/>
                </a:solidFill>
                <a:latin typeface="Outfit"/>
                <a:ea typeface="Outfit"/>
                <a:cs typeface="Outfit"/>
                <a:sym typeface="Outfit"/>
              </a:rPr>
              <a:t>Método Perfetti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762000" y="571500"/>
            <a:ext cx="47625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19325"/>
            <a:ext cx="10668000" cy="3209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4" name="Google Shape;224;p21"/>
          <p:cNvGraphicFramePr/>
          <p:nvPr/>
        </p:nvGraphicFramePr>
        <p:xfrm>
          <a:off x="771525" y="2228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{9B0C5A9C-FC89-42B1-A8F8-8DF4940E52CC}</a:tableStyleId>
              </a:tblPr>
              <a:tblGrid>
                <a:gridCol w="1514475"/>
                <a:gridCol w="1793975"/>
                <a:gridCol w="1936550"/>
                <a:gridCol w="5403950"/>
              </a:tblGrid>
              <a:tr h="79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Nivel Clínico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Umbral Mínimo (G)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Tiempo de Gracia (Timeout)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Descripción del Paciente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9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3F4F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Crítico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3F4F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0.15 G</a:t>
                      </a:r>
                      <a:r>
                        <a:rPr b="0" i="0" lang="en-US" sz="1200" u="none" cap="none" strike="noStrike">
                          <a:solidFill>
                            <a:srgbClr val="F3F4F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(Fuerza muy leve)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3F4F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3.5 segundos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3F4F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Fase temprana post-ACV. Hemiparesia severa. Se prioriza registrar cualquier intento o intención de movimiento dinámico.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9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3F4F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Intermedio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3F4F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0.30 G</a:t>
                      </a:r>
                      <a:r>
                        <a:rPr b="0" i="0" lang="en-US" sz="1200" u="none" cap="none" strike="noStrike">
                          <a:solidFill>
                            <a:srgbClr val="F3F4F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(Fuerza moderada)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3F4F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1.8 segundos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3F4F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Rehabilitación en evolución. El paciente ha recuperado movilidad parcial. Exige trayectorias más rápidas y decididas.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9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3F4F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Recuperado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3F4F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0.45 G</a:t>
                      </a:r>
                      <a:r>
                        <a:rPr b="0" i="0" lang="en-US" sz="1200" u="none" cap="none" strike="noStrike">
                          <a:solidFill>
                            <a:srgbClr val="F3F4F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(Estándar sano)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3F4F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0.8 segundos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3F4F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Fase de alta o validación. Exige la velocidad y el reclutamiento motor correspondiente a un adulto en condiciones normales.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225" name="Google Shape;225;p21"/>
          <p:cNvSpPr/>
          <p:nvPr/>
        </p:nvSpPr>
        <p:spPr>
          <a:xfrm>
            <a:off x="771525" y="3043237"/>
            <a:ext cx="15144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2286000" y="3043237"/>
            <a:ext cx="17939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4079974" y="3043237"/>
            <a:ext cx="19365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6016525" y="3043237"/>
            <a:ext cx="540394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771525" y="3833812"/>
            <a:ext cx="15144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2286000" y="3833812"/>
            <a:ext cx="179397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4079974" y="3833812"/>
            <a:ext cx="193655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6016525" y="3833812"/>
            <a:ext cx="540394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771525" y="4624387"/>
            <a:ext cx="15144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2286000" y="4624387"/>
            <a:ext cx="179397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4079974" y="4624387"/>
            <a:ext cx="193655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6016525" y="4624387"/>
            <a:ext cx="540394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7" name="Google Shape;23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9600" y="3324225"/>
            <a:ext cx="7239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0538" y="4114800"/>
            <a:ext cx="9620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0125" y="4910137"/>
            <a:ext cx="10572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952500" y="571500"/>
            <a:ext cx="11001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Terapia a Medida: </a:t>
            </a:r>
            <a:r>
              <a:rPr b="1" i="0" lang="en-US" sz="2850" u="none" cap="none" strike="noStrike">
                <a:solidFill>
                  <a:srgbClr val="F97316"/>
                </a:solidFill>
                <a:latin typeface="Outfit"/>
                <a:ea typeface="Outfit"/>
                <a:cs typeface="Outfit"/>
                <a:sym typeface="Outfit"/>
              </a:rPr>
              <a:t>Perfiles Clínicos</a:t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762000" y="571500"/>
            <a:ext cx="47625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62075"/>
            <a:ext cx="10668000" cy="49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762000" y="4618732"/>
            <a:ext cx="10668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 reducir el costo del hardware en más de un </a:t>
            </a:r>
            <a:r>
              <a:rPr b="1" i="1" lang="en-US" sz="1200" u="none" cap="none" strike="noStrike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95%</a:t>
            </a:r>
            <a:r>
              <a:rPr b="0" i="1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Kinexión permite llevar telemetría clínica de alta gama directamente a los hogares peruanos de bajos recursos y postas de salud comunitarias.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952500" y="571500"/>
            <a:ext cx="11001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Impacto de Costos: </a:t>
            </a:r>
            <a:r>
              <a:rPr b="1" i="0" lang="en-US" sz="2850" u="none" cap="none" strike="noStrike">
                <a:solidFill>
                  <a:srgbClr val="F97316"/>
                </a:solidFill>
                <a:latin typeface="Outfit"/>
                <a:ea typeface="Outfit"/>
                <a:cs typeface="Outfit"/>
                <a:sym typeface="Outfit"/>
              </a:rPr>
              <a:t>Democratización</a:t>
            </a:r>
            <a:endParaRPr/>
          </a:p>
        </p:txBody>
      </p:sp>
      <p:sp>
        <p:nvSpPr>
          <p:cNvPr id="250" name="Google Shape;250;p22"/>
          <p:cNvSpPr/>
          <p:nvPr/>
        </p:nvSpPr>
        <p:spPr>
          <a:xfrm>
            <a:off x="762000" y="571500"/>
            <a:ext cx="47625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64593"/>
            <a:ext cx="3397299" cy="2719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424" y="2464593"/>
            <a:ext cx="3397299" cy="2719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849" y="2464593"/>
            <a:ext cx="3397299" cy="271938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1057275" y="3436143"/>
            <a:ext cx="29470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Silent Crash Shield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1057275" y="3817143"/>
            <a:ext cx="2806749" cy="1071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Encapsulamos la comunicación en excepciones asíncronas. Si el Wi-Fi o internet fluctúan, la terapia del paciente continúa de forma limpia y sin interrupciones del sistema.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4692699" y="3436143"/>
            <a:ext cx="29470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Auto-Discovery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4692699" y="3817143"/>
            <a:ext cx="2806749" cy="1071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Cero códigos "hardcodeados" en el firmware. La placa busca de forma autónoma una sesión iniciada por el terapeuta en el servidor y se enlaza magnéticamente de forma automática.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8328124" y="3436143"/>
            <a:ext cx="29470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Acceso sin Fricción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8328124" y="3817143"/>
            <a:ext cx="2806749" cy="1071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Diseño sin pantallas físicas ni botones complejos pensado para adultos mayores. El paciente ingresa simplemente con un PIN de 6 dígitos que configura su terapia.</a:t>
            </a:r>
            <a:endParaRPr/>
          </a:p>
        </p:txBody>
      </p:sp>
      <p:pic>
        <p:nvPicPr>
          <p:cNvPr descr="image.png" id="265" name="Google Shape;265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82654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282654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28124" y="282654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 txBox="1"/>
          <p:nvPr/>
        </p:nvSpPr>
        <p:spPr>
          <a:xfrm>
            <a:off x="952500" y="571500"/>
            <a:ext cx="11001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Software de Grado Médico: </a:t>
            </a:r>
            <a:r>
              <a:rPr b="1" i="0" lang="en-US" sz="2850" u="none" cap="none" strike="noStrike">
                <a:solidFill>
                  <a:srgbClr val="F97316"/>
                </a:solidFill>
                <a:latin typeface="Outfit"/>
                <a:ea typeface="Outfit"/>
                <a:cs typeface="Outfit"/>
                <a:sym typeface="Outfit"/>
              </a:rPr>
              <a:t>Robustez</a:t>
            </a:r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762000" y="571500"/>
            <a:ext cx="47625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1175" y="169750"/>
            <a:ext cx="4560674" cy="6280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4"/>
          <p:cNvSpPr txBox="1"/>
          <p:nvPr/>
        </p:nvSpPr>
        <p:spPr>
          <a:xfrm>
            <a:off x="762000" y="2169914"/>
            <a:ext cx="535066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97316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Divulgación Científica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762000" y="2674739"/>
            <a:ext cx="50958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 facilitar la transferencia tecnológica y la comunicación con terapeutas y pacientes, diseñamos un material impreso oficial y autoinformativo.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762000" y="3688109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Estructura del tríptico clínico: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990600" y="4152900"/>
            <a:ext cx="48672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Cara Externa: El problema de salud pública en el Perú, propuesta Kinexión y resultados esperados.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1076325" y="4815780"/>
            <a:ext cx="47815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Cara Interna: Arquitectura técnica del sistema, límites dinámicos por perfil de paciente y marco normativo.</a:t>
            </a:r>
            <a:endParaRPr/>
          </a:p>
        </p:txBody>
      </p:sp>
      <p:pic>
        <p:nvPicPr>
          <p:cNvPr descr="image.png" id="281" name="Google Shape;28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9600" y="1833550"/>
            <a:ext cx="4187226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336702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999583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 txBox="1"/>
          <p:nvPr/>
        </p:nvSpPr>
        <p:spPr>
          <a:xfrm>
            <a:off x="952500" y="571500"/>
            <a:ext cx="11001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Material de Difusión: </a:t>
            </a:r>
            <a:r>
              <a:rPr b="1" i="0" lang="en-US" sz="2850" u="none" cap="none" strike="noStrike">
                <a:solidFill>
                  <a:srgbClr val="F97316"/>
                </a:solidFill>
                <a:latin typeface="Outfit"/>
                <a:ea typeface="Outfit"/>
                <a:cs typeface="Outfit"/>
                <a:sym typeface="Outfit"/>
              </a:rPr>
              <a:t>Tríptico Oficial</a:t>
            </a:r>
            <a:endParaRPr/>
          </a:p>
        </p:txBody>
      </p:sp>
      <p:sp>
        <p:nvSpPr>
          <p:cNvPr id="285" name="Google Shape;285;p24"/>
          <p:cNvSpPr/>
          <p:nvPr/>
        </p:nvSpPr>
        <p:spPr>
          <a:xfrm>
            <a:off x="762000" y="571500"/>
            <a:ext cx="47625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97525" y="3259250"/>
            <a:ext cx="4051400" cy="284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97525" y="294950"/>
            <a:ext cx="4051400" cy="28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55093"/>
            <a:ext cx="2488406" cy="2338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8531" y="2655093"/>
            <a:ext cx="2488406" cy="2338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655093"/>
            <a:ext cx="2488406" cy="2338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41593" y="2655093"/>
            <a:ext cx="2488406" cy="2338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25203" y="2902743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 txBox="1"/>
          <p:nvPr/>
        </p:nvSpPr>
        <p:spPr>
          <a:xfrm>
            <a:off x="959822" y="3855243"/>
            <a:ext cx="209276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Alvarez Jara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1009650" y="4121943"/>
            <a:ext cx="1993106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Lenin Allister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1009650" y="4402931"/>
            <a:ext cx="199310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Desarrollador de Firmware e Integración IoT (RP2040).</a:t>
            </a:r>
            <a:endParaRPr/>
          </a:p>
        </p:txBody>
      </p:sp>
      <p:pic>
        <p:nvPicPr>
          <p:cNvPr descr="image.png" id="301" name="Google Shape;301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51734" y="2902743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5"/>
          <p:cNvSpPr txBox="1"/>
          <p:nvPr/>
        </p:nvSpPr>
        <p:spPr>
          <a:xfrm>
            <a:off x="3686353" y="3855243"/>
            <a:ext cx="209276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Ccoyllo Sigüenza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3736181" y="4121943"/>
            <a:ext cx="1993106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Denzel Leyton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3736181" y="4402931"/>
            <a:ext cx="199310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Ingeniero de Frontend y Dashboard en Tiempo Real.</a:t>
            </a:r>
            <a:endParaRPr/>
          </a:p>
        </p:txBody>
      </p:sp>
      <p:pic>
        <p:nvPicPr>
          <p:cNvPr descr="image.png" id="305" name="Google Shape;305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78265" y="2902743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5"/>
          <p:cNvSpPr txBox="1"/>
          <p:nvPr/>
        </p:nvSpPr>
        <p:spPr>
          <a:xfrm>
            <a:off x="6412884" y="3855243"/>
            <a:ext cx="209276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Enriquez Coronel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6462712" y="4121943"/>
            <a:ext cx="1993106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Juan David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6462712" y="4402931"/>
            <a:ext cx="199310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Arquitecto de API Backend y Gestión de Base de Datos.</a:t>
            </a:r>
            <a:endParaRPr/>
          </a:p>
        </p:txBody>
      </p:sp>
      <p:pic>
        <p:nvPicPr>
          <p:cNvPr descr="image.png" id="309" name="Google Shape;309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04796" y="2902743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 txBox="1"/>
          <p:nvPr/>
        </p:nvSpPr>
        <p:spPr>
          <a:xfrm>
            <a:off x="9139416" y="3855243"/>
            <a:ext cx="209276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Isidro Frisancho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9189243" y="4121943"/>
            <a:ext cx="1993106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Kevin Aldair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9189243" y="4402931"/>
            <a:ext cx="199310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Ingeniero de Hardware, PCB y Diseño de Carcasa 3D.</a:t>
            </a:r>
            <a:endParaRPr/>
          </a:p>
        </p:txBody>
      </p:sp>
      <p:pic>
        <p:nvPicPr>
          <p:cNvPr descr="image.png" id="313" name="Google Shape;313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825228" y="3140868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551759" y="3140868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316390" y="3140868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023871" y="3140868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5"/>
          <p:cNvSpPr txBox="1"/>
          <p:nvPr/>
        </p:nvSpPr>
        <p:spPr>
          <a:xfrm>
            <a:off x="952500" y="571500"/>
            <a:ext cx="11001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El Equipo: </a:t>
            </a:r>
            <a:r>
              <a:rPr b="1" i="0" lang="en-US" sz="2850" u="none" cap="none" strike="noStrike">
                <a:solidFill>
                  <a:srgbClr val="F97316"/>
                </a:solidFill>
                <a:latin typeface="Outfit"/>
                <a:ea typeface="Outfit"/>
                <a:cs typeface="Outfit"/>
                <a:sym typeface="Outfit"/>
              </a:rPr>
              <a:t>Desarrolladores UNFV</a:t>
            </a:r>
            <a:endParaRPr/>
          </a:p>
        </p:txBody>
      </p:sp>
      <p:sp>
        <p:nvSpPr>
          <p:cNvPr id="318" name="Google Shape;318;p25"/>
          <p:cNvSpPr/>
          <p:nvPr/>
        </p:nvSpPr>
        <p:spPr>
          <a:xfrm>
            <a:off x="762000" y="571500"/>
            <a:ext cx="47625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3" name="Google Shape;32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4500" y="-679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5600" y="4824263"/>
            <a:ext cx="64008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6"/>
          <p:cNvSpPr txBox="1"/>
          <p:nvPr/>
        </p:nvSpPr>
        <p:spPr>
          <a:xfrm>
            <a:off x="762000" y="1385887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ECOSISTEMA KINEXIÓN</a:t>
            </a:r>
            <a:endParaRPr/>
          </a:p>
        </p:txBody>
      </p:sp>
      <p:sp>
        <p:nvSpPr>
          <p:cNvPr id="326" name="Google Shape;326;p26"/>
          <p:cNvSpPr txBox="1"/>
          <p:nvPr/>
        </p:nvSpPr>
        <p:spPr>
          <a:xfrm>
            <a:off x="495300" y="1814512"/>
            <a:ext cx="11201400" cy="201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¿Preguntas o </a:t>
            </a:r>
            <a:r>
              <a:rPr b="0" i="0" lang="en-US" sz="7200" u="none" cap="none" strike="noStrike">
                <a:solidFill>
                  <a:srgbClr val="F97316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Comentarios</a:t>
            </a:r>
            <a:r>
              <a:rPr b="0" i="0" lang="en-US" sz="720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?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762000" y="3943973"/>
            <a:ext cx="1066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Gracias por su atención en esta jornada de innovación.</a:t>
            </a:r>
            <a:endParaRPr/>
          </a:p>
        </p:txBody>
      </p:sp>
      <p:sp>
        <p:nvSpPr>
          <p:cNvPr id="328" name="Google Shape;328;p26"/>
          <p:cNvSpPr txBox="1"/>
          <p:nvPr/>
        </p:nvSpPr>
        <p:spPr>
          <a:xfrm>
            <a:off x="4367212" y="5271938"/>
            <a:ext cx="34575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Universidad Nacional Federico Villarreal (UNFV)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