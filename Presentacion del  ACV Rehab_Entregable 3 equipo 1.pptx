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Alice Bold" panose="020B0604020202020204" charset="0"/>
      <p:regular r:id="rId28"/>
    </p:embeddedFont>
    <p:embeddedFont>
      <p:font typeface="Inter" panose="020B0604020202020204" charset="0"/>
      <p:regular r:id="rId29"/>
    </p:embeddedFont>
    <p:embeddedFont>
      <p:font typeface="Inter Bold" panose="020B0604020202020204" charset="0"/>
      <p:regular r:id="rId30"/>
    </p:embeddedFont>
    <p:embeddedFont>
      <p:font typeface="Inter Medium" panose="020B0604020202020204" charset="0"/>
      <p:regular r:id="rId31"/>
    </p:embeddedFont>
    <p:embeddedFont>
      <p:font typeface="Montaser Arabic Bold" panose="020B0604020202020204" charset="-78"/>
      <p:regular r:id="rId32"/>
    </p:embeddedFont>
    <p:embeddedFont>
      <p:font typeface="Stinger Fit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6" d="100"/>
          <a:sy n="66" d="100"/>
        </p:scale>
        <p:origin x="93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hyperlink" Target="https://www.teslaelectronic.com.pe/producto/mini-interruptor-con-pulsador-on-off/?srsltid=AfmBOoqoukcC-91FP4mhnXwZABBu3DHj7502UxSOGl_2WIch3_biJhfd"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engitronicperu.com/producto/bateria-de-litio-3-7-v/" TargetMode="Externa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svg"/><Relationship Id="rId4"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svg"/><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839814" y="509366"/>
            <a:ext cx="8006145" cy="8006145"/>
          </a:xfrm>
          <a:custGeom>
            <a:avLst/>
            <a:gdLst/>
            <a:ahLst/>
            <a:cxnLst/>
            <a:rect l="l" t="t" r="r" b="b"/>
            <a:pathLst>
              <a:path w="8006145" h="8006145">
                <a:moveTo>
                  <a:pt x="0" y="0"/>
                </a:moveTo>
                <a:lnTo>
                  <a:pt x="8006145" y="0"/>
                </a:lnTo>
                <a:lnTo>
                  <a:pt x="8006145" y="8006144"/>
                </a:lnTo>
                <a:lnTo>
                  <a:pt x="0" y="800614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3867712">
            <a:off x="11694268" y="5382140"/>
            <a:ext cx="12959653" cy="1295965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6" name="Group 6"/>
          <p:cNvGrpSpPr/>
          <p:nvPr/>
        </p:nvGrpSpPr>
        <p:grpSpPr>
          <a:xfrm rot="-3411600">
            <a:off x="16992802" y="-1443967"/>
            <a:ext cx="2644809" cy="264480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9" name="Group 9"/>
          <p:cNvGrpSpPr/>
          <p:nvPr/>
        </p:nvGrpSpPr>
        <p:grpSpPr>
          <a:xfrm>
            <a:off x="12481082" y="303833"/>
            <a:ext cx="5796953" cy="579695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8888" r="-38888"/>
              </a:stretch>
            </a:blipFill>
            <a:ln w="152400" cap="sq">
              <a:gradFill>
                <a:gsLst>
                  <a:gs pos="0">
                    <a:srgbClr val="122354">
                      <a:alpha val="100000"/>
                    </a:srgbClr>
                  </a:gs>
                  <a:gs pos="100000">
                    <a:srgbClr val="12539F">
                      <a:alpha val="100000"/>
                    </a:srgbClr>
                  </a:gs>
                </a:gsLst>
                <a:lin ang="0"/>
              </a:gradFill>
              <a:prstDash val="solid"/>
              <a:miter/>
            </a:ln>
          </p:spPr>
        </p:sp>
      </p:grpSp>
      <p:grpSp>
        <p:nvGrpSpPr>
          <p:cNvPr id="11" name="Group 11"/>
          <p:cNvGrpSpPr/>
          <p:nvPr/>
        </p:nvGrpSpPr>
        <p:grpSpPr>
          <a:xfrm rot="2891737">
            <a:off x="5698609" y="-2105771"/>
            <a:ext cx="3044811" cy="304481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7459027">
            <a:off x="-1765496" y="8411471"/>
            <a:ext cx="4129759" cy="412975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47675" cap="sq">
              <a:gradFill>
                <a:gsLst>
                  <a:gs pos="0">
                    <a:srgbClr val="7D95DB">
                      <a:alpha val="100000"/>
                    </a:srgbClr>
                  </a:gs>
                  <a:gs pos="100000">
                    <a:srgbClr val="12539F">
                      <a:alpha val="100000"/>
                    </a:srgbClr>
                  </a:gs>
                </a:gsLst>
                <a:lin ang="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7725373">
            <a:off x="-14910" y="8246030"/>
            <a:ext cx="2033076" cy="203307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0" name="Freeform 20"/>
          <p:cNvSpPr/>
          <p:nvPr/>
        </p:nvSpPr>
        <p:spPr>
          <a:xfrm>
            <a:off x="-3348664" y="2800593"/>
            <a:ext cx="4662775" cy="4662775"/>
          </a:xfrm>
          <a:custGeom>
            <a:avLst/>
            <a:gdLst/>
            <a:ahLst/>
            <a:cxnLst/>
            <a:rect l="l" t="t" r="r" b="b"/>
            <a:pathLst>
              <a:path w="4662775" h="4662775">
                <a:moveTo>
                  <a:pt x="0" y="0"/>
                </a:moveTo>
                <a:lnTo>
                  <a:pt x="4662774" y="0"/>
                </a:lnTo>
                <a:lnTo>
                  <a:pt x="4662774" y="4662774"/>
                </a:lnTo>
                <a:lnTo>
                  <a:pt x="0" y="466277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1" name="Freeform 21"/>
          <p:cNvSpPr/>
          <p:nvPr/>
        </p:nvSpPr>
        <p:spPr>
          <a:xfrm>
            <a:off x="13486679" y="120407"/>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2" name="Group 22"/>
          <p:cNvGrpSpPr/>
          <p:nvPr/>
        </p:nvGrpSpPr>
        <p:grpSpPr>
          <a:xfrm rot="-3411600">
            <a:off x="-1287989" y="1241183"/>
            <a:ext cx="1521281" cy="152128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28600" cap="sq">
              <a:gradFill>
                <a:gsLst>
                  <a:gs pos="0">
                    <a:srgbClr val="7D95DB">
                      <a:alpha val="100000"/>
                    </a:srgbClr>
                  </a:gs>
                  <a:gs pos="100000">
                    <a:srgbClr val="12539F">
                      <a:alpha val="100000"/>
                    </a:srgbClr>
                  </a:gs>
                </a:gsLst>
                <a:lin ang="0"/>
              </a:gradFill>
              <a:prstDash val="solid"/>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5" name="Freeform 25"/>
          <p:cNvSpPr/>
          <p:nvPr/>
        </p:nvSpPr>
        <p:spPr>
          <a:xfrm>
            <a:off x="15692294" y="9435074"/>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6" name="TextBox 26"/>
          <p:cNvSpPr txBox="1"/>
          <p:nvPr/>
        </p:nvSpPr>
        <p:spPr>
          <a:xfrm>
            <a:off x="555856" y="1028700"/>
            <a:ext cx="11925226" cy="4629150"/>
          </a:xfrm>
          <a:prstGeom prst="rect">
            <a:avLst/>
          </a:prstGeom>
        </p:spPr>
        <p:txBody>
          <a:bodyPr lIns="0" tIns="0" rIns="0" bIns="0" rtlCol="0" anchor="t">
            <a:spAutoFit/>
          </a:bodyPr>
          <a:lstStyle/>
          <a:p>
            <a:pPr algn="l">
              <a:lnSpc>
                <a:spcPts val="6119"/>
              </a:lnSpc>
            </a:pPr>
            <a:r>
              <a:rPr lang="en-US" sz="5099" b="1">
                <a:gradFill>
                  <a:gsLst>
                    <a:gs pos="0">
                      <a:srgbClr val="122354">
                        <a:alpha val="100000"/>
                      </a:srgbClr>
                    </a:gs>
                    <a:gs pos="100000">
                      <a:srgbClr val="12539F">
                        <a:alpha val="100000"/>
                      </a:srgbClr>
                    </a:gs>
                  </a:gsLst>
                  <a:lin ang="5400000"/>
                </a:gradFill>
                <a:latin typeface="Montaser Arabic Bold"/>
                <a:ea typeface="Montaser Arabic Bold"/>
                <a:cs typeface="Montaser Arabic Bold"/>
                <a:sym typeface="Montaser Arabic Bold"/>
              </a:rPr>
              <a:t>Sistema Embebido de Rehabilitación Cognitivo-Motora para Pacientes con Secuelas de Accidente Cerebrovascular (ACV), Basado en Estímulos Audiovisuales Discriminatorios</a:t>
            </a:r>
          </a:p>
        </p:txBody>
      </p:sp>
      <p:sp>
        <p:nvSpPr>
          <p:cNvPr id="27" name="Freeform 27"/>
          <p:cNvSpPr/>
          <p:nvPr/>
        </p:nvSpPr>
        <p:spPr>
          <a:xfrm>
            <a:off x="7735365" y="5304147"/>
            <a:ext cx="6140360" cy="4605270"/>
          </a:xfrm>
          <a:custGeom>
            <a:avLst/>
            <a:gdLst/>
            <a:ahLst/>
            <a:cxnLst/>
            <a:rect l="l" t="t" r="r" b="b"/>
            <a:pathLst>
              <a:path w="6140360" h="4605270">
                <a:moveTo>
                  <a:pt x="0" y="0"/>
                </a:moveTo>
                <a:lnTo>
                  <a:pt x="6140359" y="0"/>
                </a:lnTo>
                <a:lnTo>
                  <a:pt x="6140359" y="4605270"/>
                </a:lnTo>
                <a:lnTo>
                  <a:pt x="0" y="4605270"/>
                </a:lnTo>
                <a:lnTo>
                  <a:pt x="0" y="0"/>
                </a:lnTo>
                <a:close/>
              </a:path>
            </a:pathLst>
          </a:custGeom>
          <a:blipFill>
            <a:blip r:embed="rId6"/>
            <a:stretch>
              <a:fillRect/>
            </a:stretch>
          </a:blipFill>
        </p:spPr>
      </p:sp>
      <p:sp>
        <p:nvSpPr>
          <p:cNvPr id="28" name="TextBox 28"/>
          <p:cNvSpPr txBox="1"/>
          <p:nvPr/>
        </p:nvSpPr>
        <p:spPr>
          <a:xfrm>
            <a:off x="1830194" y="6108701"/>
            <a:ext cx="5389088" cy="2265241"/>
          </a:xfrm>
          <a:prstGeom prst="rect">
            <a:avLst/>
          </a:prstGeom>
        </p:spPr>
        <p:txBody>
          <a:bodyPr lIns="0" tIns="0" rIns="0" bIns="0" rtlCol="0" anchor="t">
            <a:spAutoFit/>
          </a:bodyPr>
          <a:lstStyle/>
          <a:p>
            <a:pPr algn="ctr">
              <a:lnSpc>
                <a:spcPts val="3677"/>
              </a:lnSpc>
              <a:spcBef>
                <a:spcPct val="0"/>
              </a:spcBef>
            </a:pPr>
            <a:r>
              <a:rPr lang="en-US" sz="2626" b="1">
                <a:solidFill>
                  <a:srgbClr val="000000"/>
                </a:solidFill>
                <a:latin typeface="Inter Bold"/>
                <a:ea typeface="Inter Bold"/>
                <a:cs typeface="Inter Bold"/>
                <a:sym typeface="Inter Bold"/>
              </a:rPr>
              <a:t>Integrantes:</a:t>
            </a:r>
          </a:p>
          <a:p>
            <a:pPr algn="ctr">
              <a:lnSpc>
                <a:spcPts val="3677"/>
              </a:lnSpc>
              <a:spcBef>
                <a:spcPct val="0"/>
              </a:spcBef>
            </a:pPr>
            <a:r>
              <a:rPr lang="en-US" sz="2626" b="1">
                <a:solidFill>
                  <a:srgbClr val="000000"/>
                </a:solidFill>
                <a:latin typeface="Inter Bold"/>
                <a:ea typeface="Inter Bold"/>
                <a:cs typeface="Inter Bold"/>
                <a:sym typeface="Inter Bold"/>
              </a:rPr>
              <a:t>-Alvarez Jara Lenin Allister</a:t>
            </a:r>
          </a:p>
          <a:p>
            <a:pPr algn="ctr">
              <a:lnSpc>
                <a:spcPts val="3677"/>
              </a:lnSpc>
              <a:spcBef>
                <a:spcPct val="0"/>
              </a:spcBef>
            </a:pPr>
            <a:r>
              <a:rPr lang="en-US" sz="2626" b="1">
                <a:solidFill>
                  <a:srgbClr val="000000"/>
                </a:solidFill>
                <a:latin typeface="Inter Bold"/>
                <a:ea typeface="Inter Bold"/>
                <a:cs typeface="Inter Bold"/>
                <a:sym typeface="Inter Bold"/>
              </a:rPr>
              <a:t> -Ccoyllo Sigüenza Denzel Leyton</a:t>
            </a:r>
          </a:p>
          <a:p>
            <a:pPr algn="ctr">
              <a:lnSpc>
                <a:spcPts val="3677"/>
              </a:lnSpc>
              <a:spcBef>
                <a:spcPct val="0"/>
              </a:spcBef>
            </a:pPr>
            <a:r>
              <a:rPr lang="en-US" sz="2626" b="1">
                <a:solidFill>
                  <a:srgbClr val="000000"/>
                </a:solidFill>
                <a:latin typeface="Inter Bold"/>
                <a:ea typeface="Inter Bold"/>
                <a:cs typeface="Inter Bold"/>
                <a:sym typeface="Inter Bold"/>
              </a:rPr>
              <a:t>-Enriquez Coronel Juan David</a:t>
            </a:r>
          </a:p>
          <a:p>
            <a:pPr algn="ctr">
              <a:lnSpc>
                <a:spcPts val="3677"/>
              </a:lnSpc>
              <a:spcBef>
                <a:spcPct val="0"/>
              </a:spcBef>
            </a:pPr>
            <a:r>
              <a:rPr lang="en-US" sz="2626" b="1">
                <a:solidFill>
                  <a:srgbClr val="000000"/>
                </a:solidFill>
                <a:latin typeface="Inter Bold"/>
                <a:ea typeface="Inter Bold"/>
                <a:cs typeface="Inter Bold"/>
                <a:sym typeface="Inter Bold"/>
              </a:rPr>
              <a:t>-Isidro Frisancho Kevin Aldair</a:t>
            </a:r>
          </a:p>
        </p:txBody>
      </p:sp>
      <p:sp>
        <p:nvSpPr>
          <p:cNvPr id="29" name="TextBox 29"/>
          <p:cNvSpPr txBox="1"/>
          <p:nvPr/>
        </p:nvSpPr>
        <p:spPr>
          <a:xfrm>
            <a:off x="2430702" y="8824793"/>
            <a:ext cx="4478074" cy="437774"/>
          </a:xfrm>
          <a:prstGeom prst="rect">
            <a:avLst/>
          </a:prstGeom>
        </p:spPr>
        <p:txBody>
          <a:bodyPr lIns="0" tIns="0" rIns="0" bIns="0" rtlCol="0" anchor="t">
            <a:spAutoFit/>
          </a:bodyPr>
          <a:lstStyle/>
          <a:p>
            <a:pPr algn="ctr">
              <a:lnSpc>
                <a:spcPts val="3677"/>
              </a:lnSpc>
              <a:spcBef>
                <a:spcPct val="0"/>
              </a:spcBef>
            </a:pPr>
            <a:r>
              <a:rPr lang="en-US" sz="2626" b="1">
                <a:solidFill>
                  <a:srgbClr val="000000"/>
                </a:solidFill>
                <a:latin typeface="Inter Bold"/>
                <a:ea typeface="Inter Bold"/>
                <a:cs typeface="Inter Bold"/>
                <a:sym typeface="Inter Bold"/>
              </a:rPr>
              <a:t>Docente: Hernán Villafuerte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3411600">
            <a:off x="17171777" y="-107372"/>
            <a:ext cx="1980044" cy="19800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3411600">
            <a:off x="-1134649" y="2079763"/>
            <a:ext cx="2126026" cy="212602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795124">
            <a:off x="9343684" y="-1961065"/>
            <a:ext cx="3125523" cy="312552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47675"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28778">
            <a:off x="12071983" y="-170049"/>
            <a:ext cx="1706901" cy="170690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2891737">
            <a:off x="16856526" y="6352527"/>
            <a:ext cx="2610545" cy="261054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5315169">
            <a:off x="16517232" y="7689456"/>
            <a:ext cx="1193222" cy="119322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4353610" y="9375075"/>
            <a:ext cx="608165" cy="60816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459621" y="9679157"/>
            <a:ext cx="979000" cy="245640"/>
          </a:xfrm>
          <a:custGeom>
            <a:avLst/>
            <a:gdLst/>
            <a:ahLst/>
            <a:cxnLst/>
            <a:rect l="l" t="t" r="r" b="b"/>
            <a:pathLst>
              <a:path w="979000" h="245640">
                <a:moveTo>
                  <a:pt x="0" y="0"/>
                </a:moveTo>
                <a:lnTo>
                  <a:pt x="979000" y="0"/>
                </a:lnTo>
                <a:lnTo>
                  <a:pt x="979000" y="245641"/>
                </a:lnTo>
                <a:lnTo>
                  <a:pt x="0" y="24564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4" name="Freeform 24"/>
          <p:cNvSpPr/>
          <p:nvPr/>
        </p:nvSpPr>
        <p:spPr>
          <a:xfrm>
            <a:off x="-3224153" y="4199637"/>
            <a:ext cx="4662775" cy="4662775"/>
          </a:xfrm>
          <a:custGeom>
            <a:avLst/>
            <a:gdLst/>
            <a:ahLst/>
            <a:cxnLst/>
            <a:rect l="l" t="t" r="r" b="b"/>
            <a:pathLst>
              <a:path w="4662775" h="4662775">
                <a:moveTo>
                  <a:pt x="0" y="0"/>
                </a:moveTo>
                <a:lnTo>
                  <a:pt x="4662774" y="0"/>
                </a:lnTo>
                <a:lnTo>
                  <a:pt x="4662774" y="4662775"/>
                </a:lnTo>
                <a:lnTo>
                  <a:pt x="0" y="4662775"/>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25" name="Freeform 25"/>
          <p:cNvSpPr/>
          <p:nvPr/>
        </p:nvSpPr>
        <p:spPr>
          <a:xfrm>
            <a:off x="5261076" y="-3372191"/>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26" name="Freeform 26"/>
          <p:cNvSpPr/>
          <p:nvPr/>
        </p:nvSpPr>
        <p:spPr>
          <a:xfrm>
            <a:off x="16502693" y="2282624"/>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pSp>
        <p:nvGrpSpPr>
          <p:cNvPr id="27" name="Group 27"/>
          <p:cNvGrpSpPr/>
          <p:nvPr/>
        </p:nvGrpSpPr>
        <p:grpSpPr>
          <a:xfrm>
            <a:off x="663494" y="6304472"/>
            <a:ext cx="16230600" cy="3374686"/>
            <a:chOff x="0" y="0"/>
            <a:chExt cx="2514545" cy="522827"/>
          </a:xfrm>
        </p:grpSpPr>
        <p:sp>
          <p:nvSpPr>
            <p:cNvPr id="28" name="Freeform 28"/>
            <p:cNvSpPr/>
            <p:nvPr/>
          </p:nvSpPr>
          <p:spPr>
            <a:xfrm>
              <a:off x="0" y="0"/>
              <a:ext cx="2514545" cy="522827"/>
            </a:xfrm>
            <a:custGeom>
              <a:avLst/>
              <a:gdLst/>
              <a:ahLst/>
              <a:cxnLst/>
              <a:rect l="l" t="t" r="r" b="b"/>
              <a:pathLst>
                <a:path w="2514545" h="522827">
                  <a:moveTo>
                    <a:pt x="12402" y="0"/>
                  </a:moveTo>
                  <a:lnTo>
                    <a:pt x="2502143" y="0"/>
                  </a:lnTo>
                  <a:cubicBezTo>
                    <a:pt x="2505432" y="0"/>
                    <a:pt x="2508586" y="1307"/>
                    <a:pt x="2510912" y="3632"/>
                  </a:cubicBezTo>
                  <a:cubicBezTo>
                    <a:pt x="2513238" y="5958"/>
                    <a:pt x="2514545" y="9113"/>
                    <a:pt x="2514545" y="12402"/>
                  </a:cubicBezTo>
                  <a:lnTo>
                    <a:pt x="2514545" y="510425"/>
                  </a:lnTo>
                  <a:cubicBezTo>
                    <a:pt x="2514545" y="513714"/>
                    <a:pt x="2513238" y="516869"/>
                    <a:pt x="2510912" y="519195"/>
                  </a:cubicBezTo>
                  <a:cubicBezTo>
                    <a:pt x="2508586" y="521521"/>
                    <a:pt x="2505432" y="522827"/>
                    <a:pt x="2502143" y="522827"/>
                  </a:cubicBezTo>
                  <a:lnTo>
                    <a:pt x="12402" y="522827"/>
                  </a:lnTo>
                  <a:cubicBezTo>
                    <a:pt x="9113" y="522827"/>
                    <a:pt x="5958" y="521521"/>
                    <a:pt x="3632" y="519195"/>
                  </a:cubicBezTo>
                  <a:cubicBezTo>
                    <a:pt x="1307" y="516869"/>
                    <a:pt x="0" y="513714"/>
                    <a:pt x="0" y="510425"/>
                  </a:cubicBezTo>
                  <a:lnTo>
                    <a:pt x="0" y="12402"/>
                  </a:lnTo>
                  <a:cubicBezTo>
                    <a:pt x="0" y="9113"/>
                    <a:pt x="1307" y="5958"/>
                    <a:pt x="3632" y="3632"/>
                  </a:cubicBezTo>
                  <a:cubicBezTo>
                    <a:pt x="5958" y="1307"/>
                    <a:pt x="9113" y="0"/>
                    <a:pt x="12402" y="0"/>
                  </a:cubicBezTo>
                  <a:close/>
                </a:path>
              </a:pathLst>
            </a:custGeom>
            <a:blipFill>
              <a:blip r:embed="rId4"/>
              <a:stretch>
                <a:fillRect t="-142361" r="-534" b="-29619"/>
              </a:stretch>
            </a:blipFill>
          </p:spPr>
        </p:sp>
      </p:grpSp>
      <p:grpSp>
        <p:nvGrpSpPr>
          <p:cNvPr id="29" name="Group 29"/>
          <p:cNvGrpSpPr/>
          <p:nvPr/>
        </p:nvGrpSpPr>
        <p:grpSpPr>
          <a:xfrm>
            <a:off x="1399599" y="1916884"/>
            <a:ext cx="15133906" cy="4614141"/>
            <a:chOff x="0" y="0"/>
            <a:chExt cx="3113972" cy="949412"/>
          </a:xfrm>
        </p:grpSpPr>
        <p:sp>
          <p:nvSpPr>
            <p:cNvPr id="30" name="Freeform 30"/>
            <p:cNvSpPr/>
            <p:nvPr/>
          </p:nvSpPr>
          <p:spPr>
            <a:xfrm>
              <a:off x="0" y="0"/>
              <a:ext cx="3113973" cy="949412"/>
            </a:xfrm>
            <a:custGeom>
              <a:avLst/>
              <a:gdLst/>
              <a:ahLst/>
              <a:cxnLst/>
              <a:rect l="l" t="t" r="r" b="b"/>
              <a:pathLst>
                <a:path w="3113973" h="949412">
                  <a:moveTo>
                    <a:pt x="9991" y="0"/>
                  </a:moveTo>
                  <a:lnTo>
                    <a:pt x="3103981" y="0"/>
                  </a:lnTo>
                  <a:cubicBezTo>
                    <a:pt x="3109499" y="0"/>
                    <a:pt x="3113973" y="4473"/>
                    <a:pt x="3113973" y="9991"/>
                  </a:cubicBezTo>
                  <a:lnTo>
                    <a:pt x="3113973" y="939420"/>
                  </a:lnTo>
                  <a:cubicBezTo>
                    <a:pt x="3113973" y="944938"/>
                    <a:pt x="3109499" y="949412"/>
                    <a:pt x="3103981" y="949412"/>
                  </a:cubicBezTo>
                  <a:lnTo>
                    <a:pt x="9991" y="949412"/>
                  </a:lnTo>
                  <a:cubicBezTo>
                    <a:pt x="4473" y="949412"/>
                    <a:pt x="0" y="944938"/>
                    <a:pt x="0" y="939420"/>
                  </a:cubicBezTo>
                  <a:lnTo>
                    <a:pt x="0" y="9991"/>
                  </a:lnTo>
                  <a:cubicBezTo>
                    <a:pt x="0" y="4473"/>
                    <a:pt x="4473" y="0"/>
                    <a:pt x="9991"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1" name="TextBox 31"/>
            <p:cNvSpPr txBox="1"/>
            <p:nvPr/>
          </p:nvSpPr>
          <p:spPr>
            <a:xfrm>
              <a:off x="0" y="-47625"/>
              <a:ext cx="3113972" cy="997037"/>
            </a:xfrm>
            <a:prstGeom prst="rect">
              <a:avLst/>
            </a:prstGeom>
          </p:spPr>
          <p:txBody>
            <a:bodyPr lIns="50800" tIns="50800" rIns="50800" bIns="50800" rtlCol="0" anchor="ctr"/>
            <a:lstStyle/>
            <a:p>
              <a:pPr algn="ctr">
                <a:lnSpc>
                  <a:spcPts val="3220"/>
                </a:lnSpc>
              </a:pPr>
              <a:endParaRPr/>
            </a:p>
          </p:txBody>
        </p:sp>
      </p:grpSp>
      <p:grpSp>
        <p:nvGrpSpPr>
          <p:cNvPr id="32" name="Group 32"/>
          <p:cNvGrpSpPr/>
          <p:nvPr/>
        </p:nvGrpSpPr>
        <p:grpSpPr>
          <a:xfrm>
            <a:off x="1575231" y="2403857"/>
            <a:ext cx="358140" cy="358140"/>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5" name="TextBox 35"/>
          <p:cNvSpPr txBox="1"/>
          <p:nvPr/>
        </p:nvSpPr>
        <p:spPr>
          <a:xfrm>
            <a:off x="2768745" y="189130"/>
            <a:ext cx="6976914" cy="1468403"/>
          </a:xfrm>
          <a:prstGeom prst="rect">
            <a:avLst/>
          </a:prstGeom>
        </p:spPr>
        <p:txBody>
          <a:bodyPr lIns="0" tIns="0" rIns="0" bIns="0" rtlCol="0" anchor="t">
            <a:spAutoFit/>
          </a:bodyPr>
          <a:lstStyle/>
          <a:p>
            <a:pPr algn="ctr">
              <a:lnSpc>
                <a:spcPts val="11989"/>
              </a:lnSpc>
              <a:spcBef>
                <a:spcPct val="0"/>
              </a:spcBef>
            </a:pPr>
            <a:r>
              <a:rPr lang="en-US" sz="8563" b="1">
                <a:solidFill>
                  <a:srgbClr val="000000"/>
                </a:solidFill>
                <a:latin typeface="Stinger Fit Bold"/>
                <a:ea typeface="Stinger Fit Bold"/>
                <a:cs typeface="Stinger Fit Bold"/>
                <a:sym typeface="Stinger Fit Bold"/>
              </a:rPr>
              <a:t>Introducción</a:t>
            </a:r>
          </a:p>
        </p:txBody>
      </p:sp>
      <p:sp>
        <p:nvSpPr>
          <p:cNvPr id="36" name="TextBox 36"/>
          <p:cNvSpPr txBox="1"/>
          <p:nvPr/>
        </p:nvSpPr>
        <p:spPr>
          <a:xfrm>
            <a:off x="2109003" y="2356232"/>
            <a:ext cx="14209733" cy="3654233"/>
          </a:xfrm>
          <a:prstGeom prst="rect">
            <a:avLst/>
          </a:prstGeom>
        </p:spPr>
        <p:txBody>
          <a:bodyPr lIns="0" tIns="0" rIns="0" bIns="0" rtlCol="0" anchor="t">
            <a:spAutoFit/>
          </a:bodyPr>
          <a:lstStyle/>
          <a:p>
            <a:pPr algn="just">
              <a:lnSpc>
                <a:spcPts val="3696"/>
              </a:lnSpc>
            </a:pPr>
            <a:r>
              <a:rPr lang="en-US" sz="2640" b="1">
                <a:solidFill>
                  <a:srgbClr val="FFFFFF"/>
                </a:solidFill>
                <a:latin typeface="Inter Medium"/>
                <a:ea typeface="Inter Medium"/>
                <a:cs typeface="Inter Medium"/>
                <a:sym typeface="Inter Medium"/>
              </a:rPr>
              <a:t>El Accidente Cerebrovascular (ACV) constituye una de las principales causas de discapacidad neurológica a nivel mundial, generando alteraciones que afectan significativamente las capacidades motoras y cognitivas de los pacientes. Entre las secuelas más frecuentes se encuentran la pérdida de coordinación y precisión en los movimientos, la disminución de la movilidad de las extremidades superiores, así como dificultades relacionadas con la atención, el tiempo de reacción y el control inhibitorio. Estas limitaciones repercuten directamente en la autonomía del individuo y hacen necesaria la aplicación de procesos de rehabilitación continuos y especializados.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2891737">
            <a:off x="8296316" y="-2098661"/>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315169">
            <a:off x="8206034" y="-46980"/>
            <a:ext cx="675492" cy="670091"/>
            <a:chOff x="0" y="0"/>
            <a:chExt cx="819351" cy="812800"/>
          </a:xfrm>
        </p:grpSpPr>
        <p:sp>
          <p:nvSpPr>
            <p:cNvPr id="6" name="Freeform 6"/>
            <p:cNvSpPr/>
            <p:nvPr/>
          </p:nvSpPr>
          <p:spPr>
            <a:xfrm>
              <a:off x="0" y="0"/>
              <a:ext cx="819351" cy="812800"/>
            </a:xfrm>
            <a:custGeom>
              <a:avLst/>
              <a:gdLst/>
              <a:ahLst/>
              <a:cxnLst/>
              <a:rect l="l" t="t" r="r" b="b"/>
              <a:pathLst>
                <a:path w="819351" h="812800">
                  <a:moveTo>
                    <a:pt x="409676" y="0"/>
                  </a:moveTo>
                  <a:cubicBezTo>
                    <a:pt x="183418" y="0"/>
                    <a:pt x="0" y="181951"/>
                    <a:pt x="0" y="406400"/>
                  </a:cubicBezTo>
                  <a:cubicBezTo>
                    <a:pt x="0" y="630849"/>
                    <a:pt x="183418" y="812800"/>
                    <a:pt x="409676" y="812800"/>
                  </a:cubicBezTo>
                  <a:cubicBezTo>
                    <a:pt x="635933" y="812800"/>
                    <a:pt x="819351" y="630849"/>
                    <a:pt x="819351" y="406400"/>
                  </a:cubicBezTo>
                  <a:cubicBezTo>
                    <a:pt x="819351" y="181951"/>
                    <a:pt x="635933" y="0"/>
                    <a:pt x="409676"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814" y="28575"/>
              <a:ext cx="665723" cy="708025"/>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15114601"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6921224" y="9863873"/>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6464379">
            <a:off x="17953122" y="3595580"/>
            <a:ext cx="2283455" cy="22834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rot="6198033">
            <a:off x="17244905" y="4482673"/>
            <a:ext cx="1247033" cy="12470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rot="-3411600">
            <a:off x="13019447" y="665407"/>
            <a:ext cx="608165" cy="60816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a:off x="930202" y="2167477"/>
            <a:ext cx="12711726" cy="2993388"/>
            <a:chOff x="0" y="0"/>
            <a:chExt cx="2615581" cy="615923"/>
          </a:xfrm>
        </p:grpSpPr>
        <p:sp>
          <p:nvSpPr>
            <p:cNvPr id="20" name="Freeform 20"/>
            <p:cNvSpPr/>
            <p:nvPr/>
          </p:nvSpPr>
          <p:spPr>
            <a:xfrm>
              <a:off x="0" y="0"/>
              <a:ext cx="2615581" cy="615923"/>
            </a:xfrm>
            <a:custGeom>
              <a:avLst/>
              <a:gdLst/>
              <a:ahLst/>
              <a:cxnLst/>
              <a:rect l="l" t="t" r="r" b="b"/>
              <a:pathLst>
                <a:path w="2615581" h="615923">
                  <a:moveTo>
                    <a:pt x="11895" y="0"/>
                  </a:moveTo>
                  <a:lnTo>
                    <a:pt x="2603686" y="0"/>
                  </a:lnTo>
                  <a:cubicBezTo>
                    <a:pt x="2606841" y="0"/>
                    <a:pt x="2609867" y="1253"/>
                    <a:pt x="2612097" y="3484"/>
                  </a:cubicBezTo>
                  <a:cubicBezTo>
                    <a:pt x="2614328" y="5715"/>
                    <a:pt x="2615581" y="8740"/>
                    <a:pt x="2615581" y="11895"/>
                  </a:cubicBezTo>
                  <a:lnTo>
                    <a:pt x="2615581" y="604028"/>
                  </a:lnTo>
                  <a:cubicBezTo>
                    <a:pt x="2615581" y="607183"/>
                    <a:pt x="2614328" y="610209"/>
                    <a:pt x="2612097" y="612439"/>
                  </a:cubicBezTo>
                  <a:cubicBezTo>
                    <a:pt x="2609867" y="614670"/>
                    <a:pt x="2606841" y="615923"/>
                    <a:pt x="2603686" y="615923"/>
                  </a:cubicBezTo>
                  <a:lnTo>
                    <a:pt x="11895" y="615923"/>
                  </a:lnTo>
                  <a:cubicBezTo>
                    <a:pt x="8740" y="615923"/>
                    <a:pt x="5715" y="614670"/>
                    <a:pt x="3484" y="612439"/>
                  </a:cubicBezTo>
                  <a:cubicBezTo>
                    <a:pt x="1253" y="610209"/>
                    <a:pt x="0" y="607183"/>
                    <a:pt x="0" y="604028"/>
                  </a:cubicBezTo>
                  <a:lnTo>
                    <a:pt x="0" y="11895"/>
                  </a:lnTo>
                  <a:cubicBezTo>
                    <a:pt x="0" y="8740"/>
                    <a:pt x="1253" y="5715"/>
                    <a:pt x="3484" y="3484"/>
                  </a:cubicBezTo>
                  <a:cubicBezTo>
                    <a:pt x="5715" y="1253"/>
                    <a:pt x="8740" y="0"/>
                    <a:pt x="11895"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1" name="TextBox 21"/>
            <p:cNvSpPr txBox="1"/>
            <p:nvPr/>
          </p:nvSpPr>
          <p:spPr>
            <a:xfrm>
              <a:off x="0" y="-47625"/>
              <a:ext cx="2615581" cy="663548"/>
            </a:xfrm>
            <a:prstGeom prst="rect">
              <a:avLst/>
            </a:prstGeom>
          </p:spPr>
          <p:txBody>
            <a:bodyPr lIns="50800" tIns="50800" rIns="50800" bIns="50800" rtlCol="0" anchor="ctr"/>
            <a:lstStyle/>
            <a:p>
              <a:pPr algn="ctr">
                <a:lnSpc>
                  <a:spcPts val="3220"/>
                </a:lnSpc>
              </a:pPr>
              <a:endParaRPr/>
            </a:p>
          </p:txBody>
        </p:sp>
      </p:grpSp>
      <p:grpSp>
        <p:nvGrpSpPr>
          <p:cNvPr id="22" name="Group 22"/>
          <p:cNvGrpSpPr/>
          <p:nvPr/>
        </p:nvGrpSpPr>
        <p:grpSpPr>
          <a:xfrm>
            <a:off x="6418559" y="6518077"/>
            <a:ext cx="11624191" cy="3141917"/>
            <a:chOff x="0" y="0"/>
            <a:chExt cx="2077521" cy="561536"/>
          </a:xfrm>
        </p:grpSpPr>
        <p:sp>
          <p:nvSpPr>
            <p:cNvPr id="23" name="Freeform 23"/>
            <p:cNvSpPr/>
            <p:nvPr/>
          </p:nvSpPr>
          <p:spPr>
            <a:xfrm>
              <a:off x="0" y="0"/>
              <a:ext cx="2077521" cy="561536"/>
            </a:xfrm>
            <a:custGeom>
              <a:avLst/>
              <a:gdLst/>
              <a:ahLst/>
              <a:cxnLst/>
              <a:rect l="l" t="t" r="r" b="b"/>
              <a:pathLst>
                <a:path w="2077521" h="561536">
                  <a:moveTo>
                    <a:pt x="13008" y="0"/>
                  </a:moveTo>
                  <a:lnTo>
                    <a:pt x="2064513" y="0"/>
                  </a:lnTo>
                  <a:cubicBezTo>
                    <a:pt x="2067963" y="0"/>
                    <a:pt x="2071271" y="1370"/>
                    <a:pt x="2073711" y="3810"/>
                  </a:cubicBezTo>
                  <a:cubicBezTo>
                    <a:pt x="2076150" y="6250"/>
                    <a:pt x="2077521" y="9558"/>
                    <a:pt x="2077521" y="13008"/>
                  </a:cubicBezTo>
                  <a:lnTo>
                    <a:pt x="2077521" y="548527"/>
                  </a:lnTo>
                  <a:cubicBezTo>
                    <a:pt x="2077521" y="551977"/>
                    <a:pt x="2076150" y="555286"/>
                    <a:pt x="2073711" y="557726"/>
                  </a:cubicBezTo>
                  <a:cubicBezTo>
                    <a:pt x="2071271" y="560165"/>
                    <a:pt x="2067963" y="561536"/>
                    <a:pt x="2064513" y="561536"/>
                  </a:cubicBezTo>
                  <a:lnTo>
                    <a:pt x="13008" y="561536"/>
                  </a:lnTo>
                  <a:cubicBezTo>
                    <a:pt x="9558" y="561536"/>
                    <a:pt x="6250" y="560165"/>
                    <a:pt x="3810" y="557726"/>
                  </a:cubicBezTo>
                  <a:cubicBezTo>
                    <a:pt x="1370" y="555286"/>
                    <a:pt x="0" y="551977"/>
                    <a:pt x="0" y="548527"/>
                  </a:cubicBezTo>
                  <a:lnTo>
                    <a:pt x="0" y="13008"/>
                  </a:lnTo>
                  <a:cubicBezTo>
                    <a:pt x="0" y="9558"/>
                    <a:pt x="1370" y="6250"/>
                    <a:pt x="3810" y="3810"/>
                  </a:cubicBezTo>
                  <a:cubicBezTo>
                    <a:pt x="6250" y="1370"/>
                    <a:pt x="9558" y="0"/>
                    <a:pt x="1300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4" name="TextBox 24"/>
            <p:cNvSpPr txBox="1"/>
            <p:nvPr/>
          </p:nvSpPr>
          <p:spPr>
            <a:xfrm>
              <a:off x="0" y="-47625"/>
              <a:ext cx="2077521" cy="609161"/>
            </a:xfrm>
            <a:prstGeom prst="rect">
              <a:avLst/>
            </a:prstGeom>
          </p:spPr>
          <p:txBody>
            <a:bodyPr lIns="50800" tIns="50800" rIns="50800" bIns="50800" rtlCol="0" anchor="ctr"/>
            <a:lstStyle/>
            <a:p>
              <a:pPr algn="ctr">
                <a:lnSpc>
                  <a:spcPts val="3220"/>
                </a:lnSpc>
              </a:pPr>
              <a:endParaRPr/>
            </a:p>
          </p:txBody>
        </p:sp>
      </p:grpSp>
      <p:grpSp>
        <p:nvGrpSpPr>
          <p:cNvPr id="25" name="Group 25"/>
          <p:cNvGrpSpPr/>
          <p:nvPr/>
        </p:nvGrpSpPr>
        <p:grpSpPr>
          <a:xfrm>
            <a:off x="1068461" y="2406614"/>
            <a:ext cx="358140" cy="35814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6548841" y="6784031"/>
            <a:ext cx="358140" cy="35814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1" name="Group 31"/>
          <p:cNvGrpSpPr/>
          <p:nvPr/>
        </p:nvGrpSpPr>
        <p:grpSpPr>
          <a:xfrm rot="6784697">
            <a:off x="-229274" y="9648232"/>
            <a:ext cx="1277535" cy="127753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4" name="Freeform 34"/>
          <p:cNvSpPr/>
          <p:nvPr/>
        </p:nvSpPr>
        <p:spPr>
          <a:xfrm>
            <a:off x="-213486" y="6364431"/>
            <a:ext cx="2042383" cy="1117740"/>
          </a:xfrm>
          <a:custGeom>
            <a:avLst/>
            <a:gdLst/>
            <a:ahLst/>
            <a:cxnLst/>
            <a:rect l="l" t="t" r="r" b="b"/>
            <a:pathLst>
              <a:path w="2042383" h="1117740">
                <a:moveTo>
                  <a:pt x="0" y="0"/>
                </a:moveTo>
                <a:lnTo>
                  <a:pt x="2042383" y="0"/>
                </a:lnTo>
                <a:lnTo>
                  <a:pt x="2042383" y="1117740"/>
                </a:lnTo>
                <a:lnTo>
                  <a:pt x="0" y="111774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5" name="Freeform 35"/>
          <p:cNvSpPr/>
          <p:nvPr/>
        </p:nvSpPr>
        <p:spPr>
          <a:xfrm>
            <a:off x="531700" y="5631141"/>
            <a:ext cx="5617983" cy="3764049"/>
          </a:xfrm>
          <a:custGeom>
            <a:avLst/>
            <a:gdLst/>
            <a:ahLst/>
            <a:cxnLst/>
            <a:rect l="l" t="t" r="r" b="b"/>
            <a:pathLst>
              <a:path w="5617983" h="3764049">
                <a:moveTo>
                  <a:pt x="0" y="0"/>
                </a:moveTo>
                <a:lnTo>
                  <a:pt x="5617983" y="0"/>
                </a:lnTo>
                <a:lnTo>
                  <a:pt x="5617983" y="3764049"/>
                </a:lnTo>
                <a:lnTo>
                  <a:pt x="0" y="3764049"/>
                </a:lnTo>
                <a:lnTo>
                  <a:pt x="0" y="0"/>
                </a:lnTo>
                <a:close/>
              </a:path>
            </a:pathLst>
          </a:custGeom>
          <a:blipFill>
            <a:blip r:embed="rId4"/>
            <a:stretch>
              <a:fillRect/>
            </a:stretch>
          </a:blipFill>
        </p:spPr>
      </p:sp>
      <p:sp>
        <p:nvSpPr>
          <p:cNvPr id="36" name="Freeform 36"/>
          <p:cNvSpPr/>
          <p:nvPr/>
        </p:nvSpPr>
        <p:spPr>
          <a:xfrm>
            <a:off x="13160251" y="522265"/>
            <a:ext cx="4882499" cy="3130899"/>
          </a:xfrm>
          <a:custGeom>
            <a:avLst/>
            <a:gdLst/>
            <a:ahLst/>
            <a:cxnLst/>
            <a:rect l="l" t="t" r="r" b="b"/>
            <a:pathLst>
              <a:path w="4882499" h="3130899">
                <a:moveTo>
                  <a:pt x="0" y="0"/>
                </a:moveTo>
                <a:lnTo>
                  <a:pt x="4882500" y="0"/>
                </a:lnTo>
                <a:lnTo>
                  <a:pt x="4882500" y="3130899"/>
                </a:lnTo>
                <a:lnTo>
                  <a:pt x="0" y="3130899"/>
                </a:lnTo>
                <a:lnTo>
                  <a:pt x="0" y="0"/>
                </a:lnTo>
                <a:close/>
              </a:path>
            </a:pathLst>
          </a:custGeom>
          <a:blipFill>
            <a:blip r:embed="rId5"/>
            <a:stretch>
              <a:fillRect t="-2046" b="-2046"/>
            </a:stretch>
          </a:blipFill>
        </p:spPr>
      </p:sp>
      <p:sp>
        <p:nvSpPr>
          <p:cNvPr id="37" name="TextBox 37"/>
          <p:cNvSpPr txBox="1"/>
          <p:nvPr/>
        </p:nvSpPr>
        <p:spPr>
          <a:xfrm>
            <a:off x="1469540" y="2358989"/>
            <a:ext cx="11799253" cy="2540727"/>
          </a:xfrm>
          <a:prstGeom prst="rect">
            <a:avLst/>
          </a:prstGeom>
        </p:spPr>
        <p:txBody>
          <a:bodyPr lIns="0" tIns="0" rIns="0" bIns="0" rtlCol="0" anchor="t">
            <a:spAutoFit/>
          </a:bodyPr>
          <a:lstStyle/>
          <a:p>
            <a:pPr algn="l">
              <a:lnSpc>
                <a:spcPts val="3397"/>
              </a:lnSpc>
            </a:pPr>
            <a:r>
              <a:rPr lang="en-US" sz="2426" b="1">
                <a:solidFill>
                  <a:srgbClr val="FFFFFF"/>
                </a:solidFill>
                <a:latin typeface="Inter Medium"/>
                <a:ea typeface="Inter Medium"/>
                <a:cs typeface="Inter Medium"/>
                <a:sym typeface="Inter Medium"/>
              </a:rPr>
              <a:t>El Accidente Cerebrovascular (ACV) constituye una de las principales causas de discapacidad neurológica en el mundo y representa un importante desafío para los sistemas de salud. Los pacientes que han sufrido un ACV presentan frecuentemente secuelas que afectan la movilidad y coordinación de la muñeca y la mano, así como alteraciones en funciones cognitivas relacionadas con la atención, el tiempo de reacción y el control de respuesta. </a:t>
            </a:r>
          </a:p>
        </p:txBody>
      </p:sp>
      <p:sp>
        <p:nvSpPr>
          <p:cNvPr id="38" name="TextBox 38"/>
          <p:cNvSpPr txBox="1"/>
          <p:nvPr/>
        </p:nvSpPr>
        <p:spPr>
          <a:xfrm>
            <a:off x="7050842" y="6729773"/>
            <a:ext cx="10752554" cy="2514044"/>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Por otro lado, existen sistemas y equipos especializados capaces de realizar mediciones con alta precisión y proporcionar un monitoreo avanzado del proceso de rehabilitación. Sin embargo, estos dispositivos poseen elevados costos de adquisición, mantenimiento e implementación, lo que limita su disponibilidad en hospitales, clínicas y centros de rehabilitación con recursos económicos reducidos. </a:t>
            </a:r>
          </a:p>
        </p:txBody>
      </p:sp>
      <p:sp>
        <p:nvSpPr>
          <p:cNvPr id="39" name="TextBox 39"/>
          <p:cNvSpPr txBox="1"/>
          <p:nvPr/>
        </p:nvSpPr>
        <p:spPr>
          <a:xfrm>
            <a:off x="186086" y="566832"/>
            <a:ext cx="12715687"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Planteamiento del Problema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5315169">
            <a:off x="13680155" y="-391551"/>
            <a:ext cx="1193222" cy="119322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15551864"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rot="-3411600">
            <a:off x="13048951" y="388275"/>
            <a:ext cx="608165" cy="6081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9" name="Group 9"/>
          <p:cNvGrpSpPr/>
          <p:nvPr/>
        </p:nvGrpSpPr>
        <p:grpSpPr>
          <a:xfrm rot="-3411600">
            <a:off x="-1151318" y="-1051658"/>
            <a:ext cx="1980044" cy="198004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12" name="Freeform 12"/>
          <p:cNvSpPr/>
          <p:nvPr/>
        </p:nvSpPr>
        <p:spPr>
          <a:xfrm>
            <a:off x="8018378" y="8686045"/>
            <a:ext cx="4662775" cy="4662775"/>
          </a:xfrm>
          <a:custGeom>
            <a:avLst/>
            <a:gdLst/>
            <a:ahLst/>
            <a:cxnLst/>
            <a:rect l="l" t="t" r="r" b="b"/>
            <a:pathLst>
              <a:path w="4662775" h="4662775">
                <a:moveTo>
                  <a:pt x="0" y="0"/>
                </a:moveTo>
                <a:lnTo>
                  <a:pt x="4662774" y="0"/>
                </a:lnTo>
                <a:lnTo>
                  <a:pt x="4662774" y="4662775"/>
                </a:lnTo>
                <a:lnTo>
                  <a:pt x="0" y="4662775"/>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257641" y="-2791577"/>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4557716" y="2136050"/>
            <a:ext cx="6554996" cy="2966674"/>
            <a:chOff x="0" y="0"/>
            <a:chExt cx="8739995" cy="3955565"/>
          </a:xfrm>
        </p:grpSpPr>
        <p:grpSp>
          <p:nvGrpSpPr>
            <p:cNvPr id="15" name="Group 15"/>
            <p:cNvGrpSpPr/>
            <p:nvPr/>
          </p:nvGrpSpPr>
          <p:grpSpPr>
            <a:xfrm>
              <a:off x="0" y="0"/>
              <a:ext cx="8739995" cy="3955565"/>
              <a:chOff x="0" y="0"/>
              <a:chExt cx="1348765" cy="610427"/>
            </a:xfrm>
          </p:grpSpPr>
          <p:sp>
            <p:nvSpPr>
              <p:cNvPr id="16" name="Freeform 16"/>
              <p:cNvSpPr/>
              <p:nvPr/>
            </p:nvSpPr>
            <p:spPr>
              <a:xfrm>
                <a:off x="0" y="0"/>
                <a:ext cx="1348765" cy="610427"/>
              </a:xfrm>
              <a:custGeom>
                <a:avLst/>
                <a:gdLst/>
                <a:ahLst/>
                <a:cxnLst/>
                <a:rect l="l" t="t" r="r" b="b"/>
                <a:pathLst>
                  <a:path w="1348765" h="610427">
                    <a:moveTo>
                      <a:pt x="23068" y="0"/>
                    </a:moveTo>
                    <a:lnTo>
                      <a:pt x="1325697" y="0"/>
                    </a:lnTo>
                    <a:cubicBezTo>
                      <a:pt x="1338437" y="0"/>
                      <a:pt x="1348765" y="10328"/>
                      <a:pt x="1348765" y="23068"/>
                    </a:cubicBezTo>
                    <a:lnTo>
                      <a:pt x="1348765" y="587359"/>
                    </a:lnTo>
                    <a:cubicBezTo>
                      <a:pt x="1348765" y="600099"/>
                      <a:pt x="1338437" y="610427"/>
                      <a:pt x="1325697" y="610427"/>
                    </a:cubicBezTo>
                    <a:lnTo>
                      <a:pt x="23068" y="610427"/>
                    </a:lnTo>
                    <a:cubicBezTo>
                      <a:pt x="10328" y="610427"/>
                      <a:pt x="0" y="600099"/>
                      <a:pt x="0" y="587359"/>
                    </a:cubicBezTo>
                    <a:lnTo>
                      <a:pt x="0" y="23068"/>
                    </a:lnTo>
                    <a:cubicBezTo>
                      <a:pt x="0" y="10328"/>
                      <a:pt x="10328" y="0"/>
                      <a:pt x="2306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7" name="TextBox 17"/>
              <p:cNvSpPr txBox="1"/>
              <p:nvPr/>
            </p:nvSpPr>
            <p:spPr>
              <a:xfrm>
                <a:off x="0" y="-47625"/>
                <a:ext cx="1348765" cy="658052"/>
              </a:xfrm>
              <a:prstGeom prst="rect">
                <a:avLst/>
              </a:prstGeom>
            </p:spPr>
            <p:txBody>
              <a:bodyPr lIns="50800" tIns="50800" rIns="50800" bIns="50800" rtlCol="0" anchor="ctr"/>
              <a:lstStyle/>
              <a:p>
                <a:pPr algn="ctr">
                  <a:lnSpc>
                    <a:spcPts val="3220"/>
                  </a:lnSpc>
                </a:pPr>
                <a:endParaRPr/>
              </a:p>
            </p:txBody>
          </p:sp>
        </p:grpSp>
        <p:sp>
          <p:nvSpPr>
            <p:cNvPr id="18" name="TextBox 18"/>
            <p:cNvSpPr txBox="1"/>
            <p:nvPr/>
          </p:nvSpPr>
          <p:spPr>
            <a:xfrm>
              <a:off x="360887" y="789726"/>
              <a:ext cx="8018220" cy="2799292"/>
            </a:xfrm>
            <a:prstGeom prst="rect">
              <a:avLst/>
            </a:prstGeom>
          </p:spPr>
          <p:txBody>
            <a:bodyPr lIns="0" tIns="0" rIns="0" bIns="0" rtlCol="0" anchor="t">
              <a:spAutoFit/>
            </a:bodyPr>
            <a:lstStyle/>
            <a:p>
              <a:pPr algn="l">
                <a:lnSpc>
                  <a:spcPts val="2800"/>
                </a:lnSpc>
              </a:pPr>
              <a:r>
                <a:rPr lang="en-US" sz="2000">
                  <a:solidFill>
                    <a:srgbClr val="FFFFFF"/>
                  </a:solidFill>
                  <a:latin typeface="Inter"/>
                  <a:ea typeface="Inter"/>
                  <a:cs typeface="Inter"/>
                  <a:sym typeface="Inter"/>
                </a:rPr>
                <a:t>Se encienden luces aleatorias. El paciente debe tocarlas rápido. El sistema mide: tiempo de reacción, precisión, coordinación, atención visual.</a:t>
              </a:r>
            </a:p>
            <a:p>
              <a:pPr marL="431801" lvl="1" indent="-215900" algn="l">
                <a:lnSpc>
                  <a:spcPts val="2800"/>
                </a:lnSpc>
                <a:buFont typeface="Arial"/>
                <a:buChar char="•"/>
              </a:pPr>
              <a:r>
                <a:rPr lang="en-US" sz="2000">
                  <a:solidFill>
                    <a:srgbClr val="FFFFFF"/>
                  </a:solidFill>
                  <a:latin typeface="Inter"/>
                  <a:ea typeface="Inter"/>
                  <a:cs typeface="Inter"/>
                  <a:sym typeface="Inter"/>
                </a:rPr>
                <a:t>Su precio ronda entre USD 14,000 y USD 16,000.</a:t>
              </a:r>
            </a:p>
            <a:p>
              <a:pPr algn="l">
                <a:lnSpc>
                  <a:spcPts val="2800"/>
                </a:lnSpc>
              </a:pPr>
              <a:endParaRPr lang="en-US" sz="2000">
                <a:solidFill>
                  <a:srgbClr val="FFFFFF"/>
                </a:solidFill>
                <a:latin typeface="Inter"/>
                <a:ea typeface="Inter"/>
                <a:cs typeface="Inter"/>
                <a:sym typeface="Inter"/>
              </a:endParaRPr>
            </a:p>
          </p:txBody>
        </p:sp>
        <p:sp>
          <p:nvSpPr>
            <p:cNvPr id="19" name="TextBox 19"/>
            <p:cNvSpPr txBox="1"/>
            <p:nvPr/>
          </p:nvSpPr>
          <p:spPr>
            <a:xfrm>
              <a:off x="1022223" y="212051"/>
              <a:ext cx="6738734" cy="492125"/>
            </a:xfrm>
            <a:prstGeom prst="rect">
              <a:avLst/>
            </a:prstGeom>
          </p:spPr>
          <p:txBody>
            <a:bodyPr lIns="0" tIns="0" rIns="0" bIns="0" rtlCol="0" anchor="t">
              <a:spAutoFit/>
            </a:bodyPr>
            <a:lstStyle/>
            <a:p>
              <a:pPr algn="l">
                <a:lnSpc>
                  <a:spcPts val="2859"/>
                </a:lnSpc>
              </a:pPr>
              <a:r>
                <a:rPr lang="en-US" sz="2383">
                  <a:solidFill>
                    <a:srgbClr val="FFFFFF"/>
                  </a:solidFill>
                  <a:latin typeface="Alice Bold"/>
                  <a:ea typeface="Alice Bold"/>
                  <a:cs typeface="Alice Bold"/>
                  <a:sym typeface="Alice Bold"/>
                </a:rPr>
                <a:t>Dynavision International</a:t>
              </a:r>
            </a:p>
          </p:txBody>
        </p:sp>
      </p:grpSp>
      <p:grpSp>
        <p:nvGrpSpPr>
          <p:cNvPr id="20" name="Group 20"/>
          <p:cNvGrpSpPr/>
          <p:nvPr/>
        </p:nvGrpSpPr>
        <p:grpSpPr>
          <a:xfrm>
            <a:off x="4793975" y="2348773"/>
            <a:ext cx="358140" cy="35814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3" name="Group 23"/>
          <p:cNvGrpSpPr/>
          <p:nvPr/>
        </p:nvGrpSpPr>
        <p:grpSpPr>
          <a:xfrm rot="-5146742">
            <a:off x="10745945" y="-1525079"/>
            <a:ext cx="2339308" cy="233930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6" name="Group 26"/>
          <p:cNvGrpSpPr/>
          <p:nvPr/>
        </p:nvGrpSpPr>
        <p:grpSpPr>
          <a:xfrm rot="8153064">
            <a:off x="3838825" y="9611478"/>
            <a:ext cx="2610545" cy="2610545"/>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9" name="Group 29"/>
          <p:cNvGrpSpPr/>
          <p:nvPr/>
        </p:nvGrpSpPr>
        <p:grpSpPr>
          <a:xfrm rot="10576496">
            <a:off x="3551261" y="9481865"/>
            <a:ext cx="1193222" cy="119322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2" name="Group 32"/>
          <p:cNvGrpSpPr/>
          <p:nvPr/>
        </p:nvGrpSpPr>
        <p:grpSpPr>
          <a:xfrm>
            <a:off x="12683064" y="5710145"/>
            <a:ext cx="4819734" cy="3734219"/>
            <a:chOff x="0" y="0"/>
            <a:chExt cx="2096553" cy="1624361"/>
          </a:xfrm>
        </p:grpSpPr>
        <p:sp>
          <p:nvSpPr>
            <p:cNvPr id="33" name="Freeform 33"/>
            <p:cNvSpPr/>
            <p:nvPr/>
          </p:nvSpPr>
          <p:spPr>
            <a:xfrm>
              <a:off x="0" y="0"/>
              <a:ext cx="2096553" cy="1624361"/>
            </a:xfrm>
            <a:custGeom>
              <a:avLst/>
              <a:gdLst/>
              <a:ahLst/>
              <a:cxnLst/>
              <a:rect l="l" t="t" r="r" b="b"/>
              <a:pathLst>
                <a:path w="2096553" h="1624361">
                  <a:moveTo>
                    <a:pt x="83527" y="0"/>
                  </a:moveTo>
                  <a:lnTo>
                    <a:pt x="2013025" y="0"/>
                  </a:lnTo>
                  <a:cubicBezTo>
                    <a:pt x="2059156" y="0"/>
                    <a:pt x="2096553" y="37396"/>
                    <a:pt x="2096553" y="83527"/>
                  </a:cubicBezTo>
                  <a:lnTo>
                    <a:pt x="2096553" y="1540834"/>
                  </a:lnTo>
                  <a:cubicBezTo>
                    <a:pt x="2096553" y="1586965"/>
                    <a:pt x="2059156" y="1624361"/>
                    <a:pt x="2013025" y="1624361"/>
                  </a:cubicBezTo>
                  <a:lnTo>
                    <a:pt x="83527" y="1624361"/>
                  </a:lnTo>
                  <a:cubicBezTo>
                    <a:pt x="37396" y="1624361"/>
                    <a:pt x="0" y="1586965"/>
                    <a:pt x="0" y="1540834"/>
                  </a:cubicBezTo>
                  <a:lnTo>
                    <a:pt x="0" y="83527"/>
                  </a:lnTo>
                  <a:cubicBezTo>
                    <a:pt x="0" y="37396"/>
                    <a:pt x="37396" y="0"/>
                    <a:pt x="83527" y="0"/>
                  </a:cubicBezTo>
                  <a:close/>
                </a:path>
              </a:pathLst>
            </a:custGeom>
            <a:blipFill>
              <a:blip r:embed="rId4"/>
              <a:stretch>
                <a:fillRect t="-13069" b="-16000"/>
              </a:stretch>
            </a:blipFill>
          </p:spPr>
        </p:sp>
      </p:grpSp>
      <p:grpSp>
        <p:nvGrpSpPr>
          <p:cNvPr id="34" name="Group 34"/>
          <p:cNvGrpSpPr/>
          <p:nvPr/>
        </p:nvGrpSpPr>
        <p:grpSpPr>
          <a:xfrm>
            <a:off x="117907" y="2136050"/>
            <a:ext cx="4182634" cy="2802259"/>
            <a:chOff x="0" y="0"/>
            <a:chExt cx="2096553" cy="1404637"/>
          </a:xfrm>
        </p:grpSpPr>
        <p:sp>
          <p:nvSpPr>
            <p:cNvPr id="35" name="Freeform 35"/>
            <p:cNvSpPr/>
            <p:nvPr/>
          </p:nvSpPr>
          <p:spPr>
            <a:xfrm>
              <a:off x="0" y="0"/>
              <a:ext cx="2096553" cy="1404637"/>
            </a:xfrm>
            <a:custGeom>
              <a:avLst/>
              <a:gdLst/>
              <a:ahLst/>
              <a:cxnLst/>
              <a:rect l="l" t="t" r="r" b="b"/>
              <a:pathLst>
                <a:path w="2096553" h="1404637">
                  <a:moveTo>
                    <a:pt x="96250" y="0"/>
                  </a:moveTo>
                  <a:lnTo>
                    <a:pt x="2000303" y="0"/>
                  </a:lnTo>
                  <a:cubicBezTo>
                    <a:pt x="2025830" y="0"/>
                    <a:pt x="2050311" y="10141"/>
                    <a:pt x="2068362" y="28191"/>
                  </a:cubicBezTo>
                  <a:cubicBezTo>
                    <a:pt x="2086412" y="46241"/>
                    <a:pt x="2096553" y="70723"/>
                    <a:pt x="2096553" y="96250"/>
                  </a:cubicBezTo>
                  <a:lnTo>
                    <a:pt x="2096553" y="1308387"/>
                  </a:lnTo>
                  <a:cubicBezTo>
                    <a:pt x="2096553" y="1333914"/>
                    <a:pt x="2086412" y="1358396"/>
                    <a:pt x="2068362" y="1376446"/>
                  </a:cubicBezTo>
                  <a:cubicBezTo>
                    <a:pt x="2050311" y="1394496"/>
                    <a:pt x="2025830" y="1404637"/>
                    <a:pt x="2000303" y="1404637"/>
                  </a:cubicBezTo>
                  <a:lnTo>
                    <a:pt x="96250" y="1404637"/>
                  </a:lnTo>
                  <a:cubicBezTo>
                    <a:pt x="43093" y="1404637"/>
                    <a:pt x="0" y="1361544"/>
                    <a:pt x="0" y="1308387"/>
                  </a:cubicBezTo>
                  <a:lnTo>
                    <a:pt x="0" y="96250"/>
                  </a:lnTo>
                  <a:cubicBezTo>
                    <a:pt x="0" y="70723"/>
                    <a:pt x="10141" y="46241"/>
                    <a:pt x="28191" y="28191"/>
                  </a:cubicBezTo>
                  <a:cubicBezTo>
                    <a:pt x="46241" y="10141"/>
                    <a:pt x="70723" y="0"/>
                    <a:pt x="96250" y="0"/>
                  </a:cubicBezTo>
                  <a:close/>
                </a:path>
              </a:pathLst>
            </a:custGeom>
            <a:blipFill>
              <a:blip r:embed="rId5"/>
              <a:stretch>
                <a:fillRect t="-49634" b="-49634"/>
              </a:stretch>
            </a:blipFill>
          </p:spPr>
        </p:sp>
      </p:grpSp>
      <p:sp>
        <p:nvSpPr>
          <p:cNvPr id="36" name="TextBox 36"/>
          <p:cNvSpPr txBox="1"/>
          <p:nvPr/>
        </p:nvSpPr>
        <p:spPr>
          <a:xfrm>
            <a:off x="700911" y="983525"/>
            <a:ext cx="7950034" cy="847725"/>
          </a:xfrm>
          <a:prstGeom prst="rect">
            <a:avLst/>
          </a:prstGeom>
        </p:spPr>
        <p:txBody>
          <a:bodyPr lIns="0" tIns="0" rIns="0" bIns="0" rtlCol="0" anchor="t">
            <a:spAutoFit/>
          </a:bodyPr>
          <a:lstStyle/>
          <a:p>
            <a:pPr algn="l">
              <a:lnSpc>
                <a:spcPts val="6600"/>
              </a:lnSpc>
            </a:pPr>
            <a:r>
              <a:rPr lang="en-US" sz="5500" b="1">
                <a:solidFill>
                  <a:srgbClr val="0C3366"/>
                </a:solidFill>
                <a:latin typeface="Montaser Arabic Bold"/>
                <a:ea typeface="Montaser Arabic Bold"/>
                <a:cs typeface="Montaser Arabic Bold"/>
                <a:sym typeface="Montaser Arabic Bold"/>
              </a:rPr>
              <a:t>Dispositivos similares</a:t>
            </a:r>
          </a:p>
        </p:txBody>
      </p:sp>
      <p:grpSp>
        <p:nvGrpSpPr>
          <p:cNvPr id="37" name="Group 37"/>
          <p:cNvGrpSpPr/>
          <p:nvPr/>
        </p:nvGrpSpPr>
        <p:grpSpPr>
          <a:xfrm>
            <a:off x="6395238" y="6165690"/>
            <a:ext cx="6118695" cy="2951224"/>
            <a:chOff x="0" y="0"/>
            <a:chExt cx="8158260" cy="3934965"/>
          </a:xfrm>
        </p:grpSpPr>
        <p:grpSp>
          <p:nvGrpSpPr>
            <p:cNvPr id="38" name="Group 38"/>
            <p:cNvGrpSpPr/>
            <p:nvPr/>
          </p:nvGrpSpPr>
          <p:grpSpPr>
            <a:xfrm>
              <a:off x="0" y="0"/>
              <a:ext cx="8158260" cy="3934965"/>
              <a:chOff x="0" y="0"/>
              <a:chExt cx="1258991" cy="607248"/>
            </a:xfrm>
          </p:grpSpPr>
          <p:sp>
            <p:nvSpPr>
              <p:cNvPr id="39" name="Freeform 39"/>
              <p:cNvSpPr/>
              <p:nvPr/>
            </p:nvSpPr>
            <p:spPr>
              <a:xfrm>
                <a:off x="0" y="0"/>
                <a:ext cx="1258991" cy="607248"/>
              </a:xfrm>
              <a:custGeom>
                <a:avLst/>
                <a:gdLst/>
                <a:ahLst/>
                <a:cxnLst/>
                <a:rect l="l" t="t" r="r" b="b"/>
                <a:pathLst>
                  <a:path w="1258991" h="607248">
                    <a:moveTo>
                      <a:pt x="24713" y="0"/>
                    </a:moveTo>
                    <a:lnTo>
                      <a:pt x="1234278" y="0"/>
                    </a:lnTo>
                    <a:cubicBezTo>
                      <a:pt x="1247927" y="0"/>
                      <a:pt x="1258991" y="11064"/>
                      <a:pt x="1258991" y="24713"/>
                    </a:cubicBezTo>
                    <a:lnTo>
                      <a:pt x="1258991" y="582535"/>
                    </a:lnTo>
                    <a:cubicBezTo>
                      <a:pt x="1258991" y="589089"/>
                      <a:pt x="1256387" y="595375"/>
                      <a:pt x="1251753" y="600010"/>
                    </a:cubicBezTo>
                    <a:cubicBezTo>
                      <a:pt x="1247118" y="604644"/>
                      <a:pt x="1240832" y="607248"/>
                      <a:pt x="1234278" y="607248"/>
                    </a:cubicBezTo>
                    <a:lnTo>
                      <a:pt x="24713" y="607248"/>
                    </a:lnTo>
                    <a:cubicBezTo>
                      <a:pt x="18158" y="607248"/>
                      <a:pt x="11873" y="604644"/>
                      <a:pt x="7238" y="600010"/>
                    </a:cubicBezTo>
                    <a:cubicBezTo>
                      <a:pt x="2604" y="595375"/>
                      <a:pt x="0" y="589089"/>
                      <a:pt x="0" y="582535"/>
                    </a:cubicBezTo>
                    <a:lnTo>
                      <a:pt x="0" y="24713"/>
                    </a:lnTo>
                    <a:cubicBezTo>
                      <a:pt x="0" y="18158"/>
                      <a:pt x="2604" y="11873"/>
                      <a:pt x="7238" y="7238"/>
                    </a:cubicBezTo>
                    <a:cubicBezTo>
                      <a:pt x="11873" y="2604"/>
                      <a:pt x="18158" y="0"/>
                      <a:pt x="24713"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40" name="TextBox 40"/>
              <p:cNvSpPr txBox="1"/>
              <p:nvPr/>
            </p:nvSpPr>
            <p:spPr>
              <a:xfrm>
                <a:off x="0" y="-47625"/>
                <a:ext cx="1258991" cy="654873"/>
              </a:xfrm>
              <a:prstGeom prst="rect">
                <a:avLst/>
              </a:prstGeom>
            </p:spPr>
            <p:txBody>
              <a:bodyPr lIns="50800" tIns="50800" rIns="50800" bIns="50800" rtlCol="0" anchor="ctr"/>
              <a:lstStyle/>
              <a:p>
                <a:pPr algn="ctr">
                  <a:lnSpc>
                    <a:spcPts val="3220"/>
                  </a:lnSpc>
                </a:pPr>
                <a:endParaRPr/>
              </a:p>
            </p:txBody>
          </p:sp>
        </p:grpSp>
        <p:grpSp>
          <p:nvGrpSpPr>
            <p:cNvPr id="41" name="Group 41"/>
            <p:cNvGrpSpPr/>
            <p:nvPr/>
          </p:nvGrpSpPr>
          <p:grpSpPr>
            <a:xfrm>
              <a:off x="364988" y="347292"/>
              <a:ext cx="581315" cy="477520"/>
              <a:chOff x="0" y="0"/>
              <a:chExt cx="989472" cy="812800"/>
            </a:xfrm>
          </p:grpSpPr>
          <p:sp>
            <p:nvSpPr>
              <p:cNvPr id="42" name="Freeform 42"/>
              <p:cNvSpPr/>
              <p:nvPr/>
            </p:nvSpPr>
            <p:spPr>
              <a:xfrm>
                <a:off x="0" y="0"/>
                <a:ext cx="989472" cy="812800"/>
              </a:xfrm>
              <a:custGeom>
                <a:avLst/>
                <a:gdLst/>
                <a:ahLst/>
                <a:cxnLst/>
                <a:rect l="l" t="t" r="r" b="b"/>
                <a:pathLst>
                  <a:path w="989472" h="812800">
                    <a:moveTo>
                      <a:pt x="494736" y="0"/>
                    </a:moveTo>
                    <a:cubicBezTo>
                      <a:pt x="221501" y="0"/>
                      <a:pt x="0" y="181951"/>
                      <a:pt x="0" y="406400"/>
                    </a:cubicBezTo>
                    <a:cubicBezTo>
                      <a:pt x="0" y="630849"/>
                      <a:pt x="221501" y="812800"/>
                      <a:pt x="494736" y="812800"/>
                    </a:cubicBezTo>
                    <a:cubicBezTo>
                      <a:pt x="767971" y="812800"/>
                      <a:pt x="989472" y="630849"/>
                      <a:pt x="989472" y="406400"/>
                    </a:cubicBezTo>
                    <a:cubicBezTo>
                      <a:pt x="989472" y="181951"/>
                      <a:pt x="767971" y="0"/>
                      <a:pt x="494736"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43" name="TextBox 43"/>
              <p:cNvSpPr txBox="1"/>
              <p:nvPr/>
            </p:nvSpPr>
            <p:spPr>
              <a:xfrm>
                <a:off x="92763" y="28575"/>
                <a:ext cx="803946" cy="708025"/>
              </a:xfrm>
              <a:prstGeom prst="rect">
                <a:avLst/>
              </a:prstGeom>
            </p:spPr>
            <p:txBody>
              <a:bodyPr lIns="50800" tIns="50800" rIns="50800" bIns="50800" rtlCol="0" anchor="ctr"/>
              <a:lstStyle/>
              <a:p>
                <a:pPr algn="ctr">
                  <a:lnSpc>
                    <a:spcPts val="3220"/>
                  </a:lnSpc>
                </a:pPr>
                <a:endParaRPr/>
              </a:p>
            </p:txBody>
          </p:sp>
        </p:grpSp>
        <p:sp>
          <p:nvSpPr>
            <p:cNvPr id="44" name="TextBox 44"/>
            <p:cNvSpPr txBox="1"/>
            <p:nvPr/>
          </p:nvSpPr>
          <p:spPr>
            <a:xfrm>
              <a:off x="364988" y="1019863"/>
              <a:ext cx="7531335" cy="2196253"/>
            </a:xfrm>
            <a:prstGeom prst="rect">
              <a:avLst/>
            </a:prstGeom>
          </p:spPr>
          <p:txBody>
            <a:bodyPr lIns="0" tIns="0" rIns="0" bIns="0" rtlCol="0" anchor="t">
              <a:spAutoFit/>
            </a:bodyPr>
            <a:lstStyle/>
            <a:p>
              <a:pPr algn="just">
                <a:lnSpc>
                  <a:spcPts val="2660"/>
                </a:lnSpc>
                <a:spcBef>
                  <a:spcPct val="0"/>
                </a:spcBef>
              </a:pPr>
              <a:r>
                <a:rPr lang="en-US" sz="1900" b="1">
                  <a:solidFill>
                    <a:srgbClr val="FFFFFF"/>
                  </a:solidFill>
                  <a:latin typeface="Inter Bold"/>
                  <a:ea typeface="Inter Bold"/>
                  <a:cs typeface="Inter Bold"/>
                  <a:sym typeface="Inter Bold"/>
                </a:rPr>
                <a:t>Son dispositivos diseñados para mejorar la movilidad y recuperar la fuerza.</a:t>
              </a:r>
            </a:p>
            <a:p>
              <a:pPr marL="410213" lvl="1" indent="-205106" algn="l">
                <a:lnSpc>
                  <a:spcPts val="2660"/>
                </a:lnSpc>
                <a:buFont typeface="Arial"/>
                <a:buChar char="•"/>
              </a:pPr>
              <a:r>
                <a:rPr lang="en-US" sz="1900" b="1">
                  <a:solidFill>
                    <a:srgbClr val="FFFFFF"/>
                  </a:solidFill>
                  <a:latin typeface="Inter Bold"/>
                  <a:ea typeface="Inter Bold"/>
                  <a:cs typeface="Inter Bold"/>
                  <a:sym typeface="Inter Bold"/>
                </a:rPr>
                <a:t>Sus precios en el mercado oscilan entre los $200 y $300 dólares para modelos portátiles</a:t>
              </a:r>
            </a:p>
          </p:txBody>
        </p:sp>
        <p:sp>
          <p:nvSpPr>
            <p:cNvPr id="45" name="TextBox 45"/>
            <p:cNvSpPr txBox="1"/>
            <p:nvPr/>
          </p:nvSpPr>
          <p:spPr>
            <a:xfrm>
              <a:off x="1106775" y="332687"/>
              <a:ext cx="6463721" cy="492125"/>
            </a:xfrm>
            <a:prstGeom prst="rect">
              <a:avLst/>
            </a:prstGeom>
          </p:spPr>
          <p:txBody>
            <a:bodyPr lIns="0" tIns="0" rIns="0" bIns="0" rtlCol="0" anchor="t">
              <a:spAutoFit/>
            </a:bodyPr>
            <a:lstStyle/>
            <a:p>
              <a:pPr algn="l">
                <a:lnSpc>
                  <a:spcPts val="2859"/>
                </a:lnSpc>
              </a:pPr>
              <a:r>
                <a:rPr lang="en-US" sz="2383">
                  <a:solidFill>
                    <a:srgbClr val="FFFFFF"/>
                  </a:solidFill>
                  <a:latin typeface="Alice Bold"/>
                  <a:ea typeface="Alice Bold"/>
                  <a:cs typeface="Alice Bold"/>
                  <a:sym typeface="Alice Bold"/>
                </a:rPr>
                <a:t>Guante robótico</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5315169">
            <a:off x="13680155" y="-391551"/>
            <a:ext cx="1193222" cy="119322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15551864"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rot="-3411600">
            <a:off x="13048951" y="388275"/>
            <a:ext cx="608165" cy="6081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9" name="Group 9"/>
          <p:cNvGrpSpPr/>
          <p:nvPr/>
        </p:nvGrpSpPr>
        <p:grpSpPr>
          <a:xfrm rot="-3411600">
            <a:off x="-1151318" y="-1051658"/>
            <a:ext cx="1980044" cy="198004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12" name="Freeform 12"/>
          <p:cNvSpPr/>
          <p:nvPr/>
        </p:nvSpPr>
        <p:spPr>
          <a:xfrm>
            <a:off x="8018378" y="8686045"/>
            <a:ext cx="4662775" cy="4662775"/>
          </a:xfrm>
          <a:custGeom>
            <a:avLst/>
            <a:gdLst/>
            <a:ahLst/>
            <a:cxnLst/>
            <a:rect l="l" t="t" r="r" b="b"/>
            <a:pathLst>
              <a:path w="4662775" h="4662775">
                <a:moveTo>
                  <a:pt x="0" y="0"/>
                </a:moveTo>
                <a:lnTo>
                  <a:pt x="4662774" y="0"/>
                </a:lnTo>
                <a:lnTo>
                  <a:pt x="4662774" y="4662775"/>
                </a:lnTo>
                <a:lnTo>
                  <a:pt x="0" y="4662775"/>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257641" y="-2791577"/>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4793975" y="2348773"/>
            <a:ext cx="358140" cy="35814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5146742">
            <a:off x="10745945" y="-1525079"/>
            <a:ext cx="2339308" cy="233930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8153064">
            <a:off x="3838825" y="9611478"/>
            <a:ext cx="2610545" cy="261054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3" name="Group 23"/>
          <p:cNvGrpSpPr/>
          <p:nvPr/>
        </p:nvGrpSpPr>
        <p:grpSpPr>
          <a:xfrm rot="10576496">
            <a:off x="3551261" y="9481865"/>
            <a:ext cx="1193222" cy="119322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6" name="TextBox 26"/>
          <p:cNvSpPr txBox="1"/>
          <p:nvPr/>
        </p:nvSpPr>
        <p:spPr>
          <a:xfrm>
            <a:off x="700911" y="983525"/>
            <a:ext cx="7950034" cy="847725"/>
          </a:xfrm>
          <a:prstGeom prst="rect">
            <a:avLst/>
          </a:prstGeom>
        </p:spPr>
        <p:txBody>
          <a:bodyPr lIns="0" tIns="0" rIns="0" bIns="0" rtlCol="0" anchor="t">
            <a:spAutoFit/>
          </a:bodyPr>
          <a:lstStyle/>
          <a:p>
            <a:pPr algn="l">
              <a:lnSpc>
                <a:spcPts val="6600"/>
              </a:lnSpc>
            </a:pPr>
            <a:r>
              <a:rPr lang="en-US" sz="5500" b="1">
                <a:solidFill>
                  <a:srgbClr val="0C3366"/>
                </a:solidFill>
                <a:latin typeface="Montaser Arabic Bold"/>
                <a:ea typeface="Montaser Arabic Bold"/>
                <a:cs typeface="Montaser Arabic Bold"/>
                <a:sym typeface="Montaser Arabic Bold"/>
              </a:rPr>
              <a:t>Dispositivos similares</a:t>
            </a:r>
          </a:p>
        </p:txBody>
      </p:sp>
      <p:grpSp>
        <p:nvGrpSpPr>
          <p:cNvPr id="27" name="Group 27"/>
          <p:cNvGrpSpPr/>
          <p:nvPr/>
        </p:nvGrpSpPr>
        <p:grpSpPr>
          <a:xfrm>
            <a:off x="10805002" y="2197223"/>
            <a:ext cx="6116688" cy="6512344"/>
            <a:chOff x="0" y="0"/>
            <a:chExt cx="1066704" cy="1135703"/>
          </a:xfrm>
        </p:grpSpPr>
        <p:sp>
          <p:nvSpPr>
            <p:cNvPr id="28" name="Freeform 28"/>
            <p:cNvSpPr/>
            <p:nvPr/>
          </p:nvSpPr>
          <p:spPr>
            <a:xfrm>
              <a:off x="0" y="0"/>
              <a:ext cx="1066704" cy="1135703"/>
            </a:xfrm>
            <a:custGeom>
              <a:avLst/>
              <a:gdLst/>
              <a:ahLst/>
              <a:cxnLst/>
              <a:rect l="l" t="t" r="r" b="b"/>
              <a:pathLst>
                <a:path w="1066704" h="1135703">
                  <a:moveTo>
                    <a:pt x="20251" y="0"/>
                  </a:moveTo>
                  <a:lnTo>
                    <a:pt x="1046453" y="0"/>
                  </a:lnTo>
                  <a:cubicBezTo>
                    <a:pt x="1057637" y="0"/>
                    <a:pt x="1066704" y="9067"/>
                    <a:pt x="1066704" y="20251"/>
                  </a:cubicBezTo>
                  <a:lnTo>
                    <a:pt x="1066704" y="1115452"/>
                  </a:lnTo>
                  <a:cubicBezTo>
                    <a:pt x="1066704" y="1126637"/>
                    <a:pt x="1057637" y="1135703"/>
                    <a:pt x="1046453" y="1135703"/>
                  </a:cubicBezTo>
                  <a:lnTo>
                    <a:pt x="20251" y="1135703"/>
                  </a:lnTo>
                  <a:cubicBezTo>
                    <a:pt x="9067" y="1135703"/>
                    <a:pt x="0" y="1126637"/>
                    <a:pt x="0" y="1115452"/>
                  </a:cubicBezTo>
                  <a:lnTo>
                    <a:pt x="0" y="20251"/>
                  </a:lnTo>
                  <a:cubicBezTo>
                    <a:pt x="0" y="9067"/>
                    <a:pt x="9067" y="0"/>
                    <a:pt x="20251" y="0"/>
                  </a:cubicBezTo>
                  <a:close/>
                </a:path>
              </a:pathLst>
            </a:custGeom>
            <a:blipFill>
              <a:blip r:embed="rId4"/>
              <a:stretch>
                <a:fillRect l="-44638" r="-44638"/>
              </a:stretch>
            </a:blipFill>
          </p:spPr>
        </p:sp>
      </p:grpSp>
      <p:grpSp>
        <p:nvGrpSpPr>
          <p:cNvPr id="29" name="Group 29"/>
          <p:cNvGrpSpPr/>
          <p:nvPr/>
        </p:nvGrpSpPr>
        <p:grpSpPr>
          <a:xfrm>
            <a:off x="2730654" y="3784378"/>
            <a:ext cx="6554996" cy="2614249"/>
            <a:chOff x="0" y="0"/>
            <a:chExt cx="8739995" cy="3485665"/>
          </a:xfrm>
        </p:grpSpPr>
        <p:grpSp>
          <p:nvGrpSpPr>
            <p:cNvPr id="30" name="Group 30"/>
            <p:cNvGrpSpPr/>
            <p:nvPr/>
          </p:nvGrpSpPr>
          <p:grpSpPr>
            <a:xfrm>
              <a:off x="0" y="0"/>
              <a:ext cx="8739995" cy="3485665"/>
              <a:chOff x="0" y="0"/>
              <a:chExt cx="1348765" cy="537911"/>
            </a:xfrm>
          </p:grpSpPr>
          <p:sp>
            <p:nvSpPr>
              <p:cNvPr id="31" name="Freeform 31"/>
              <p:cNvSpPr/>
              <p:nvPr/>
            </p:nvSpPr>
            <p:spPr>
              <a:xfrm>
                <a:off x="0" y="0"/>
                <a:ext cx="1348765" cy="537911"/>
              </a:xfrm>
              <a:custGeom>
                <a:avLst/>
                <a:gdLst/>
                <a:ahLst/>
                <a:cxnLst/>
                <a:rect l="l" t="t" r="r" b="b"/>
                <a:pathLst>
                  <a:path w="1348765" h="537911">
                    <a:moveTo>
                      <a:pt x="23068" y="0"/>
                    </a:moveTo>
                    <a:lnTo>
                      <a:pt x="1325697" y="0"/>
                    </a:lnTo>
                    <a:cubicBezTo>
                      <a:pt x="1338437" y="0"/>
                      <a:pt x="1348765" y="10328"/>
                      <a:pt x="1348765" y="23068"/>
                    </a:cubicBezTo>
                    <a:lnTo>
                      <a:pt x="1348765" y="514843"/>
                    </a:lnTo>
                    <a:cubicBezTo>
                      <a:pt x="1348765" y="527583"/>
                      <a:pt x="1338437" y="537911"/>
                      <a:pt x="1325697" y="537911"/>
                    </a:cubicBezTo>
                    <a:lnTo>
                      <a:pt x="23068" y="537911"/>
                    </a:lnTo>
                    <a:cubicBezTo>
                      <a:pt x="10328" y="537911"/>
                      <a:pt x="0" y="527583"/>
                      <a:pt x="0" y="514843"/>
                    </a:cubicBezTo>
                    <a:lnTo>
                      <a:pt x="0" y="23068"/>
                    </a:lnTo>
                    <a:cubicBezTo>
                      <a:pt x="0" y="10328"/>
                      <a:pt x="10328" y="0"/>
                      <a:pt x="2306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2" name="TextBox 32"/>
              <p:cNvSpPr txBox="1"/>
              <p:nvPr/>
            </p:nvSpPr>
            <p:spPr>
              <a:xfrm>
                <a:off x="0" y="-47625"/>
                <a:ext cx="1348765" cy="585536"/>
              </a:xfrm>
              <a:prstGeom prst="rect">
                <a:avLst/>
              </a:prstGeom>
            </p:spPr>
            <p:txBody>
              <a:bodyPr lIns="50800" tIns="50800" rIns="50800" bIns="50800" rtlCol="0" anchor="ctr"/>
              <a:lstStyle/>
              <a:p>
                <a:pPr algn="ctr">
                  <a:lnSpc>
                    <a:spcPts val="3220"/>
                  </a:lnSpc>
                </a:pPr>
                <a:endParaRPr/>
              </a:p>
            </p:txBody>
          </p:sp>
        </p:grpSp>
        <p:sp>
          <p:nvSpPr>
            <p:cNvPr id="33" name="TextBox 33"/>
            <p:cNvSpPr txBox="1"/>
            <p:nvPr/>
          </p:nvSpPr>
          <p:spPr>
            <a:xfrm>
              <a:off x="360887" y="789726"/>
              <a:ext cx="8018220" cy="2329392"/>
            </a:xfrm>
            <a:prstGeom prst="rect">
              <a:avLst/>
            </a:prstGeom>
          </p:spPr>
          <p:txBody>
            <a:bodyPr lIns="0" tIns="0" rIns="0" bIns="0" rtlCol="0" anchor="t">
              <a:spAutoFit/>
            </a:bodyPr>
            <a:lstStyle/>
            <a:p>
              <a:pPr algn="l">
                <a:lnSpc>
                  <a:spcPts val="2800"/>
                </a:lnSpc>
              </a:pPr>
              <a:r>
                <a:rPr lang="en-US" sz="2000">
                  <a:solidFill>
                    <a:srgbClr val="FFFFFF"/>
                  </a:solidFill>
                  <a:latin typeface="Inter"/>
                  <a:ea typeface="Inter"/>
                  <a:cs typeface="Inter"/>
                  <a:sym typeface="Inter"/>
                </a:rPr>
                <a:t>Su función principal es evaluar y mejorar el tiempo de reacción, la agilidad, la velocidad y la toma de decisiones.</a:t>
              </a:r>
            </a:p>
            <a:p>
              <a:pPr marL="431801" lvl="1" indent="-215900" algn="l">
                <a:lnSpc>
                  <a:spcPts val="2800"/>
                </a:lnSpc>
                <a:buFont typeface="Arial"/>
                <a:buChar char="•"/>
              </a:pPr>
              <a:r>
                <a:rPr lang="en-US" sz="2000">
                  <a:solidFill>
                    <a:srgbClr val="FFFFFF"/>
                  </a:solidFill>
                  <a:latin typeface="Inter"/>
                  <a:ea typeface="Inter"/>
                  <a:cs typeface="Inter"/>
                  <a:sym typeface="Inter"/>
                </a:rPr>
                <a:t>Su precio ronda entre USD 999 y USD 1,800.</a:t>
              </a:r>
            </a:p>
            <a:p>
              <a:pPr algn="l">
                <a:lnSpc>
                  <a:spcPts val="2800"/>
                </a:lnSpc>
              </a:pPr>
              <a:endParaRPr lang="en-US" sz="2000">
                <a:solidFill>
                  <a:srgbClr val="FFFFFF"/>
                </a:solidFill>
                <a:latin typeface="Inter"/>
                <a:ea typeface="Inter"/>
                <a:cs typeface="Inter"/>
                <a:sym typeface="Inter"/>
              </a:endParaRPr>
            </a:p>
          </p:txBody>
        </p:sp>
        <p:sp>
          <p:nvSpPr>
            <p:cNvPr id="34" name="TextBox 34"/>
            <p:cNvSpPr txBox="1"/>
            <p:nvPr/>
          </p:nvSpPr>
          <p:spPr>
            <a:xfrm>
              <a:off x="1022223" y="212051"/>
              <a:ext cx="6738734" cy="492125"/>
            </a:xfrm>
            <a:prstGeom prst="rect">
              <a:avLst/>
            </a:prstGeom>
          </p:spPr>
          <p:txBody>
            <a:bodyPr lIns="0" tIns="0" rIns="0" bIns="0" rtlCol="0" anchor="t">
              <a:spAutoFit/>
            </a:bodyPr>
            <a:lstStyle/>
            <a:p>
              <a:pPr algn="l">
                <a:lnSpc>
                  <a:spcPts val="2859"/>
                </a:lnSpc>
              </a:pPr>
              <a:r>
                <a:rPr lang="en-US" sz="2383">
                  <a:solidFill>
                    <a:srgbClr val="FFFFFF"/>
                  </a:solidFill>
                  <a:latin typeface="Alice Bold"/>
                  <a:ea typeface="Alice Bold"/>
                  <a:cs typeface="Alice Bold"/>
                  <a:sym typeface="Alice Bold"/>
                </a:rPr>
                <a:t>FITLIGHT Trainer </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227271">
            <a:off x="9277703" y="-1169654"/>
            <a:ext cx="2339308" cy="23393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93617">
            <a:off x="9808589" y="-67770"/>
            <a:ext cx="1277535" cy="127753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7403427" y="4417290"/>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3411600">
            <a:off x="-5001" y="9562060"/>
            <a:ext cx="608165" cy="6081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16984490" y="-1518820"/>
            <a:ext cx="2644809" cy="26448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4" name="Freeform 24"/>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25" name="Group 25"/>
          <p:cNvGrpSpPr/>
          <p:nvPr/>
        </p:nvGrpSpPr>
        <p:grpSpPr>
          <a:xfrm rot="-3411600">
            <a:off x="-1331536" y="702168"/>
            <a:ext cx="1980044" cy="19800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8" name="TextBox 28"/>
          <p:cNvSpPr txBox="1"/>
          <p:nvPr/>
        </p:nvSpPr>
        <p:spPr>
          <a:xfrm>
            <a:off x="-120277" y="322071"/>
            <a:ext cx="8401111"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Valor Agregado</a:t>
            </a:r>
          </a:p>
        </p:txBody>
      </p:sp>
      <p:grpSp>
        <p:nvGrpSpPr>
          <p:cNvPr id="29" name="Group 29"/>
          <p:cNvGrpSpPr/>
          <p:nvPr/>
        </p:nvGrpSpPr>
        <p:grpSpPr>
          <a:xfrm>
            <a:off x="719939" y="2260584"/>
            <a:ext cx="10383342" cy="6814386"/>
            <a:chOff x="0" y="0"/>
            <a:chExt cx="1848822" cy="1213346"/>
          </a:xfrm>
        </p:grpSpPr>
        <p:sp>
          <p:nvSpPr>
            <p:cNvPr id="30" name="Freeform 30"/>
            <p:cNvSpPr/>
            <p:nvPr/>
          </p:nvSpPr>
          <p:spPr>
            <a:xfrm>
              <a:off x="0" y="0"/>
              <a:ext cx="1848822" cy="1213346"/>
            </a:xfrm>
            <a:custGeom>
              <a:avLst/>
              <a:gdLst/>
              <a:ahLst/>
              <a:cxnLst/>
              <a:rect l="l" t="t" r="r" b="b"/>
              <a:pathLst>
                <a:path w="1848822" h="1213346">
                  <a:moveTo>
                    <a:pt x="14563" y="0"/>
                  </a:moveTo>
                  <a:lnTo>
                    <a:pt x="1834259" y="0"/>
                  </a:lnTo>
                  <a:cubicBezTo>
                    <a:pt x="1838121" y="0"/>
                    <a:pt x="1841826" y="1534"/>
                    <a:pt x="1844557" y="4265"/>
                  </a:cubicBezTo>
                  <a:cubicBezTo>
                    <a:pt x="1847288" y="6996"/>
                    <a:pt x="1848822" y="10700"/>
                    <a:pt x="1848822" y="14563"/>
                  </a:cubicBezTo>
                  <a:lnTo>
                    <a:pt x="1848822" y="1198783"/>
                  </a:lnTo>
                  <a:cubicBezTo>
                    <a:pt x="1848822" y="1206826"/>
                    <a:pt x="1842302" y="1213346"/>
                    <a:pt x="1834259" y="1213346"/>
                  </a:cubicBezTo>
                  <a:lnTo>
                    <a:pt x="14563" y="1213346"/>
                  </a:lnTo>
                  <a:cubicBezTo>
                    <a:pt x="6520" y="1213346"/>
                    <a:pt x="0" y="1206826"/>
                    <a:pt x="0" y="1198783"/>
                  </a:cubicBezTo>
                  <a:lnTo>
                    <a:pt x="0" y="14563"/>
                  </a:lnTo>
                  <a:cubicBezTo>
                    <a:pt x="0" y="6520"/>
                    <a:pt x="6520" y="0"/>
                    <a:pt x="14563"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1" name="TextBox 31"/>
            <p:cNvSpPr txBox="1"/>
            <p:nvPr/>
          </p:nvSpPr>
          <p:spPr>
            <a:xfrm>
              <a:off x="0" y="-47625"/>
              <a:ext cx="1848822" cy="1260971"/>
            </a:xfrm>
            <a:prstGeom prst="rect">
              <a:avLst/>
            </a:prstGeom>
          </p:spPr>
          <p:txBody>
            <a:bodyPr lIns="50800" tIns="50800" rIns="50800" bIns="50800" rtlCol="0" anchor="ctr"/>
            <a:lstStyle/>
            <a:p>
              <a:pPr algn="ctr">
                <a:lnSpc>
                  <a:spcPts val="3220"/>
                </a:lnSpc>
              </a:pPr>
              <a:endParaRPr/>
            </a:p>
          </p:txBody>
        </p:sp>
      </p:grpSp>
      <p:sp>
        <p:nvSpPr>
          <p:cNvPr id="32" name="TextBox 32"/>
          <p:cNvSpPr txBox="1"/>
          <p:nvPr/>
        </p:nvSpPr>
        <p:spPr>
          <a:xfrm>
            <a:off x="874319" y="2529336"/>
            <a:ext cx="10074581" cy="6101182"/>
          </a:xfrm>
          <a:prstGeom prst="rect">
            <a:avLst/>
          </a:prstGeom>
        </p:spPr>
        <p:txBody>
          <a:bodyPr lIns="0" tIns="0" rIns="0" bIns="0" rtlCol="0" anchor="t">
            <a:spAutoFit/>
          </a:bodyPr>
          <a:lstStyle/>
          <a:p>
            <a:pPr marL="497325" lvl="1" indent="-248663" algn="l">
              <a:lnSpc>
                <a:spcPts val="3224"/>
              </a:lnSpc>
              <a:buFont typeface="Arial"/>
              <a:buChar char="•"/>
            </a:pPr>
            <a:r>
              <a:rPr lang="en-US" sz="2303">
                <a:solidFill>
                  <a:srgbClr val="FFFFFF"/>
                </a:solidFill>
                <a:latin typeface="Inter"/>
                <a:ea typeface="Inter"/>
                <a:cs typeface="Inter"/>
                <a:sym typeface="Inter"/>
              </a:rPr>
              <a:t>Reducción de costos disruptiva: Su costo de fabricación es menor a USD 35, lo que representa un ahorro superior al 95 % frente a las alternativas tecnológicas actuales del mercado. </a:t>
            </a:r>
          </a:p>
          <a:p>
            <a:pPr algn="l">
              <a:lnSpc>
                <a:spcPts val="3224"/>
              </a:lnSpc>
            </a:pPr>
            <a:endParaRPr lang="en-US" sz="2303">
              <a:solidFill>
                <a:srgbClr val="FFFFFF"/>
              </a:solidFill>
              <a:latin typeface="Inter"/>
              <a:ea typeface="Inter"/>
              <a:cs typeface="Inter"/>
              <a:sym typeface="Inter"/>
            </a:endParaRPr>
          </a:p>
          <a:p>
            <a:pPr marL="497325" lvl="1" indent="-248663" algn="l">
              <a:lnSpc>
                <a:spcPts val="3224"/>
              </a:lnSpc>
              <a:buFont typeface="Arial"/>
              <a:buChar char="•"/>
            </a:pPr>
            <a:r>
              <a:rPr lang="en-US" sz="2303">
                <a:solidFill>
                  <a:srgbClr val="FFFFFF"/>
                </a:solidFill>
                <a:latin typeface="Inter"/>
                <a:ea typeface="Inter"/>
                <a:cs typeface="Inter"/>
                <a:sym typeface="Inter"/>
              </a:rPr>
              <a:t>Tele-rehabilitación 100 % portátil: Su diseño "wearable" y arquitectura en la nube permiten al paciente realizar terapias domiciliarias mientras el especialista monitorea en tiempo real. </a:t>
            </a:r>
          </a:p>
          <a:p>
            <a:pPr algn="l">
              <a:lnSpc>
                <a:spcPts val="3224"/>
              </a:lnSpc>
            </a:pPr>
            <a:endParaRPr lang="en-US" sz="2303">
              <a:solidFill>
                <a:srgbClr val="FFFFFF"/>
              </a:solidFill>
              <a:latin typeface="Inter"/>
              <a:ea typeface="Inter"/>
              <a:cs typeface="Inter"/>
              <a:sym typeface="Inter"/>
            </a:endParaRPr>
          </a:p>
          <a:p>
            <a:pPr marL="497325" lvl="1" indent="-248663" algn="l">
              <a:lnSpc>
                <a:spcPts val="3224"/>
              </a:lnSpc>
              <a:buFont typeface="Arial"/>
              <a:buChar char="•"/>
            </a:pPr>
            <a:r>
              <a:rPr lang="en-US" sz="2303">
                <a:solidFill>
                  <a:srgbClr val="FFFFFF"/>
                </a:solidFill>
                <a:latin typeface="Inter"/>
                <a:ea typeface="Inter"/>
                <a:cs typeface="Inter"/>
                <a:sym typeface="Inter"/>
              </a:rPr>
              <a:t>Métricas clínicas automatizadas: Proporciona datos objetivos continuos e inmediatos sobre la latencia motriz, precisión angular y tasa de temblor durante el protocolo Go/No-Go. </a:t>
            </a:r>
          </a:p>
          <a:p>
            <a:pPr algn="l">
              <a:lnSpc>
                <a:spcPts val="3224"/>
              </a:lnSpc>
            </a:pPr>
            <a:endParaRPr lang="en-US" sz="2303">
              <a:solidFill>
                <a:srgbClr val="FFFFFF"/>
              </a:solidFill>
              <a:latin typeface="Inter"/>
              <a:ea typeface="Inter"/>
              <a:cs typeface="Inter"/>
              <a:sym typeface="Inter"/>
            </a:endParaRPr>
          </a:p>
          <a:p>
            <a:pPr marL="497325" lvl="1" indent="-248663" algn="l">
              <a:lnSpc>
                <a:spcPts val="3224"/>
              </a:lnSpc>
              <a:buFont typeface="Arial"/>
              <a:buChar char="•"/>
            </a:pPr>
            <a:r>
              <a:rPr lang="en-US" sz="2303">
                <a:solidFill>
                  <a:srgbClr val="FFFFFF"/>
                </a:solidFill>
                <a:latin typeface="Inter"/>
                <a:ea typeface="Inter"/>
                <a:cs typeface="Inter"/>
                <a:sym typeface="Inter"/>
              </a:rPr>
              <a:t>Minimalismo de hardware: Al eliminar las pantallas físicas del dispositivo y delegar la interfaz a la web, se reducen los puntos de falla mecánica y se facilita el uso. </a:t>
            </a:r>
          </a:p>
        </p:txBody>
      </p:sp>
      <p:sp>
        <p:nvSpPr>
          <p:cNvPr id="33" name="Freeform 33"/>
          <p:cNvSpPr/>
          <p:nvPr/>
        </p:nvSpPr>
        <p:spPr>
          <a:xfrm>
            <a:off x="11526980" y="3182432"/>
            <a:ext cx="5732320" cy="4956431"/>
          </a:xfrm>
          <a:custGeom>
            <a:avLst/>
            <a:gdLst/>
            <a:ahLst/>
            <a:cxnLst/>
            <a:rect l="l" t="t" r="r" b="b"/>
            <a:pathLst>
              <a:path w="5732320" h="4956431">
                <a:moveTo>
                  <a:pt x="0" y="0"/>
                </a:moveTo>
                <a:lnTo>
                  <a:pt x="5732320" y="0"/>
                </a:lnTo>
                <a:lnTo>
                  <a:pt x="5732320" y="4956431"/>
                </a:lnTo>
                <a:lnTo>
                  <a:pt x="0" y="4956431"/>
                </a:lnTo>
                <a:lnTo>
                  <a:pt x="0" y="0"/>
                </a:lnTo>
                <a:close/>
              </a:path>
            </a:pathLst>
          </a:custGeom>
          <a:blipFill>
            <a:blip r:embed="rId3"/>
            <a:stretch>
              <a:fillRect l="-8025" t="-662" r="-8025"/>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227271">
            <a:off x="9277703" y="-1169654"/>
            <a:ext cx="2339308" cy="23393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93617">
            <a:off x="9808589" y="-67770"/>
            <a:ext cx="1277535" cy="127753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7403427" y="4417290"/>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3411600">
            <a:off x="-5001" y="9562060"/>
            <a:ext cx="608165" cy="6081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16984490" y="-1518820"/>
            <a:ext cx="2644809" cy="26448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4" name="Freeform 24"/>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25" name="Group 25"/>
          <p:cNvGrpSpPr/>
          <p:nvPr/>
        </p:nvGrpSpPr>
        <p:grpSpPr>
          <a:xfrm rot="-3411600">
            <a:off x="-1331536" y="702168"/>
            <a:ext cx="1980044" cy="19800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aphicFrame>
        <p:nvGraphicFramePr>
          <p:cNvPr id="28" name="Object 28"/>
          <p:cNvGraphicFramePr/>
          <p:nvPr>
            <p:extLst>
              <p:ext uri="{D42A27DB-BD31-4B8C-83A1-F6EECF244321}">
                <p14:modId xmlns:p14="http://schemas.microsoft.com/office/powerpoint/2010/main" val="1539073517"/>
              </p:ext>
            </p:extLst>
          </p:nvPr>
        </p:nvGraphicFramePr>
        <p:xfrm>
          <a:off x="1958975" y="1960563"/>
          <a:ext cx="10766425" cy="6764337"/>
        </p:xfrm>
        <a:graphic>
          <a:graphicData uri="http://schemas.openxmlformats.org/presentationml/2006/ole">
            <mc:AlternateContent xmlns:mc="http://schemas.openxmlformats.org/markup-compatibility/2006">
              <mc:Choice xmlns:v="urn:schemas-microsoft-com:vml" Requires="v">
                <p:oleObj name="Worksheet" r:id="rId3" imgW="9105900" imgH="5791200" progId="Excel.Sheet.12">
                  <p:embed/>
                </p:oleObj>
              </mc:Choice>
              <mc:Fallback>
                <p:oleObj name="Worksheet" r:id="rId3" imgW="9105900" imgH="5791200" progId="Excel.Sheet.12">
                  <p:embed/>
                  <p:pic>
                    <p:nvPicPr>
                      <p:cNvPr id="0" name=""/>
                      <p:cNvPicPr/>
                      <p:nvPr/>
                    </p:nvPicPr>
                    <p:blipFill>
                      <a:blip r:embed="rId4"/>
                      <a:stretch>
                        <a:fillRect/>
                      </a:stretch>
                    </p:blipFill>
                    <p:spPr>
                      <a:xfrm>
                        <a:off x="1958975" y="1960563"/>
                        <a:ext cx="10766425" cy="6764337"/>
                      </a:xfrm>
                      <a:prstGeom prst="rect">
                        <a:avLst/>
                      </a:prstGeom>
                    </p:spPr>
                  </p:pic>
                </p:oleObj>
              </mc:Fallback>
            </mc:AlternateContent>
          </a:graphicData>
        </a:graphic>
      </p:graphicFrame>
      <p:sp>
        <p:nvSpPr>
          <p:cNvPr id="29" name="TextBox 29"/>
          <p:cNvSpPr txBox="1"/>
          <p:nvPr/>
        </p:nvSpPr>
        <p:spPr>
          <a:xfrm>
            <a:off x="-120277" y="322071"/>
            <a:ext cx="8401111"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Tabla de precios</a:t>
            </a:r>
          </a:p>
        </p:txBody>
      </p:sp>
      <p:graphicFrame>
        <p:nvGraphicFramePr>
          <p:cNvPr id="31" name="Tabla 30">
            <a:extLst>
              <a:ext uri="{FF2B5EF4-FFF2-40B4-BE49-F238E27FC236}">
                <a16:creationId xmlns:a16="http://schemas.microsoft.com/office/drawing/2014/main" id="{10B68588-A7C0-03DA-67E1-D70432F9B79F}"/>
              </a:ext>
            </a:extLst>
          </p:cNvPr>
          <p:cNvGraphicFramePr>
            <a:graphicFrameLocks noGrp="1"/>
          </p:cNvGraphicFramePr>
          <p:nvPr>
            <p:extLst>
              <p:ext uri="{D42A27DB-BD31-4B8C-83A1-F6EECF244321}">
                <p14:modId xmlns:p14="http://schemas.microsoft.com/office/powerpoint/2010/main" val="3177843253"/>
              </p:ext>
            </p:extLst>
          </p:nvPr>
        </p:nvGraphicFramePr>
        <p:xfrm>
          <a:off x="2592438" y="1692190"/>
          <a:ext cx="10847670" cy="7124697"/>
        </p:xfrm>
        <a:graphic>
          <a:graphicData uri="http://schemas.openxmlformats.org/drawingml/2006/table">
            <a:tbl>
              <a:tblPr/>
              <a:tblGrid>
                <a:gridCol w="2169534">
                  <a:extLst>
                    <a:ext uri="{9D8B030D-6E8A-4147-A177-3AD203B41FA5}">
                      <a16:colId xmlns:a16="http://schemas.microsoft.com/office/drawing/2014/main" val="2125208610"/>
                    </a:ext>
                  </a:extLst>
                </a:gridCol>
                <a:gridCol w="2169534">
                  <a:extLst>
                    <a:ext uri="{9D8B030D-6E8A-4147-A177-3AD203B41FA5}">
                      <a16:colId xmlns:a16="http://schemas.microsoft.com/office/drawing/2014/main" val="4212356327"/>
                    </a:ext>
                  </a:extLst>
                </a:gridCol>
                <a:gridCol w="2169534">
                  <a:extLst>
                    <a:ext uri="{9D8B030D-6E8A-4147-A177-3AD203B41FA5}">
                      <a16:colId xmlns:a16="http://schemas.microsoft.com/office/drawing/2014/main" val="67192122"/>
                    </a:ext>
                  </a:extLst>
                </a:gridCol>
                <a:gridCol w="2169534">
                  <a:extLst>
                    <a:ext uri="{9D8B030D-6E8A-4147-A177-3AD203B41FA5}">
                      <a16:colId xmlns:a16="http://schemas.microsoft.com/office/drawing/2014/main" val="91637463"/>
                    </a:ext>
                  </a:extLst>
                </a:gridCol>
                <a:gridCol w="2169534">
                  <a:extLst>
                    <a:ext uri="{9D8B030D-6E8A-4147-A177-3AD203B41FA5}">
                      <a16:colId xmlns:a16="http://schemas.microsoft.com/office/drawing/2014/main" val="1309249874"/>
                    </a:ext>
                  </a:extLst>
                </a:gridCol>
              </a:tblGrid>
              <a:tr h="791633">
                <a:tc>
                  <a:txBody>
                    <a:bodyPr/>
                    <a:lstStyle/>
                    <a:p>
                      <a:pPr algn="ctr">
                        <a:buNone/>
                      </a:pPr>
                      <a:r>
                        <a:rPr lang="es-PE" sz="2400" b="1" dirty="0">
                          <a:effectLst/>
                        </a:rPr>
                        <a:t>Criterio</a:t>
                      </a:r>
                      <a:endParaRPr lang="es-PE" sz="2000" b="1" dirty="0">
                        <a:effectLst/>
                      </a:endParaRP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lgn="ctr">
                        <a:buNone/>
                      </a:pPr>
                      <a:r>
                        <a:rPr lang="es-PE" sz="2000" b="1">
                          <a:effectLst/>
                        </a:rPr>
                        <a:t>Dynavision D2</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lgn="ctr">
                        <a:buNone/>
                      </a:pPr>
                      <a:r>
                        <a:rPr lang="es-PE" sz="2000" b="1">
                          <a:effectLst/>
                        </a:rPr>
                        <a:t>FITLIGHT Trainer</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lgn="ctr">
                        <a:buNone/>
                      </a:pPr>
                      <a:r>
                        <a:rPr lang="es-PE" sz="2000" b="1">
                          <a:effectLst/>
                        </a:rPr>
                        <a:t>Guantes Robóticos</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lgn="ctr">
                        <a:buNone/>
                      </a:pPr>
                      <a:r>
                        <a:rPr lang="es-PE" sz="2000" b="1">
                          <a:effectLst/>
                        </a:rPr>
                        <a:t>ACV-Rehab (UNFV)</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extLst>
                  <a:ext uri="{0D108BD9-81ED-4DB2-BD59-A6C34878D82A}">
                    <a16:rowId xmlns:a16="http://schemas.microsoft.com/office/drawing/2014/main" val="2885679024"/>
                  </a:ext>
                </a:extLst>
              </a:tr>
              <a:tr h="791633">
                <a:tc>
                  <a:txBody>
                    <a:bodyPr/>
                    <a:lstStyle/>
                    <a:p>
                      <a:pPr algn="ctr">
                        <a:buNone/>
                      </a:pPr>
                      <a:r>
                        <a:rPr lang="es-PE" sz="2000" b="1" dirty="0">
                          <a:effectLst/>
                        </a:rPr>
                        <a:t>Costo estimado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USD 14,000–16,000</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USD 999–1,800</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USD 3,000–8,000</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&lt; USD 35</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841500464"/>
                  </a:ext>
                </a:extLst>
              </a:tr>
              <a:tr h="791633">
                <a:tc>
                  <a:txBody>
                    <a:bodyPr/>
                    <a:lstStyle/>
                    <a:p>
                      <a:pPr algn="ctr">
                        <a:buNone/>
                      </a:pPr>
                      <a:r>
                        <a:rPr lang="es-PE" sz="2000" b="1">
                          <a:effectLst/>
                        </a:rPr>
                        <a:t>Portabilidad</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Fija en pared</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Semi-portátil</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Limitada</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Wearable total</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1586345734"/>
                  </a:ext>
                </a:extLst>
              </a:tr>
              <a:tr h="791633">
                <a:tc>
                  <a:txBody>
                    <a:bodyPr/>
                    <a:lstStyle/>
                    <a:p>
                      <a:pPr algn="ctr">
                        <a:buNone/>
                      </a:pPr>
                      <a:r>
                        <a:rPr lang="es-PE" sz="2000" b="1">
                          <a:effectLst/>
                        </a:rPr>
                        <a:t>Tele-rehabilitación</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Parcial</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Sí (cloud)</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35260987"/>
                  </a:ext>
                </a:extLst>
              </a:tr>
              <a:tr h="791633">
                <a:tc>
                  <a:txBody>
                    <a:bodyPr/>
                    <a:lstStyle/>
                    <a:p>
                      <a:pPr algn="ctr">
                        <a:buNone/>
                      </a:pPr>
                      <a:r>
                        <a:rPr lang="es-PE" sz="2000" b="1">
                          <a:effectLst/>
                        </a:rPr>
                        <a:t>Métricas automatizadas</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Tiempo reacción</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Velocidad</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Presión / ROM</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Latencia, ángulo, temblor</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2822995230"/>
                  </a:ext>
                </a:extLst>
              </a:tr>
              <a:tr h="791633">
                <a:tc>
                  <a:txBody>
                    <a:bodyPr/>
                    <a:lstStyle/>
                    <a:p>
                      <a:pPr algn="ctr">
                        <a:buNone/>
                      </a:pPr>
                      <a:r>
                        <a:rPr lang="es-PE" sz="2000" b="1">
                          <a:effectLst/>
                        </a:rPr>
                        <a:t>Pantalla física requerida</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Sí</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Sí (LEDs)</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Sí</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 (web)</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2094364047"/>
                  </a:ext>
                </a:extLst>
              </a:tr>
              <a:tr h="791633">
                <a:tc>
                  <a:txBody>
                    <a:bodyPr/>
                    <a:lstStyle/>
                    <a:p>
                      <a:pPr algn="ctr">
                        <a:buNone/>
                      </a:pPr>
                      <a:r>
                        <a:rPr lang="es-PE" sz="2000" b="1">
                          <a:effectLst/>
                        </a:rPr>
                        <a:t>Protocolo Go/No-Go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Parcial</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Nativo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4166193565"/>
                  </a:ext>
                </a:extLst>
              </a:tr>
              <a:tr h="791633">
                <a:tc>
                  <a:txBody>
                    <a:bodyPr/>
                    <a:lstStyle/>
                    <a:p>
                      <a:pPr algn="ctr">
                        <a:buNone/>
                      </a:pPr>
                      <a:r>
                        <a:rPr lang="es-PE" sz="2000" b="1">
                          <a:effectLst/>
                        </a:rPr>
                        <a:t>Almacenamiento cloud</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Opcional (pago)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No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Supabase (gratuito)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2691951086"/>
                  </a:ext>
                </a:extLst>
              </a:tr>
              <a:tr h="791633">
                <a:tc>
                  <a:txBody>
                    <a:bodyPr/>
                    <a:lstStyle/>
                    <a:p>
                      <a:pPr algn="ctr">
                        <a:buNone/>
                      </a:pPr>
                      <a:r>
                        <a:rPr lang="es-PE" sz="2000" b="1">
                          <a:effectLst/>
                        </a:rPr>
                        <a:t>Frecuencia de muestreo</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Variable</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Variable</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a:effectLst/>
                        </a:rPr>
                        <a:t>Variable</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lgn="ctr">
                        <a:buNone/>
                      </a:pPr>
                      <a:r>
                        <a:rPr lang="es-PE" sz="2000" dirty="0">
                          <a:effectLst/>
                        </a:rPr>
                        <a:t>20 Hz constante</a:t>
                      </a:r>
                    </a:p>
                  </a:txBody>
                  <a:tcPr marL="53787" marR="53787" marT="26894" marB="26894"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E8F5E9"/>
                    </a:solidFill>
                  </a:tcPr>
                </a:tc>
                <a:extLst>
                  <a:ext uri="{0D108BD9-81ED-4DB2-BD59-A6C34878D82A}">
                    <a16:rowId xmlns:a16="http://schemas.microsoft.com/office/drawing/2014/main" val="198132163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3411600">
            <a:off x="16690242" y="-1316573"/>
            <a:ext cx="2644809" cy="264480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227271">
            <a:off x="7960702" y="-1068145"/>
            <a:ext cx="2339308" cy="23393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493617">
            <a:off x="9152564" y="286237"/>
            <a:ext cx="1277535" cy="127753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11" name="Freeform 11"/>
          <p:cNvSpPr/>
          <p:nvPr/>
        </p:nvSpPr>
        <p:spPr>
          <a:xfrm>
            <a:off x="15551864" y="9538294"/>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6325909" y="2812113"/>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519632" y="-2777046"/>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rot="-3411600">
            <a:off x="17807808" y="6301828"/>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a:off x="353006" y="1580928"/>
            <a:ext cx="7393592" cy="2067760"/>
            <a:chOff x="0" y="0"/>
            <a:chExt cx="9858123" cy="2757014"/>
          </a:xfrm>
        </p:grpSpPr>
        <p:grpSp>
          <p:nvGrpSpPr>
            <p:cNvPr id="18" name="Group 18"/>
            <p:cNvGrpSpPr/>
            <p:nvPr/>
          </p:nvGrpSpPr>
          <p:grpSpPr>
            <a:xfrm>
              <a:off x="0" y="0"/>
              <a:ext cx="9491140" cy="2757014"/>
              <a:chOff x="0" y="0"/>
              <a:chExt cx="1736219" cy="504342"/>
            </a:xfrm>
          </p:grpSpPr>
          <p:sp>
            <p:nvSpPr>
              <p:cNvPr id="19" name="Freeform 19"/>
              <p:cNvSpPr/>
              <p:nvPr/>
            </p:nvSpPr>
            <p:spPr>
              <a:xfrm>
                <a:off x="0" y="0"/>
                <a:ext cx="1736219" cy="504342"/>
              </a:xfrm>
              <a:custGeom>
                <a:avLst/>
                <a:gdLst/>
                <a:ahLst/>
                <a:cxnLst/>
                <a:rect l="l" t="t" r="r" b="b"/>
                <a:pathLst>
                  <a:path w="1736219" h="504342">
                    <a:moveTo>
                      <a:pt x="21242" y="0"/>
                    </a:moveTo>
                    <a:lnTo>
                      <a:pt x="1714977" y="0"/>
                    </a:lnTo>
                    <a:cubicBezTo>
                      <a:pt x="1726709" y="0"/>
                      <a:pt x="1736219" y="9510"/>
                      <a:pt x="1736219" y="21242"/>
                    </a:cubicBezTo>
                    <a:lnTo>
                      <a:pt x="1736219" y="483100"/>
                    </a:lnTo>
                    <a:cubicBezTo>
                      <a:pt x="1736219" y="494831"/>
                      <a:pt x="1726709" y="504342"/>
                      <a:pt x="1714977" y="504342"/>
                    </a:cubicBezTo>
                    <a:lnTo>
                      <a:pt x="21242" y="504342"/>
                    </a:lnTo>
                    <a:cubicBezTo>
                      <a:pt x="15608" y="504342"/>
                      <a:pt x="10205" y="502104"/>
                      <a:pt x="6222" y="498120"/>
                    </a:cubicBezTo>
                    <a:cubicBezTo>
                      <a:pt x="2238" y="494137"/>
                      <a:pt x="0" y="488734"/>
                      <a:pt x="0" y="483100"/>
                    </a:cubicBezTo>
                    <a:lnTo>
                      <a:pt x="0" y="21242"/>
                    </a:lnTo>
                    <a:cubicBezTo>
                      <a:pt x="0" y="15608"/>
                      <a:pt x="2238" y="10205"/>
                      <a:pt x="6222" y="6222"/>
                    </a:cubicBezTo>
                    <a:cubicBezTo>
                      <a:pt x="10205" y="2238"/>
                      <a:pt x="15608" y="0"/>
                      <a:pt x="21242"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0" name="TextBox 20"/>
              <p:cNvSpPr txBox="1"/>
              <p:nvPr/>
            </p:nvSpPr>
            <p:spPr>
              <a:xfrm>
                <a:off x="0" y="-47625"/>
                <a:ext cx="1736219" cy="551967"/>
              </a:xfrm>
              <a:prstGeom prst="rect">
                <a:avLst/>
              </a:prstGeom>
            </p:spPr>
            <p:txBody>
              <a:bodyPr lIns="50800" tIns="50800" rIns="50800" bIns="50800" rtlCol="0" anchor="ctr"/>
              <a:lstStyle/>
              <a:p>
                <a:pPr algn="ctr">
                  <a:lnSpc>
                    <a:spcPts val="3220"/>
                  </a:lnSpc>
                </a:pPr>
                <a:endParaRPr/>
              </a:p>
            </p:txBody>
          </p:sp>
        </p:grpSp>
        <p:sp>
          <p:nvSpPr>
            <p:cNvPr id="21" name="TextBox 21"/>
            <p:cNvSpPr txBox="1"/>
            <p:nvPr/>
          </p:nvSpPr>
          <p:spPr>
            <a:xfrm>
              <a:off x="521689" y="368300"/>
              <a:ext cx="9336434" cy="2011993"/>
            </a:xfrm>
            <a:prstGeom prst="rect">
              <a:avLst/>
            </a:prstGeom>
          </p:spPr>
          <p:txBody>
            <a:bodyPr lIns="0" tIns="0" rIns="0" bIns="0" rtlCol="0" anchor="t">
              <a:spAutoFit/>
            </a:bodyPr>
            <a:lstStyle/>
            <a:p>
              <a:pPr algn="l">
                <a:lnSpc>
                  <a:spcPts val="2402"/>
                </a:lnSpc>
                <a:spcBef>
                  <a:spcPct val="0"/>
                </a:spcBef>
              </a:pPr>
              <a:r>
                <a:rPr lang="en-US" sz="1715">
                  <a:solidFill>
                    <a:srgbClr val="FFFFFF"/>
                  </a:solidFill>
                  <a:latin typeface="Inter"/>
                  <a:ea typeface="Inter"/>
                  <a:cs typeface="Inter"/>
                  <a:sym typeface="Inter"/>
                </a:rPr>
                <a:t>La rehabilitación de pacientes con secuelas de Accidente Cerebrovascular (ACV) requiere herramientas accesibles que permitan un seguimiento objetivo del progreso. Sin embargo, muchas terapias actuales dependen de evaluaciones manuales y equipos especializados de alto costo. </a:t>
              </a:r>
            </a:p>
          </p:txBody>
        </p:sp>
        <p:grpSp>
          <p:nvGrpSpPr>
            <p:cNvPr id="22" name="Group 22"/>
            <p:cNvGrpSpPr/>
            <p:nvPr/>
          </p:nvGrpSpPr>
          <p:grpSpPr>
            <a:xfrm>
              <a:off x="44169" y="401239"/>
              <a:ext cx="477520" cy="47752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grpSp>
        <p:nvGrpSpPr>
          <p:cNvPr id="25" name="Group 25"/>
          <p:cNvGrpSpPr/>
          <p:nvPr/>
        </p:nvGrpSpPr>
        <p:grpSpPr>
          <a:xfrm>
            <a:off x="9612598" y="2243174"/>
            <a:ext cx="7496646" cy="2370393"/>
            <a:chOff x="0" y="0"/>
            <a:chExt cx="1828487" cy="578156"/>
          </a:xfrm>
        </p:grpSpPr>
        <p:sp>
          <p:nvSpPr>
            <p:cNvPr id="26" name="Freeform 26"/>
            <p:cNvSpPr/>
            <p:nvPr/>
          </p:nvSpPr>
          <p:spPr>
            <a:xfrm>
              <a:off x="0" y="0"/>
              <a:ext cx="1828487" cy="578156"/>
            </a:xfrm>
            <a:custGeom>
              <a:avLst/>
              <a:gdLst/>
              <a:ahLst/>
              <a:cxnLst/>
              <a:rect l="l" t="t" r="r" b="b"/>
              <a:pathLst>
                <a:path w="1828487" h="578156">
                  <a:moveTo>
                    <a:pt x="20170" y="0"/>
                  </a:moveTo>
                  <a:lnTo>
                    <a:pt x="1808317" y="0"/>
                  </a:lnTo>
                  <a:cubicBezTo>
                    <a:pt x="1813666" y="0"/>
                    <a:pt x="1818797" y="2125"/>
                    <a:pt x="1822579" y="5908"/>
                  </a:cubicBezTo>
                  <a:cubicBezTo>
                    <a:pt x="1826362" y="9690"/>
                    <a:pt x="1828487" y="14821"/>
                    <a:pt x="1828487" y="20170"/>
                  </a:cubicBezTo>
                  <a:lnTo>
                    <a:pt x="1828487" y="557986"/>
                  </a:lnTo>
                  <a:cubicBezTo>
                    <a:pt x="1828487" y="569126"/>
                    <a:pt x="1819457" y="578156"/>
                    <a:pt x="1808317" y="578156"/>
                  </a:cubicBezTo>
                  <a:lnTo>
                    <a:pt x="20170" y="578156"/>
                  </a:lnTo>
                  <a:cubicBezTo>
                    <a:pt x="9031" y="578156"/>
                    <a:pt x="0" y="569126"/>
                    <a:pt x="0" y="557986"/>
                  </a:cubicBezTo>
                  <a:lnTo>
                    <a:pt x="0" y="20170"/>
                  </a:lnTo>
                  <a:cubicBezTo>
                    <a:pt x="0" y="9031"/>
                    <a:pt x="9031" y="0"/>
                    <a:pt x="20170"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7" name="TextBox 27"/>
            <p:cNvSpPr txBox="1"/>
            <p:nvPr/>
          </p:nvSpPr>
          <p:spPr>
            <a:xfrm>
              <a:off x="0" y="-47625"/>
              <a:ext cx="1828487" cy="625781"/>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387216" y="4077028"/>
            <a:ext cx="358140" cy="35814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1" name="Freeform 31"/>
          <p:cNvSpPr/>
          <p:nvPr/>
        </p:nvSpPr>
        <p:spPr>
          <a:xfrm>
            <a:off x="1400147" y="4613567"/>
            <a:ext cx="5299309" cy="3922136"/>
          </a:xfrm>
          <a:custGeom>
            <a:avLst/>
            <a:gdLst/>
            <a:ahLst/>
            <a:cxnLst/>
            <a:rect l="l" t="t" r="r" b="b"/>
            <a:pathLst>
              <a:path w="5299309" h="3922136">
                <a:moveTo>
                  <a:pt x="0" y="0"/>
                </a:moveTo>
                <a:lnTo>
                  <a:pt x="5299309" y="0"/>
                </a:lnTo>
                <a:lnTo>
                  <a:pt x="5299309" y="3922136"/>
                </a:lnTo>
                <a:lnTo>
                  <a:pt x="0" y="3922136"/>
                </a:lnTo>
                <a:lnTo>
                  <a:pt x="0" y="0"/>
                </a:lnTo>
                <a:close/>
              </a:path>
            </a:pathLst>
          </a:custGeom>
          <a:blipFill>
            <a:blip r:embed="rId4"/>
            <a:stretch>
              <a:fillRect t="-667" b="-667"/>
            </a:stretch>
          </a:blipFill>
        </p:spPr>
      </p:sp>
      <p:sp>
        <p:nvSpPr>
          <p:cNvPr id="32" name="TextBox 32"/>
          <p:cNvSpPr txBox="1"/>
          <p:nvPr/>
        </p:nvSpPr>
        <p:spPr>
          <a:xfrm>
            <a:off x="886750" y="363174"/>
            <a:ext cx="6043779"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Justificacion</a:t>
            </a:r>
          </a:p>
        </p:txBody>
      </p:sp>
      <p:sp>
        <p:nvSpPr>
          <p:cNvPr id="33" name="TextBox 33"/>
          <p:cNvSpPr txBox="1"/>
          <p:nvPr/>
        </p:nvSpPr>
        <p:spPr>
          <a:xfrm>
            <a:off x="9800462" y="2414141"/>
            <a:ext cx="7001242" cy="1757045"/>
          </a:xfrm>
          <a:prstGeom prst="rect">
            <a:avLst/>
          </a:prstGeom>
        </p:spPr>
        <p:txBody>
          <a:bodyPr lIns="0" tIns="0" rIns="0" bIns="0" rtlCol="0" anchor="t">
            <a:spAutoFit/>
          </a:bodyPr>
          <a:lstStyle/>
          <a:p>
            <a:pPr algn="ctr">
              <a:lnSpc>
                <a:spcPts val="2380"/>
              </a:lnSpc>
              <a:spcBef>
                <a:spcPct val="0"/>
              </a:spcBef>
            </a:pPr>
            <a:r>
              <a:rPr lang="en-US" sz="1700">
                <a:solidFill>
                  <a:srgbClr val="FFFFFF"/>
                </a:solidFill>
                <a:latin typeface="Inter"/>
                <a:ea typeface="Inter"/>
                <a:cs typeface="Inter"/>
                <a:sym typeface="Inter"/>
              </a:rPr>
              <a:t>el sector global de tecnología para rehabilitación neurológica se proyecta a superar los USD 2,200 millones para 2027 impulsado por el envejecimiento poblacional y la creciente demanda de soluciones de atención médica remota. La propuesta de valor del presente sistema es altamente disruptiva al ofrecer una reducción de costos entre 35 a 40 dolares</a:t>
            </a:r>
          </a:p>
        </p:txBody>
      </p:sp>
      <p:sp>
        <p:nvSpPr>
          <p:cNvPr id="34" name="TextBox 34"/>
          <p:cNvSpPr txBox="1"/>
          <p:nvPr/>
        </p:nvSpPr>
        <p:spPr>
          <a:xfrm>
            <a:off x="10357278" y="1039210"/>
            <a:ext cx="5011092" cy="1021717"/>
          </a:xfrm>
          <a:prstGeom prst="rect">
            <a:avLst/>
          </a:prstGeom>
        </p:spPr>
        <p:txBody>
          <a:bodyPr lIns="0" tIns="0" rIns="0" bIns="0" rtlCol="0" anchor="t">
            <a:spAutoFit/>
          </a:bodyPr>
          <a:lstStyle/>
          <a:p>
            <a:pPr algn="ctr">
              <a:lnSpc>
                <a:spcPts val="8259"/>
              </a:lnSpc>
              <a:spcBef>
                <a:spcPct val="0"/>
              </a:spcBef>
            </a:pPr>
            <a:r>
              <a:rPr lang="en-US" sz="5899" b="1">
                <a:solidFill>
                  <a:srgbClr val="000000"/>
                </a:solidFill>
                <a:latin typeface="Stinger Fit Bold"/>
                <a:ea typeface="Stinger Fit Bold"/>
                <a:cs typeface="Stinger Fit Bold"/>
                <a:sym typeface="Stinger Fit Bold"/>
              </a:rPr>
              <a:t>Comercial</a:t>
            </a:r>
          </a:p>
        </p:txBody>
      </p:sp>
      <p:grpSp>
        <p:nvGrpSpPr>
          <p:cNvPr id="35" name="Group 35"/>
          <p:cNvGrpSpPr/>
          <p:nvPr/>
        </p:nvGrpSpPr>
        <p:grpSpPr>
          <a:xfrm>
            <a:off x="9800462" y="6608106"/>
            <a:ext cx="7496646" cy="2370393"/>
            <a:chOff x="0" y="0"/>
            <a:chExt cx="1828487" cy="578156"/>
          </a:xfrm>
        </p:grpSpPr>
        <p:sp>
          <p:nvSpPr>
            <p:cNvPr id="36" name="Freeform 36"/>
            <p:cNvSpPr/>
            <p:nvPr/>
          </p:nvSpPr>
          <p:spPr>
            <a:xfrm>
              <a:off x="0" y="0"/>
              <a:ext cx="1828487" cy="578156"/>
            </a:xfrm>
            <a:custGeom>
              <a:avLst/>
              <a:gdLst/>
              <a:ahLst/>
              <a:cxnLst/>
              <a:rect l="l" t="t" r="r" b="b"/>
              <a:pathLst>
                <a:path w="1828487" h="578156">
                  <a:moveTo>
                    <a:pt x="20170" y="0"/>
                  </a:moveTo>
                  <a:lnTo>
                    <a:pt x="1808317" y="0"/>
                  </a:lnTo>
                  <a:cubicBezTo>
                    <a:pt x="1813666" y="0"/>
                    <a:pt x="1818797" y="2125"/>
                    <a:pt x="1822579" y="5908"/>
                  </a:cubicBezTo>
                  <a:cubicBezTo>
                    <a:pt x="1826362" y="9690"/>
                    <a:pt x="1828487" y="14821"/>
                    <a:pt x="1828487" y="20170"/>
                  </a:cubicBezTo>
                  <a:lnTo>
                    <a:pt x="1828487" y="557986"/>
                  </a:lnTo>
                  <a:cubicBezTo>
                    <a:pt x="1828487" y="569126"/>
                    <a:pt x="1819457" y="578156"/>
                    <a:pt x="1808317" y="578156"/>
                  </a:cubicBezTo>
                  <a:lnTo>
                    <a:pt x="20170" y="578156"/>
                  </a:lnTo>
                  <a:cubicBezTo>
                    <a:pt x="9031" y="578156"/>
                    <a:pt x="0" y="569126"/>
                    <a:pt x="0" y="557986"/>
                  </a:cubicBezTo>
                  <a:lnTo>
                    <a:pt x="0" y="20170"/>
                  </a:lnTo>
                  <a:cubicBezTo>
                    <a:pt x="0" y="9031"/>
                    <a:pt x="9031" y="0"/>
                    <a:pt x="20170"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7" name="TextBox 37"/>
            <p:cNvSpPr txBox="1"/>
            <p:nvPr/>
          </p:nvSpPr>
          <p:spPr>
            <a:xfrm>
              <a:off x="0" y="-47625"/>
              <a:ext cx="1828487" cy="625781"/>
            </a:xfrm>
            <a:prstGeom prst="rect">
              <a:avLst/>
            </a:prstGeom>
          </p:spPr>
          <p:txBody>
            <a:bodyPr lIns="50800" tIns="50800" rIns="50800" bIns="50800" rtlCol="0" anchor="ctr"/>
            <a:lstStyle/>
            <a:p>
              <a:pPr algn="ctr">
                <a:lnSpc>
                  <a:spcPts val="3220"/>
                </a:lnSpc>
              </a:pPr>
              <a:endParaRPr/>
            </a:p>
          </p:txBody>
        </p:sp>
      </p:grpSp>
      <p:sp>
        <p:nvSpPr>
          <p:cNvPr id="38" name="TextBox 38"/>
          <p:cNvSpPr txBox="1"/>
          <p:nvPr/>
        </p:nvSpPr>
        <p:spPr>
          <a:xfrm>
            <a:off x="9988326" y="6779073"/>
            <a:ext cx="7001242" cy="1757045"/>
          </a:xfrm>
          <a:prstGeom prst="rect">
            <a:avLst/>
          </a:prstGeom>
        </p:spPr>
        <p:txBody>
          <a:bodyPr lIns="0" tIns="0" rIns="0" bIns="0" rtlCol="0" anchor="t">
            <a:spAutoFit/>
          </a:bodyPr>
          <a:lstStyle/>
          <a:p>
            <a:pPr algn="ctr">
              <a:lnSpc>
                <a:spcPts val="2380"/>
              </a:lnSpc>
              <a:spcBef>
                <a:spcPct val="0"/>
              </a:spcBef>
            </a:pPr>
            <a:r>
              <a:rPr lang="en-US" sz="1700">
                <a:solidFill>
                  <a:srgbClr val="FFFFFF"/>
                </a:solidFill>
                <a:latin typeface="Inter"/>
                <a:ea typeface="Inter"/>
                <a:cs typeface="Inter"/>
                <a:sym typeface="Inter"/>
              </a:rPr>
              <a:t>Nuestra plataforma conecta smartphones y laptops mediante WebSockets para entrenar y monitorear terapias GO/NO-GO en tiempo real. Gracias a un acceso simple por PIN de 6 dígitos, eliminamos la brecha digital en adultos mayores post-ACV. Es una solución económica, precisa y accesible, ideal para el mercado de salud público (ESSALUD/MINSA) y privado en Latinoamérica.</a:t>
            </a:r>
          </a:p>
        </p:txBody>
      </p:sp>
      <p:sp>
        <p:nvSpPr>
          <p:cNvPr id="39" name="TextBox 39"/>
          <p:cNvSpPr txBox="1"/>
          <p:nvPr/>
        </p:nvSpPr>
        <p:spPr>
          <a:xfrm>
            <a:off x="10545142" y="5404142"/>
            <a:ext cx="5011092" cy="1021717"/>
          </a:xfrm>
          <a:prstGeom prst="rect">
            <a:avLst/>
          </a:prstGeom>
        </p:spPr>
        <p:txBody>
          <a:bodyPr lIns="0" tIns="0" rIns="0" bIns="0" rtlCol="0" anchor="t">
            <a:spAutoFit/>
          </a:bodyPr>
          <a:lstStyle/>
          <a:p>
            <a:pPr algn="ctr">
              <a:lnSpc>
                <a:spcPts val="8259"/>
              </a:lnSpc>
              <a:spcBef>
                <a:spcPct val="0"/>
              </a:spcBef>
            </a:pPr>
            <a:r>
              <a:rPr lang="en-US" sz="5899" b="1">
                <a:solidFill>
                  <a:srgbClr val="000000"/>
                </a:solidFill>
                <a:latin typeface="Stinger Fit Bold"/>
                <a:ea typeface="Stinger Fit Bold"/>
                <a:cs typeface="Stinger Fit Bold"/>
                <a:sym typeface="Stinger Fit Bold"/>
              </a:rPr>
              <a:t>Clínica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3411600">
            <a:off x="16690242" y="-1316573"/>
            <a:ext cx="2644809" cy="264480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227271">
            <a:off x="7960702" y="-1068145"/>
            <a:ext cx="2339308" cy="233930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493617">
            <a:off x="9152564" y="286237"/>
            <a:ext cx="1277535" cy="127753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11" name="Freeform 11"/>
          <p:cNvSpPr/>
          <p:nvPr/>
        </p:nvSpPr>
        <p:spPr>
          <a:xfrm>
            <a:off x="15551864" y="9538294"/>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6325909" y="2812113"/>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13" name="Freeform 13"/>
          <p:cNvSpPr/>
          <p:nvPr/>
        </p:nvSpPr>
        <p:spPr>
          <a:xfrm>
            <a:off x="11519632" y="-2777046"/>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rot="-3411600">
            <a:off x="17807808" y="6301828"/>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a:off x="386133" y="1881857"/>
            <a:ext cx="358140" cy="35814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a:off x="387216" y="4077028"/>
            <a:ext cx="358140" cy="35814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TextBox 23"/>
          <p:cNvSpPr txBox="1"/>
          <p:nvPr/>
        </p:nvSpPr>
        <p:spPr>
          <a:xfrm>
            <a:off x="1884038" y="4147015"/>
            <a:ext cx="4276345"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Objetivos</a:t>
            </a:r>
          </a:p>
        </p:txBody>
      </p:sp>
      <p:sp>
        <p:nvSpPr>
          <p:cNvPr id="24" name="TextBox 24"/>
          <p:cNvSpPr txBox="1"/>
          <p:nvPr/>
        </p:nvSpPr>
        <p:spPr>
          <a:xfrm>
            <a:off x="1028700" y="5680167"/>
            <a:ext cx="6276347" cy="2127213"/>
          </a:xfrm>
          <a:prstGeom prst="rect">
            <a:avLst/>
          </a:prstGeom>
        </p:spPr>
        <p:txBody>
          <a:bodyPr lIns="0" tIns="0" rIns="0" bIns="0" rtlCol="0" anchor="t">
            <a:spAutoFit/>
          </a:bodyPr>
          <a:lstStyle/>
          <a:p>
            <a:pPr algn="ctr">
              <a:lnSpc>
                <a:spcPts val="2452"/>
              </a:lnSpc>
              <a:spcBef>
                <a:spcPct val="0"/>
              </a:spcBef>
            </a:pPr>
            <a:r>
              <a:rPr lang="en-US" sz="1751" b="1">
                <a:solidFill>
                  <a:srgbClr val="000000"/>
                </a:solidFill>
                <a:latin typeface="Inter Bold"/>
                <a:ea typeface="Inter Bold"/>
                <a:cs typeface="Inter Bold"/>
                <a:sym typeface="Inter Bold"/>
              </a:rPr>
              <a:t>Desarrollar una plataforma IoT e inalámbrica de neurorrehabilitación para pacientes post-ACV, que permita ejecutar el protocolo Go/No-Go de forma remota. El sistema captura la telemetría inercial de la muñeca en tiempo real y almacena las métricas clínicas en la nube, ofreciendo al especialista una herramienta objetiva, portátil y de bajo costo para el seguimiento evolutivo.</a:t>
            </a:r>
          </a:p>
        </p:txBody>
      </p:sp>
      <p:grpSp>
        <p:nvGrpSpPr>
          <p:cNvPr id="25" name="Group 25"/>
          <p:cNvGrpSpPr/>
          <p:nvPr/>
        </p:nvGrpSpPr>
        <p:grpSpPr>
          <a:xfrm>
            <a:off x="9425985" y="1435421"/>
            <a:ext cx="7426378" cy="2305995"/>
            <a:chOff x="0" y="0"/>
            <a:chExt cx="9901838" cy="3074659"/>
          </a:xfrm>
        </p:grpSpPr>
        <p:grpSp>
          <p:nvGrpSpPr>
            <p:cNvPr id="26" name="Group 26"/>
            <p:cNvGrpSpPr/>
            <p:nvPr/>
          </p:nvGrpSpPr>
          <p:grpSpPr>
            <a:xfrm>
              <a:off x="0" y="0"/>
              <a:ext cx="9901838" cy="3074659"/>
              <a:chOff x="0" y="0"/>
              <a:chExt cx="1506198" cy="467696"/>
            </a:xfrm>
          </p:grpSpPr>
          <p:sp>
            <p:nvSpPr>
              <p:cNvPr id="27" name="Freeform 27"/>
              <p:cNvSpPr/>
              <p:nvPr/>
            </p:nvSpPr>
            <p:spPr>
              <a:xfrm>
                <a:off x="0" y="0"/>
                <a:ext cx="1506198" cy="467696"/>
              </a:xfrm>
              <a:custGeom>
                <a:avLst/>
                <a:gdLst/>
                <a:ahLst/>
                <a:cxnLst/>
                <a:rect l="l" t="t" r="r" b="b"/>
                <a:pathLst>
                  <a:path w="1506198" h="467696">
                    <a:moveTo>
                      <a:pt x="20361" y="0"/>
                    </a:moveTo>
                    <a:lnTo>
                      <a:pt x="1485837" y="0"/>
                    </a:lnTo>
                    <a:cubicBezTo>
                      <a:pt x="1491237" y="0"/>
                      <a:pt x="1496416" y="2145"/>
                      <a:pt x="1500234" y="5964"/>
                    </a:cubicBezTo>
                    <a:cubicBezTo>
                      <a:pt x="1504053" y="9782"/>
                      <a:pt x="1506198" y="14961"/>
                      <a:pt x="1506198" y="20361"/>
                    </a:cubicBezTo>
                    <a:lnTo>
                      <a:pt x="1506198" y="447334"/>
                    </a:lnTo>
                    <a:cubicBezTo>
                      <a:pt x="1506198" y="452735"/>
                      <a:pt x="1504053" y="457913"/>
                      <a:pt x="1500234" y="461732"/>
                    </a:cubicBezTo>
                    <a:cubicBezTo>
                      <a:pt x="1496416" y="465550"/>
                      <a:pt x="1491237" y="467696"/>
                      <a:pt x="1485837" y="467696"/>
                    </a:cubicBezTo>
                    <a:lnTo>
                      <a:pt x="20361" y="467696"/>
                    </a:lnTo>
                    <a:cubicBezTo>
                      <a:pt x="14961" y="467696"/>
                      <a:pt x="9782" y="465550"/>
                      <a:pt x="5964" y="461732"/>
                    </a:cubicBezTo>
                    <a:cubicBezTo>
                      <a:pt x="2145" y="457913"/>
                      <a:pt x="0" y="452735"/>
                      <a:pt x="0" y="447334"/>
                    </a:cubicBezTo>
                    <a:lnTo>
                      <a:pt x="0" y="20361"/>
                    </a:lnTo>
                    <a:cubicBezTo>
                      <a:pt x="0" y="14961"/>
                      <a:pt x="2145" y="9782"/>
                      <a:pt x="5964" y="5964"/>
                    </a:cubicBezTo>
                    <a:cubicBezTo>
                      <a:pt x="9782" y="2145"/>
                      <a:pt x="14961" y="0"/>
                      <a:pt x="20361"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8" name="TextBox 28"/>
              <p:cNvSpPr txBox="1"/>
              <p:nvPr/>
            </p:nvSpPr>
            <p:spPr>
              <a:xfrm>
                <a:off x="0" y="-47625"/>
                <a:ext cx="1506198" cy="515321"/>
              </a:xfrm>
              <a:prstGeom prst="rect">
                <a:avLst/>
              </a:prstGeom>
            </p:spPr>
            <p:txBody>
              <a:bodyPr lIns="50800" tIns="50800" rIns="50800" bIns="50800" rtlCol="0" anchor="ctr"/>
              <a:lstStyle/>
              <a:p>
                <a:pPr algn="ctr">
                  <a:lnSpc>
                    <a:spcPts val="3220"/>
                  </a:lnSpc>
                </a:pPr>
                <a:endParaRPr/>
              </a:p>
            </p:txBody>
          </p:sp>
        </p:grpSp>
        <p:sp>
          <p:nvSpPr>
            <p:cNvPr id="29" name="TextBox 29"/>
            <p:cNvSpPr txBox="1"/>
            <p:nvPr/>
          </p:nvSpPr>
          <p:spPr>
            <a:xfrm>
              <a:off x="448670" y="230613"/>
              <a:ext cx="9382605" cy="2491440"/>
            </a:xfrm>
            <a:prstGeom prst="rect">
              <a:avLst/>
            </a:prstGeom>
          </p:spPr>
          <p:txBody>
            <a:bodyPr lIns="0" tIns="0" rIns="0" bIns="0" rtlCol="0" anchor="t">
              <a:spAutoFit/>
            </a:bodyPr>
            <a:lstStyle/>
            <a:p>
              <a:pPr algn="l">
                <a:lnSpc>
                  <a:spcPts val="2532"/>
                </a:lnSpc>
                <a:spcBef>
                  <a:spcPct val="0"/>
                </a:spcBef>
              </a:pPr>
              <a:r>
                <a:rPr lang="en-US" sz="1808">
                  <a:solidFill>
                    <a:srgbClr val="FFFFFF"/>
                  </a:solidFill>
                  <a:latin typeface="Inter"/>
                  <a:ea typeface="Inter"/>
                  <a:cs typeface="Inter"/>
                  <a:sym typeface="Inter"/>
                </a:rPr>
                <a:t>OE1. Implementar un sistema de telemetría inercial en tiempo real que transmita datos de 6 ejes desde la Raspberry Pi Pico W (MPU6050) hacia un backend en FastAPI a través de Wi-Fi. El sistema procesará las señales a una tasa de 20 Hz para su retransmisión instantánea mediante WebSockets, permitiendo la visualización de curvas XYZ en el dashboard del terapeuta.</a:t>
              </a:r>
            </a:p>
          </p:txBody>
        </p:sp>
      </p:grpSp>
      <p:grpSp>
        <p:nvGrpSpPr>
          <p:cNvPr id="30" name="Group 30"/>
          <p:cNvGrpSpPr/>
          <p:nvPr/>
        </p:nvGrpSpPr>
        <p:grpSpPr>
          <a:xfrm>
            <a:off x="9425985" y="4280365"/>
            <a:ext cx="7426378" cy="2305995"/>
            <a:chOff x="0" y="0"/>
            <a:chExt cx="9901838" cy="3074659"/>
          </a:xfrm>
        </p:grpSpPr>
        <p:grpSp>
          <p:nvGrpSpPr>
            <p:cNvPr id="31" name="Group 31"/>
            <p:cNvGrpSpPr/>
            <p:nvPr/>
          </p:nvGrpSpPr>
          <p:grpSpPr>
            <a:xfrm>
              <a:off x="0" y="0"/>
              <a:ext cx="9901838" cy="3074659"/>
              <a:chOff x="0" y="0"/>
              <a:chExt cx="1506198" cy="467696"/>
            </a:xfrm>
          </p:grpSpPr>
          <p:sp>
            <p:nvSpPr>
              <p:cNvPr id="32" name="Freeform 32"/>
              <p:cNvSpPr/>
              <p:nvPr/>
            </p:nvSpPr>
            <p:spPr>
              <a:xfrm>
                <a:off x="0" y="0"/>
                <a:ext cx="1506198" cy="467696"/>
              </a:xfrm>
              <a:custGeom>
                <a:avLst/>
                <a:gdLst/>
                <a:ahLst/>
                <a:cxnLst/>
                <a:rect l="l" t="t" r="r" b="b"/>
                <a:pathLst>
                  <a:path w="1506198" h="467696">
                    <a:moveTo>
                      <a:pt x="20361" y="0"/>
                    </a:moveTo>
                    <a:lnTo>
                      <a:pt x="1485837" y="0"/>
                    </a:lnTo>
                    <a:cubicBezTo>
                      <a:pt x="1491237" y="0"/>
                      <a:pt x="1496416" y="2145"/>
                      <a:pt x="1500234" y="5964"/>
                    </a:cubicBezTo>
                    <a:cubicBezTo>
                      <a:pt x="1504053" y="9782"/>
                      <a:pt x="1506198" y="14961"/>
                      <a:pt x="1506198" y="20361"/>
                    </a:cubicBezTo>
                    <a:lnTo>
                      <a:pt x="1506198" y="447334"/>
                    </a:lnTo>
                    <a:cubicBezTo>
                      <a:pt x="1506198" y="452735"/>
                      <a:pt x="1504053" y="457913"/>
                      <a:pt x="1500234" y="461732"/>
                    </a:cubicBezTo>
                    <a:cubicBezTo>
                      <a:pt x="1496416" y="465550"/>
                      <a:pt x="1491237" y="467696"/>
                      <a:pt x="1485837" y="467696"/>
                    </a:cubicBezTo>
                    <a:lnTo>
                      <a:pt x="20361" y="467696"/>
                    </a:lnTo>
                    <a:cubicBezTo>
                      <a:pt x="14961" y="467696"/>
                      <a:pt x="9782" y="465550"/>
                      <a:pt x="5964" y="461732"/>
                    </a:cubicBezTo>
                    <a:cubicBezTo>
                      <a:pt x="2145" y="457913"/>
                      <a:pt x="0" y="452735"/>
                      <a:pt x="0" y="447334"/>
                    </a:cubicBezTo>
                    <a:lnTo>
                      <a:pt x="0" y="20361"/>
                    </a:lnTo>
                    <a:cubicBezTo>
                      <a:pt x="0" y="14961"/>
                      <a:pt x="2145" y="9782"/>
                      <a:pt x="5964" y="5964"/>
                    </a:cubicBezTo>
                    <a:cubicBezTo>
                      <a:pt x="9782" y="2145"/>
                      <a:pt x="14961" y="0"/>
                      <a:pt x="20361"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3" name="TextBox 33"/>
              <p:cNvSpPr txBox="1"/>
              <p:nvPr/>
            </p:nvSpPr>
            <p:spPr>
              <a:xfrm>
                <a:off x="0" y="-47625"/>
                <a:ext cx="1506198" cy="515321"/>
              </a:xfrm>
              <a:prstGeom prst="rect">
                <a:avLst/>
              </a:prstGeom>
            </p:spPr>
            <p:txBody>
              <a:bodyPr lIns="50800" tIns="50800" rIns="50800" bIns="50800" rtlCol="0" anchor="ctr"/>
              <a:lstStyle/>
              <a:p>
                <a:pPr algn="ctr">
                  <a:lnSpc>
                    <a:spcPts val="3220"/>
                  </a:lnSpc>
                </a:pPr>
                <a:endParaRPr/>
              </a:p>
            </p:txBody>
          </p:sp>
        </p:grpSp>
        <p:sp>
          <p:nvSpPr>
            <p:cNvPr id="34" name="TextBox 34"/>
            <p:cNvSpPr txBox="1"/>
            <p:nvPr/>
          </p:nvSpPr>
          <p:spPr>
            <a:xfrm>
              <a:off x="448670" y="230613"/>
              <a:ext cx="9382605" cy="2491440"/>
            </a:xfrm>
            <a:prstGeom prst="rect">
              <a:avLst/>
            </a:prstGeom>
          </p:spPr>
          <p:txBody>
            <a:bodyPr lIns="0" tIns="0" rIns="0" bIns="0" rtlCol="0" anchor="t">
              <a:spAutoFit/>
            </a:bodyPr>
            <a:lstStyle/>
            <a:p>
              <a:pPr algn="l">
                <a:lnSpc>
                  <a:spcPts val="2532"/>
                </a:lnSpc>
                <a:spcBef>
                  <a:spcPct val="0"/>
                </a:spcBef>
              </a:pPr>
              <a:r>
                <a:rPr lang="en-US" sz="1808">
                  <a:solidFill>
                    <a:srgbClr val="FFFFFF"/>
                  </a:solidFill>
                  <a:latin typeface="Inter"/>
                  <a:ea typeface="Inter"/>
                  <a:cs typeface="Inter"/>
                  <a:sym typeface="Inter"/>
                </a:rPr>
                <a:t>OE2. Diseñar e implementar una base de datos relacional en Supabase (PostgreSQL) bajo un esquema normalizado y políticas de seguridad Row Level Security (RLS). El sistema gestionará la autenticación mediante JWT e integrará las entidades de especialistas, pacientes, sesiones y resultados, garantizando la trazabilidad histórica del proceso de recuperación.</a:t>
              </a:r>
            </a:p>
          </p:txBody>
        </p:sp>
      </p:grpSp>
      <p:grpSp>
        <p:nvGrpSpPr>
          <p:cNvPr id="35" name="Group 35"/>
          <p:cNvGrpSpPr/>
          <p:nvPr/>
        </p:nvGrpSpPr>
        <p:grpSpPr>
          <a:xfrm>
            <a:off x="9425985" y="7125309"/>
            <a:ext cx="7426378" cy="2305995"/>
            <a:chOff x="0" y="0"/>
            <a:chExt cx="9901838" cy="3074659"/>
          </a:xfrm>
        </p:grpSpPr>
        <p:grpSp>
          <p:nvGrpSpPr>
            <p:cNvPr id="36" name="Group 36"/>
            <p:cNvGrpSpPr/>
            <p:nvPr/>
          </p:nvGrpSpPr>
          <p:grpSpPr>
            <a:xfrm>
              <a:off x="0" y="0"/>
              <a:ext cx="9901838" cy="3074659"/>
              <a:chOff x="0" y="0"/>
              <a:chExt cx="1506198" cy="467696"/>
            </a:xfrm>
          </p:grpSpPr>
          <p:sp>
            <p:nvSpPr>
              <p:cNvPr id="37" name="Freeform 37"/>
              <p:cNvSpPr/>
              <p:nvPr/>
            </p:nvSpPr>
            <p:spPr>
              <a:xfrm>
                <a:off x="0" y="0"/>
                <a:ext cx="1506198" cy="467696"/>
              </a:xfrm>
              <a:custGeom>
                <a:avLst/>
                <a:gdLst/>
                <a:ahLst/>
                <a:cxnLst/>
                <a:rect l="l" t="t" r="r" b="b"/>
                <a:pathLst>
                  <a:path w="1506198" h="467696">
                    <a:moveTo>
                      <a:pt x="20361" y="0"/>
                    </a:moveTo>
                    <a:lnTo>
                      <a:pt x="1485837" y="0"/>
                    </a:lnTo>
                    <a:cubicBezTo>
                      <a:pt x="1491237" y="0"/>
                      <a:pt x="1496416" y="2145"/>
                      <a:pt x="1500234" y="5964"/>
                    </a:cubicBezTo>
                    <a:cubicBezTo>
                      <a:pt x="1504053" y="9782"/>
                      <a:pt x="1506198" y="14961"/>
                      <a:pt x="1506198" y="20361"/>
                    </a:cubicBezTo>
                    <a:lnTo>
                      <a:pt x="1506198" y="447334"/>
                    </a:lnTo>
                    <a:cubicBezTo>
                      <a:pt x="1506198" y="452735"/>
                      <a:pt x="1504053" y="457913"/>
                      <a:pt x="1500234" y="461732"/>
                    </a:cubicBezTo>
                    <a:cubicBezTo>
                      <a:pt x="1496416" y="465550"/>
                      <a:pt x="1491237" y="467696"/>
                      <a:pt x="1485837" y="467696"/>
                    </a:cubicBezTo>
                    <a:lnTo>
                      <a:pt x="20361" y="467696"/>
                    </a:lnTo>
                    <a:cubicBezTo>
                      <a:pt x="14961" y="467696"/>
                      <a:pt x="9782" y="465550"/>
                      <a:pt x="5964" y="461732"/>
                    </a:cubicBezTo>
                    <a:cubicBezTo>
                      <a:pt x="2145" y="457913"/>
                      <a:pt x="0" y="452735"/>
                      <a:pt x="0" y="447334"/>
                    </a:cubicBezTo>
                    <a:lnTo>
                      <a:pt x="0" y="20361"/>
                    </a:lnTo>
                    <a:cubicBezTo>
                      <a:pt x="0" y="14961"/>
                      <a:pt x="2145" y="9782"/>
                      <a:pt x="5964" y="5964"/>
                    </a:cubicBezTo>
                    <a:cubicBezTo>
                      <a:pt x="9782" y="2145"/>
                      <a:pt x="14961" y="0"/>
                      <a:pt x="20361"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8" name="TextBox 38"/>
              <p:cNvSpPr txBox="1"/>
              <p:nvPr/>
            </p:nvSpPr>
            <p:spPr>
              <a:xfrm>
                <a:off x="0" y="-47625"/>
                <a:ext cx="1506198" cy="515321"/>
              </a:xfrm>
              <a:prstGeom prst="rect">
                <a:avLst/>
              </a:prstGeom>
            </p:spPr>
            <p:txBody>
              <a:bodyPr lIns="50800" tIns="50800" rIns="50800" bIns="50800" rtlCol="0" anchor="ctr"/>
              <a:lstStyle/>
              <a:p>
                <a:pPr algn="ctr">
                  <a:lnSpc>
                    <a:spcPts val="3220"/>
                  </a:lnSpc>
                </a:pPr>
                <a:endParaRPr/>
              </a:p>
            </p:txBody>
          </p:sp>
        </p:grpSp>
        <p:sp>
          <p:nvSpPr>
            <p:cNvPr id="39" name="TextBox 39"/>
            <p:cNvSpPr txBox="1"/>
            <p:nvPr/>
          </p:nvSpPr>
          <p:spPr>
            <a:xfrm>
              <a:off x="448670" y="230613"/>
              <a:ext cx="9382605" cy="2491440"/>
            </a:xfrm>
            <a:prstGeom prst="rect">
              <a:avLst/>
            </a:prstGeom>
          </p:spPr>
          <p:txBody>
            <a:bodyPr lIns="0" tIns="0" rIns="0" bIns="0" rtlCol="0" anchor="t">
              <a:spAutoFit/>
            </a:bodyPr>
            <a:lstStyle/>
            <a:p>
              <a:pPr algn="l">
                <a:lnSpc>
                  <a:spcPts val="2532"/>
                </a:lnSpc>
                <a:spcBef>
                  <a:spcPct val="0"/>
                </a:spcBef>
              </a:pPr>
              <a:r>
                <a:rPr lang="en-US" sz="1808">
                  <a:solidFill>
                    <a:srgbClr val="FFFFFF"/>
                  </a:solidFill>
                  <a:latin typeface="Inter"/>
                  <a:ea typeface="Inter"/>
                  <a:cs typeface="Inter"/>
                  <a:sym typeface="Inter"/>
                </a:rPr>
                <a:t>OE3. Desarrollar una interfaz web móvil (Mobile-First) para el protocolo Go/No-Go que despliegue estímulos visuales a pantalla completa y auditivos mediante Web Audio API. El sistema será controlado de forma remota por la máquina de estados finitos (FSM) del backend en Python, eliminando la necesidad de componentes físicos en el dispositivo portátil.</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227271">
            <a:off x="12259869" y="-1103682"/>
            <a:ext cx="2339308" cy="23393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93617">
            <a:off x="12790756" y="-265992"/>
            <a:ext cx="1277535" cy="127753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7403427" y="4417290"/>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3411600">
            <a:off x="-5001" y="9562060"/>
            <a:ext cx="608165" cy="6081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16984490" y="-1518820"/>
            <a:ext cx="2644809" cy="26448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4" name="Freeform 24"/>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25" name="Group 25"/>
          <p:cNvGrpSpPr/>
          <p:nvPr/>
        </p:nvGrpSpPr>
        <p:grpSpPr>
          <a:xfrm rot="-3411600">
            <a:off x="-1331536" y="702168"/>
            <a:ext cx="1980044" cy="19800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299081" y="3174110"/>
            <a:ext cx="8661947" cy="5266731"/>
            <a:chOff x="0" y="0"/>
            <a:chExt cx="1482781" cy="901576"/>
          </a:xfrm>
        </p:grpSpPr>
        <p:sp>
          <p:nvSpPr>
            <p:cNvPr id="29" name="Freeform 29"/>
            <p:cNvSpPr/>
            <p:nvPr/>
          </p:nvSpPr>
          <p:spPr>
            <a:xfrm>
              <a:off x="0" y="0"/>
              <a:ext cx="1482781" cy="901576"/>
            </a:xfrm>
            <a:custGeom>
              <a:avLst/>
              <a:gdLst/>
              <a:ahLst/>
              <a:cxnLst/>
              <a:rect l="l" t="t" r="r" b="b"/>
              <a:pathLst>
                <a:path w="1482781" h="901576">
                  <a:moveTo>
                    <a:pt x="17457" y="0"/>
                  </a:moveTo>
                  <a:lnTo>
                    <a:pt x="1465324" y="0"/>
                  </a:lnTo>
                  <a:cubicBezTo>
                    <a:pt x="1469954" y="0"/>
                    <a:pt x="1474394" y="1839"/>
                    <a:pt x="1477668" y="5113"/>
                  </a:cubicBezTo>
                  <a:cubicBezTo>
                    <a:pt x="1480941" y="8387"/>
                    <a:pt x="1482781" y="12827"/>
                    <a:pt x="1482781" y="17457"/>
                  </a:cubicBezTo>
                  <a:lnTo>
                    <a:pt x="1482781" y="884120"/>
                  </a:lnTo>
                  <a:cubicBezTo>
                    <a:pt x="1482781" y="888750"/>
                    <a:pt x="1480941" y="893190"/>
                    <a:pt x="1477668" y="896463"/>
                  </a:cubicBezTo>
                  <a:cubicBezTo>
                    <a:pt x="1474394" y="899737"/>
                    <a:pt x="1469954" y="901576"/>
                    <a:pt x="1465324" y="901576"/>
                  </a:cubicBezTo>
                  <a:lnTo>
                    <a:pt x="17457" y="901576"/>
                  </a:lnTo>
                  <a:cubicBezTo>
                    <a:pt x="12827" y="901576"/>
                    <a:pt x="8387" y="899737"/>
                    <a:pt x="5113" y="896463"/>
                  </a:cubicBezTo>
                  <a:cubicBezTo>
                    <a:pt x="1839" y="893190"/>
                    <a:pt x="0" y="888750"/>
                    <a:pt x="0" y="884120"/>
                  </a:cubicBezTo>
                  <a:lnTo>
                    <a:pt x="0" y="17457"/>
                  </a:lnTo>
                  <a:cubicBezTo>
                    <a:pt x="0" y="12827"/>
                    <a:pt x="1839" y="8387"/>
                    <a:pt x="5113" y="5113"/>
                  </a:cubicBezTo>
                  <a:cubicBezTo>
                    <a:pt x="8387" y="1839"/>
                    <a:pt x="12827" y="0"/>
                    <a:pt x="17457"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0" name="TextBox 30"/>
            <p:cNvSpPr txBox="1"/>
            <p:nvPr/>
          </p:nvSpPr>
          <p:spPr>
            <a:xfrm>
              <a:off x="0" y="-47625"/>
              <a:ext cx="1482781" cy="949201"/>
            </a:xfrm>
            <a:prstGeom prst="rect">
              <a:avLst/>
            </a:prstGeom>
          </p:spPr>
          <p:txBody>
            <a:bodyPr lIns="50800" tIns="50800" rIns="50800" bIns="50800" rtlCol="0" anchor="ctr"/>
            <a:lstStyle/>
            <a:p>
              <a:pPr algn="ctr">
                <a:lnSpc>
                  <a:spcPts val="3220"/>
                </a:lnSpc>
              </a:pPr>
              <a:endParaRPr/>
            </a:p>
          </p:txBody>
        </p:sp>
      </p:grpSp>
      <p:sp>
        <p:nvSpPr>
          <p:cNvPr id="31" name="Freeform 31"/>
          <p:cNvSpPr/>
          <p:nvPr/>
        </p:nvSpPr>
        <p:spPr>
          <a:xfrm>
            <a:off x="9363075" y="1692190"/>
            <a:ext cx="7909878" cy="7123958"/>
          </a:xfrm>
          <a:custGeom>
            <a:avLst/>
            <a:gdLst/>
            <a:ahLst/>
            <a:cxnLst/>
            <a:rect l="l" t="t" r="r" b="b"/>
            <a:pathLst>
              <a:path w="7909878" h="7123958">
                <a:moveTo>
                  <a:pt x="0" y="0"/>
                </a:moveTo>
                <a:lnTo>
                  <a:pt x="7909878" y="0"/>
                </a:lnTo>
                <a:lnTo>
                  <a:pt x="7909878" y="7123958"/>
                </a:lnTo>
                <a:lnTo>
                  <a:pt x="0" y="7123958"/>
                </a:lnTo>
                <a:lnTo>
                  <a:pt x="0" y="0"/>
                </a:lnTo>
                <a:close/>
              </a:path>
            </a:pathLst>
          </a:custGeom>
          <a:blipFill>
            <a:blip r:embed="rId3"/>
            <a:stretch>
              <a:fillRect l="-10487" t="-2565" r="-16695" b="-3417"/>
            </a:stretch>
          </a:blipFill>
        </p:spPr>
      </p:sp>
      <p:sp>
        <p:nvSpPr>
          <p:cNvPr id="32" name="TextBox 32"/>
          <p:cNvSpPr txBox="1"/>
          <p:nvPr/>
        </p:nvSpPr>
        <p:spPr>
          <a:xfrm>
            <a:off x="883949" y="1509999"/>
            <a:ext cx="7892355" cy="1094740"/>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Inter Bold"/>
                <a:ea typeface="Inter Bold"/>
                <a:cs typeface="Inter Bold"/>
                <a:sym typeface="Inter Bold"/>
              </a:rPr>
              <a:t>Raspberry pi pico W</a:t>
            </a:r>
          </a:p>
        </p:txBody>
      </p:sp>
      <p:sp>
        <p:nvSpPr>
          <p:cNvPr id="33" name="TextBox 33"/>
          <p:cNvSpPr txBox="1"/>
          <p:nvPr/>
        </p:nvSpPr>
        <p:spPr>
          <a:xfrm>
            <a:off x="883949" y="3418938"/>
            <a:ext cx="7629008" cy="4471670"/>
          </a:xfrm>
          <a:prstGeom prst="rect">
            <a:avLst/>
          </a:prstGeom>
        </p:spPr>
        <p:txBody>
          <a:bodyPr lIns="0" tIns="0" rIns="0" bIns="0" rtlCol="0" anchor="t">
            <a:spAutoFit/>
          </a:bodyPr>
          <a:lstStyle/>
          <a:p>
            <a:pPr algn="ctr">
              <a:lnSpc>
                <a:spcPts val="4480"/>
              </a:lnSpc>
              <a:spcBef>
                <a:spcPct val="0"/>
              </a:spcBef>
            </a:pPr>
            <a:r>
              <a:rPr lang="en-US" sz="3200" b="1">
                <a:solidFill>
                  <a:srgbClr val="FFFFFF"/>
                </a:solidFill>
                <a:latin typeface="Inter Bold"/>
                <a:ea typeface="Inter Bold"/>
                <a:cs typeface="Inter Bold"/>
                <a:sym typeface="Inter Bold"/>
              </a:rPr>
              <a:t>Nuestro componente principal, una placa de desarrollo pequeña y de bajo costo a diferencia de la Raspberry pi pico 2040, esta añade conectividad inalámbrica (Wi-Fi 802.11n y Bluetooth LE) . Este microcontrolador se puede programar con MicroPython y es la razón por la cual se utilizará</a:t>
            </a:r>
          </a:p>
        </p:txBody>
      </p:sp>
      <p:sp>
        <p:nvSpPr>
          <p:cNvPr id="34" name="TextBox 34"/>
          <p:cNvSpPr txBox="1"/>
          <p:nvPr/>
        </p:nvSpPr>
        <p:spPr>
          <a:xfrm>
            <a:off x="886750" y="363174"/>
            <a:ext cx="8257250"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Partes del Proyecto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227271">
            <a:off x="9277703" y="-1169654"/>
            <a:ext cx="2339308" cy="23393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93617">
            <a:off x="9808589" y="-67770"/>
            <a:ext cx="1277535" cy="127753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7403427" y="4417290"/>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3411600">
            <a:off x="-5001" y="9562060"/>
            <a:ext cx="608165" cy="6081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16984490" y="-1518820"/>
            <a:ext cx="2644809" cy="26448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4" name="Freeform 24"/>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25" name="Group 25"/>
          <p:cNvGrpSpPr/>
          <p:nvPr/>
        </p:nvGrpSpPr>
        <p:grpSpPr>
          <a:xfrm rot="-3411600">
            <a:off x="-1331536" y="702168"/>
            <a:ext cx="1980044" cy="19800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8" name="Freeform 28"/>
          <p:cNvSpPr/>
          <p:nvPr/>
        </p:nvSpPr>
        <p:spPr>
          <a:xfrm>
            <a:off x="9405121" y="1380034"/>
            <a:ext cx="7526933" cy="7526933"/>
          </a:xfrm>
          <a:custGeom>
            <a:avLst/>
            <a:gdLst/>
            <a:ahLst/>
            <a:cxnLst/>
            <a:rect l="l" t="t" r="r" b="b"/>
            <a:pathLst>
              <a:path w="7526933" h="7526933">
                <a:moveTo>
                  <a:pt x="0" y="0"/>
                </a:moveTo>
                <a:lnTo>
                  <a:pt x="7526933" y="0"/>
                </a:lnTo>
                <a:lnTo>
                  <a:pt x="7526933" y="7526932"/>
                </a:lnTo>
                <a:lnTo>
                  <a:pt x="0" y="7526932"/>
                </a:lnTo>
                <a:lnTo>
                  <a:pt x="0" y="0"/>
                </a:lnTo>
                <a:close/>
              </a:path>
            </a:pathLst>
          </a:custGeom>
          <a:blipFill>
            <a:blip r:embed="rId3"/>
            <a:stretch>
              <a:fillRect/>
            </a:stretch>
          </a:blipFill>
        </p:spPr>
      </p:sp>
      <p:grpSp>
        <p:nvGrpSpPr>
          <p:cNvPr id="29" name="Group 29"/>
          <p:cNvGrpSpPr/>
          <p:nvPr/>
        </p:nvGrpSpPr>
        <p:grpSpPr>
          <a:xfrm>
            <a:off x="719939" y="3062404"/>
            <a:ext cx="8389907" cy="5322692"/>
            <a:chOff x="0" y="0"/>
            <a:chExt cx="1624525" cy="1030625"/>
          </a:xfrm>
        </p:grpSpPr>
        <p:sp>
          <p:nvSpPr>
            <p:cNvPr id="30" name="Freeform 30"/>
            <p:cNvSpPr/>
            <p:nvPr/>
          </p:nvSpPr>
          <p:spPr>
            <a:xfrm>
              <a:off x="0" y="0"/>
              <a:ext cx="1624525" cy="1030625"/>
            </a:xfrm>
            <a:custGeom>
              <a:avLst/>
              <a:gdLst/>
              <a:ahLst/>
              <a:cxnLst/>
              <a:rect l="l" t="t" r="r" b="b"/>
              <a:pathLst>
                <a:path w="1624525" h="1030625">
                  <a:moveTo>
                    <a:pt x="18023" y="0"/>
                  </a:moveTo>
                  <a:lnTo>
                    <a:pt x="1606502" y="0"/>
                  </a:lnTo>
                  <a:cubicBezTo>
                    <a:pt x="1611282" y="0"/>
                    <a:pt x="1615866" y="1899"/>
                    <a:pt x="1619246" y="5279"/>
                  </a:cubicBezTo>
                  <a:cubicBezTo>
                    <a:pt x="1622626" y="8659"/>
                    <a:pt x="1624525" y="13243"/>
                    <a:pt x="1624525" y="18023"/>
                  </a:cubicBezTo>
                  <a:lnTo>
                    <a:pt x="1624525" y="1012602"/>
                  </a:lnTo>
                  <a:cubicBezTo>
                    <a:pt x="1624525" y="1022556"/>
                    <a:pt x="1616456" y="1030625"/>
                    <a:pt x="1606502" y="1030625"/>
                  </a:cubicBezTo>
                  <a:lnTo>
                    <a:pt x="18023" y="1030625"/>
                  </a:lnTo>
                  <a:cubicBezTo>
                    <a:pt x="13243" y="1030625"/>
                    <a:pt x="8659" y="1028726"/>
                    <a:pt x="5279" y="1025346"/>
                  </a:cubicBezTo>
                  <a:cubicBezTo>
                    <a:pt x="1899" y="1021966"/>
                    <a:pt x="0" y="1017382"/>
                    <a:pt x="0" y="1012602"/>
                  </a:cubicBezTo>
                  <a:lnTo>
                    <a:pt x="0" y="18023"/>
                  </a:lnTo>
                  <a:cubicBezTo>
                    <a:pt x="0" y="13243"/>
                    <a:pt x="1899" y="8659"/>
                    <a:pt x="5279" y="5279"/>
                  </a:cubicBezTo>
                  <a:cubicBezTo>
                    <a:pt x="8659" y="1899"/>
                    <a:pt x="13243" y="0"/>
                    <a:pt x="18023"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1" name="TextBox 31"/>
            <p:cNvSpPr txBox="1"/>
            <p:nvPr/>
          </p:nvSpPr>
          <p:spPr>
            <a:xfrm>
              <a:off x="0" y="-47625"/>
              <a:ext cx="1624525" cy="1078250"/>
            </a:xfrm>
            <a:prstGeom prst="rect">
              <a:avLst/>
            </a:prstGeom>
          </p:spPr>
          <p:txBody>
            <a:bodyPr lIns="50800" tIns="50800" rIns="50800" bIns="50800" rtlCol="0" anchor="ctr"/>
            <a:lstStyle/>
            <a:p>
              <a:pPr algn="ctr">
                <a:lnSpc>
                  <a:spcPts val="3220"/>
                </a:lnSpc>
              </a:pPr>
              <a:endParaRPr/>
            </a:p>
          </p:txBody>
        </p:sp>
      </p:grpSp>
      <p:sp>
        <p:nvSpPr>
          <p:cNvPr id="32" name="TextBox 32"/>
          <p:cNvSpPr txBox="1"/>
          <p:nvPr/>
        </p:nvSpPr>
        <p:spPr>
          <a:xfrm>
            <a:off x="987902" y="3168828"/>
            <a:ext cx="7853981" cy="5043171"/>
          </a:xfrm>
          <a:prstGeom prst="rect">
            <a:avLst/>
          </a:prstGeom>
        </p:spPr>
        <p:txBody>
          <a:bodyPr lIns="0" tIns="0" rIns="0" bIns="0" rtlCol="0" anchor="t">
            <a:spAutoFit/>
          </a:bodyPr>
          <a:lstStyle/>
          <a:p>
            <a:pPr algn="ctr">
              <a:lnSpc>
                <a:spcPts val="4479"/>
              </a:lnSpc>
              <a:spcBef>
                <a:spcPct val="0"/>
              </a:spcBef>
            </a:pPr>
            <a:r>
              <a:rPr lang="en-US" sz="3199" b="1">
                <a:solidFill>
                  <a:srgbClr val="FFFFFF"/>
                </a:solidFill>
                <a:latin typeface="Inter Bold"/>
                <a:ea typeface="Inter Bold"/>
                <a:cs typeface="Inter Bold"/>
                <a:sym typeface="Inter Bold"/>
              </a:rPr>
              <a:t>Es un sensor IMU (Unidad de Medición Inercial) de 6 grados de libertad que integra un acelerómetro de 3 ejes y un giroscopio de 3 ejes. Este sensor se comunica mediante I2Cy pines; será utilizado para medir aspectos como la velocidad de movimento, rango articular alcanzado, precisión motora, etc.</a:t>
            </a:r>
          </a:p>
        </p:txBody>
      </p:sp>
      <p:sp>
        <p:nvSpPr>
          <p:cNvPr id="33" name="TextBox 33"/>
          <p:cNvSpPr txBox="1"/>
          <p:nvPr/>
        </p:nvSpPr>
        <p:spPr>
          <a:xfrm>
            <a:off x="1566975" y="1568365"/>
            <a:ext cx="7004596" cy="1094740"/>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Inter Bold"/>
                <a:ea typeface="Inter Bold"/>
                <a:cs typeface="Inter Bold"/>
                <a:sym typeface="Inter Bold"/>
              </a:rPr>
              <a:t>Sensor mpu 6050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2508416" y="1028700"/>
            <a:ext cx="4631728" cy="4631728"/>
            <a:chOff x="0" y="0"/>
            <a:chExt cx="812800" cy="812800"/>
          </a:xfrm>
        </p:grpSpPr>
        <p:sp>
          <p:nvSpPr>
            <p:cNvPr id="3" name="Freeform 3"/>
            <p:cNvSpPr/>
            <p:nvPr/>
          </p:nvSpPr>
          <p:spPr>
            <a:xfrm>
              <a:off x="0" y="0"/>
              <a:ext cx="812800" cy="812800"/>
            </a:xfrm>
            <a:custGeom>
              <a:avLst/>
              <a:gdLst/>
              <a:ahLst/>
              <a:cxnLst/>
              <a:rect l="l" t="t" r="r" b="b"/>
              <a:pathLst>
                <a:path w="812800" h="812800">
                  <a:moveTo>
                    <a:pt x="38444" y="0"/>
                  </a:moveTo>
                  <a:lnTo>
                    <a:pt x="774356" y="0"/>
                  </a:lnTo>
                  <a:cubicBezTo>
                    <a:pt x="795588" y="0"/>
                    <a:pt x="812800" y="17212"/>
                    <a:pt x="812800" y="38444"/>
                  </a:cubicBezTo>
                  <a:lnTo>
                    <a:pt x="812800" y="774356"/>
                  </a:lnTo>
                  <a:cubicBezTo>
                    <a:pt x="812800" y="795588"/>
                    <a:pt x="795588" y="812800"/>
                    <a:pt x="774356" y="812800"/>
                  </a:cubicBezTo>
                  <a:lnTo>
                    <a:pt x="38444" y="812800"/>
                  </a:lnTo>
                  <a:cubicBezTo>
                    <a:pt x="17212" y="812800"/>
                    <a:pt x="0" y="795588"/>
                    <a:pt x="0" y="774356"/>
                  </a:cubicBezTo>
                  <a:lnTo>
                    <a:pt x="0" y="38444"/>
                  </a:lnTo>
                  <a:cubicBezTo>
                    <a:pt x="0" y="17212"/>
                    <a:pt x="17212" y="0"/>
                    <a:pt x="38444" y="0"/>
                  </a:cubicBezTo>
                  <a:close/>
                </a:path>
              </a:pathLst>
            </a:custGeom>
            <a:blipFill>
              <a:blip r:embed="rId2"/>
              <a:stretch>
                <a:fillRect/>
              </a:stretch>
            </a:blipFill>
          </p:spPr>
        </p:sp>
      </p:grpSp>
      <p:grpSp>
        <p:nvGrpSpPr>
          <p:cNvPr id="4" name="Group 4"/>
          <p:cNvGrpSpPr/>
          <p:nvPr/>
        </p:nvGrpSpPr>
        <p:grpSpPr>
          <a:xfrm>
            <a:off x="1261536" y="6622568"/>
            <a:ext cx="2824525" cy="2824525"/>
            <a:chOff x="0" y="0"/>
            <a:chExt cx="812800" cy="812800"/>
          </a:xfrm>
        </p:grpSpPr>
        <p:sp>
          <p:nvSpPr>
            <p:cNvPr id="5" name="Freeform 5"/>
            <p:cNvSpPr/>
            <p:nvPr/>
          </p:nvSpPr>
          <p:spPr>
            <a:xfrm>
              <a:off x="0" y="0"/>
              <a:ext cx="812800" cy="812800"/>
            </a:xfrm>
            <a:custGeom>
              <a:avLst/>
              <a:gdLst/>
              <a:ahLst/>
              <a:cxnLst/>
              <a:rect l="l" t="t" r="r" b="b"/>
              <a:pathLst>
                <a:path w="812800" h="812800">
                  <a:moveTo>
                    <a:pt x="63042" y="0"/>
                  </a:moveTo>
                  <a:lnTo>
                    <a:pt x="749758" y="0"/>
                  </a:lnTo>
                  <a:cubicBezTo>
                    <a:pt x="766478" y="0"/>
                    <a:pt x="782513" y="6642"/>
                    <a:pt x="794335" y="18465"/>
                  </a:cubicBezTo>
                  <a:cubicBezTo>
                    <a:pt x="806158" y="30287"/>
                    <a:pt x="812800" y="46322"/>
                    <a:pt x="812800" y="63042"/>
                  </a:cubicBezTo>
                  <a:lnTo>
                    <a:pt x="812800" y="749758"/>
                  </a:lnTo>
                  <a:cubicBezTo>
                    <a:pt x="812800" y="766478"/>
                    <a:pt x="806158" y="782513"/>
                    <a:pt x="794335" y="794335"/>
                  </a:cubicBezTo>
                  <a:cubicBezTo>
                    <a:pt x="782513" y="806158"/>
                    <a:pt x="766478" y="812800"/>
                    <a:pt x="749758" y="812800"/>
                  </a:cubicBezTo>
                  <a:lnTo>
                    <a:pt x="63042" y="812800"/>
                  </a:lnTo>
                  <a:cubicBezTo>
                    <a:pt x="46322" y="812800"/>
                    <a:pt x="30287" y="806158"/>
                    <a:pt x="18465" y="794335"/>
                  </a:cubicBezTo>
                  <a:cubicBezTo>
                    <a:pt x="6642" y="782513"/>
                    <a:pt x="0" y="766478"/>
                    <a:pt x="0" y="749758"/>
                  </a:cubicBezTo>
                  <a:lnTo>
                    <a:pt x="0" y="63042"/>
                  </a:lnTo>
                  <a:cubicBezTo>
                    <a:pt x="0" y="46322"/>
                    <a:pt x="6642" y="30287"/>
                    <a:pt x="18465" y="18465"/>
                  </a:cubicBezTo>
                  <a:cubicBezTo>
                    <a:pt x="30287" y="6642"/>
                    <a:pt x="46322" y="0"/>
                    <a:pt x="63042" y="0"/>
                  </a:cubicBezTo>
                  <a:close/>
                </a:path>
              </a:pathLst>
            </a:custGeom>
            <a:blipFill>
              <a:blip r:embed="rId3"/>
              <a:stretch>
                <a:fillRect/>
              </a:stretch>
            </a:blipFill>
          </p:spPr>
        </p:sp>
      </p:grpSp>
      <p:sp>
        <p:nvSpPr>
          <p:cNvPr id="6" name="TextBox 6"/>
          <p:cNvSpPr txBox="1"/>
          <p:nvPr/>
        </p:nvSpPr>
        <p:spPr>
          <a:xfrm>
            <a:off x="3299222" y="878444"/>
            <a:ext cx="8790087" cy="1094740"/>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Inter Bold"/>
                <a:ea typeface="Inter Bold"/>
                <a:cs typeface="Inter Bold"/>
                <a:sym typeface="Inter Bold"/>
              </a:rPr>
              <a:t>Modulo Carga Tp4056</a:t>
            </a:r>
          </a:p>
        </p:txBody>
      </p:sp>
      <p:grpSp>
        <p:nvGrpSpPr>
          <p:cNvPr id="7" name="Group 7"/>
          <p:cNvGrpSpPr/>
          <p:nvPr/>
        </p:nvGrpSpPr>
        <p:grpSpPr>
          <a:xfrm>
            <a:off x="3533495" y="2598820"/>
            <a:ext cx="8389907" cy="2701255"/>
            <a:chOff x="0" y="0"/>
            <a:chExt cx="11186543" cy="3601674"/>
          </a:xfrm>
        </p:grpSpPr>
        <p:grpSp>
          <p:nvGrpSpPr>
            <p:cNvPr id="8" name="Group 8"/>
            <p:cNvGrpSpPr/>
            <p:nvPr/>
          </p:nvGrpSpPr>
          <p:grpSpPr>
            <a:xfrm>
              <a:off x="0" y="0"/>
              <a:ext cx="11186543" cy="3601674"/>
              <a:chOff x="0" y="0"/>
              <a:chExt cx="1624525" cy="523040"/>
            </a:xfrm>
          </p:grpSpPr>
          <p:sp>
            <p:nvSpPr>
              <p:cNvPr id="9" name="Freeform 9"/>
              <p:cNvSpPr/>
              <p:nvPr/>
            </p:nvSpPr>
            <p:spPr>
              <a:xfrm>
                <a:off x="0" y="0"/>
                <a:ext cx="1624525" cy="523040"/>
              </a:xfrm>
              <a:custGeom>
                <a:avLst/>
                <a:gdLst/>
                <a:ahLst/>
                <a:cxnLst/>
                <a:rect l="l" t="t" r="r" b="b"/>
                <a:pathLst>
                  <a:path w="1624525" h="523040">
                    <a:moveTo>
                      <a:pt x="18023" y="0"/>
                    </a:moveTo>
                    <a:lnTo>
                      <a:pt x="1606502" y="0"/>
                    </a:lnTo>
                    <a:cubicBezTo>
                      <a:pt x="1611282" y="0"/>
                      <a:pt x="1615866" y="1899"/>
                      <a:pt x="1619246" y="5279"/>
                    </a:cubicBezTo>
                    <a:cubicBezTo>
                      <a:pt x="1622626" y="8659"/>
                      <a:pt x="1624525" y="13243"/>
                      <a:pt x="1624525" y="18023"/>
                    </a:cubicBezTo>
                    <a:lnTo>
                      <a:pt x="1624525" y="505017"/>
                    </a:lnTo>
                    <a:cubicBezTo>
                      <a:pt x="1624525" y="509797"/>
                      <a:pt x="1622626" y="514381"/>
                      <a:pt x="1619246" y="517761"/>
                    </a:cubicBezTo>
                    <a:cubicBezTo>
                      <a:pt x="1615866" y="521141"/>
                      <a:pt x="1611282" y="523040"/>
                      <a:pt x="1606502" y="523040"/>
                    </a:cubicBezTo>
                    <a:lnTo>
                      <a:pt x="18023" y="523040"/>
                    </a:lnTo>
                    <a:cubicBezTo>
                      <a:pt x="8069" y="523040"/>
                      <a:pt x="0" y="514971"/>
                      <a:pt x="0" y="505017"/>
                    </a:cubicBezTo>
                    <a:lnTo>
                      <a:pt x="0" y="18023"/>
                    </a:lnTo>
                    <a:cubicBezTo>
                      <a:pt x="0" y="13243"/>
                      <a:pt x="1899" y="8659"/>
                      <a:pt x="5279" y="5279"/>
                    </a:cubicBezTo>
                    <a:cubicBezTo>
                      <a:pt x="8659" y="1899"/>
                      <a:pt x="13243" y="0"/>
                      <a:pt x="18023"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0" name="TextBox 10"/>
              <p:cNvSpPr txBox="1"/>
              <p:nvPr/>
            </p:nvSpPr>
            <p:spPr>
              <a:xfrm>
                <a:off x="0" y="-47625"/>
                <a:ext cx="1624525" cy="570665"/>
              </a:xfrm>
              <a:prstGeom prst="rect">
                <a:avLst/>
              </a:prstGeom>
            </p:spPr>
            <p:txBody>
              <a:bodyPr lIns="50800" tIns="50800" rIns="50800" bIns="50800" rtlCol="0" anchor="ctr"/>
              <a:lstStyle/>
              <a:p>
                <a:pPr algn="ctr">
                  <a:lnSpc>
                    <a:spcPts val="3220"/>
                  </a:lnSpc>
                </a:pPr>
                <a:endParaRPr/>
              </a:p>
            </p:txBody>
          </p:sp>
        </p:grpSp>
        <p:sp>
          <p:nvSpPr>
            <p:cNvPr id="11" name="TextBox 11"/>
            <p:cNvSpPr txBox="1"/>
            <p:nvPr/>
          </p:nvSpPr>
          <p:spPr>
            <a:xfrm>
              <a:off x="357285" y="289748"/>
              <a:ext cx="10471974" cy="2955502"/>
            </a:xfrm>
            <a:prstGeom prst="rect">
              <a:avLst/>
            </a:prstGeom>
          </p:spPr>
          <p:txBody>
            <a:bodyPr lIns="0" tIns="0" rIns="0" bIns="0" rtlCol="0" anchor="t">
              <a:spAutoFit/>
            </a:bodyPr>
            <a:lstStyle/>
            <a:p>
              <a:pPr algn="ctr">
                <a:lnSpc>
                  <a:spcPts val="4479"/>
                </a:lnSpc>
                <a:spcBef>
                  <a:spcPct val="0"/>
                </a:spcBef>
              </a:pPr>
              <a:r>
                <a:rPr lang="en-US" sz="3199" b="1">
                  <a:solidFill>
                    <a:srgbClr val="FFFFFF"/>
                  </a:solidFill>
                  <a:latin typeface="Inter Bold"/>
                  <a:ea typeface="Inter Bold"/>
                  <a:cs typeface="Inter Bold"/>
                  <a:sym typeface="Inter Bold"/>
                </a:rPr>
                <a:t>El modulo de carga Tp4056 nos ayuda de forma segura a que el poryecto pueda ser portable haciendo de este un proyecto recargable </a:t>
              </a:r>
            </a:p>
          </p:txBody>
        </p:sp>
      </p:grpSp>
      <p:sp>
        <p:nvSpPr>
          <p:cNvPr id="12" name="TextBox 12"/>
          <p:cNvSpPr txBox="1"/>
          <p:nvPr/>
        </p:nvSpPr>
        <p:spPr>
          <a:xfrm>
            <a:off x="4719709" y="6470053"/>
            <a:ext cx="11447326" cy="795019"/>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Inter Bold"/>
                <a:ea typeface="Inter Bold"/>
                <a:cs typeface="Inter Bold"/>
                <a:sym typeface="Inter Bold"/>
                <a:hlinkClick r:id="rId4" tooltip="https://www.teslaelectronic.com.pe/producto/mini-interruptor-con-pulsador-on-off/?srsltid=AfmBOoqoukcC-91FP4mhnXwZABBu3DHj7502UxSOGl_2WIch3_biJhfd"/>
              </a:rPr>
              <a:t>Mini Interruptor c</a:t>
            </a:r>
            <a:r>
              <a:rPr lang="en-US" sz="4700" b="1">
                <a:solidFill>
                  <a:srgbClr val="000000"/>
                </a:solidFill>
                <a:latin typeface="Inter Bold"/>
                <a:ea typeface="Inter Bold"/>
                <a:cs typeface="Inter Bold"/>
                <a:sym typeface="Inter Bold"/>
                <a:hlinkClick r:id="rId4" tooltip="https://www.teslaelectronic.com.pe/producto/mini-interruptor-con-pulsador-on-off/?srsltid=AfmBOoqoukcC-91FP4mhnXwZABBu3DHj7502UxSOGl_2WIch3_biJhfd"/>
              </a:rPr>
              <a:t>on pulsador ON-OFF</a:t>
            </a:r>
          </a:p>
        </p:txBody>
      </p:sp>
      <p:grpSp>
        <p:nvGrpSpPr>
          <p:cNvPr id="13" name="Group 13"/>
          <p:cNvGrpSpPr/>
          <p:nvPr/>
        </p:nvGrpSpPr>
        <p:grpSpPr>
          <a:xfrm>
            <a:off x="6247754" y="7497610"/>
            <a:ext cx="8389907" cy="1577305"/>
            <a:chOff x="0" y="0"/>
            <a:chExt cx="11186543" cy="2103074"/>
          </a:xfrm>
        </p:grpSpPr>
        <p:grpSp>
          <p:nvGrpSpPr>
            <p:cNvPr id="14" name="Group 14"/>
            <p:cNvGrpSpPr/>
            <p:nvPr/>
          </p:nvGrpSpPr>
          <p:grpSpPr>
            <a:xfrm>
              <a:off x="0" y="0"/>
              <a:ext cx="11186543" cy="2103074"/>
              <a:chOff x="0" y="0"/>
              <a:chExt cx="1624525" cy="305411"/>
            </a:xfrm>
          </p:grpSpPr>
          <p:sp>
            <p:nvSpPr>
              <p:cNvPr id="15" name="Freeform 15"/>
              <p:cNvSpPr/>
              <p:nvPr/>
            </p:nvSpPr>
            <p:spPr>
              <a:xfrm>
                <a:off x="0" y="0"/>
                <a:ext cx="1624525" cy="305411"/>
              </a:xfrm>
              <a:custGeom>
                <a:avLst/>
                <a:gdLst/>
                <a:ahLst/>
                <a:cxnLst/>
                <a:rect l="l" t="t" r="r" b="b"/>
                <a:pathLst>
                  <a:path w="1624525" h="305411">
                    <a:moveTo>
                      <a:pt x="18023" y="0"/>
                    </a:moveTo>
                    <a:lnTo>
                      <a:pt x="1606502" y="0"/>
                    </a:lnTo>
                    <a:cubicBezTo>
                      <a:pt x="1611282" y="0"/>
                      <a:pt x="1615866" y="1899"/>
                      <a:pt x="1619246" y="5279"/>
                    </a:cubicBezTo>
                    <a:cubicBezTo>
                      <a:pt x="1622626" y="8659"/>
                      <a:pt x="1624525" y="13243"/>
                      <a:pt x="1624525" y="18023"/>
                    </a:cubicBezTo>
                    <a:lnTo>
                      <a:pt x="1624525" y="287388"/>
                    </a:lnTo>
                    <a:cubicBezTo>
                      <a:pt x="1624525" y="292168"/>
                      <a:pt x="1622626" y="296753"/>
                      <a:pt x="1619246" y="300132"/>
                    </a:cubicBezTo>
                    <a:cubicBezTo>
                      <a:pt x="1615866" y="303512"/>
                      <a:pt x="1611282" y="305411"/>
                      <a:pt x="1606502" y="305411"/>
                    </a:cubicBezTo>
                    <a:lnTo>
                      <a:pt x="18023" y="305411"/>
                    </a:lnTo>
                    <a:cubicBezTo>
                      <a:pt x="8069" y="305411"/>
                      <a:pt x="0" y="297342"/>
                      <a:pt x="0" y="287388"/>
                    </a:cubicBezTo>
                    <a:lnTo>
                      <a:pt x="0" y="18023"/>
                    </a:lnTo>
                    <a:cubicBezTo>
                      <a:pt x="0" y="13243"/>
                      <a:pt x="1899" y="8659"/>
                      <a:pt x="5279" y="5279"/>
                    </a:cubicBezTo>
                    <a:cubicBezTo>
                      <a:pt x="8659" y="1899"/>
                      <a:pt x="13243" y="0"/>
                      <a:pt x="18023"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6" name="TextBox 16"/>
              <p:cNvSpPr txBox="1"/>
              <p:nvPr/>
            </p:nvSpPr>
            <p:spPr>
              <a:xfrm>
                <a:off x="0" y="-47625"/>
                <a:ext cx="1624525" cy="353036"/>
              </a:xfrm>
              <a:prstGeom prst="rect">
                <a:avLst/>
              </a:prstGeom>
            </p:spPr>
            <p:txBody>
              <a:bodyPr lIns="50800" tIns="50800" rIns="50800" bIns="50800" rtlCol="0" anchor="ctr"/>
              <a:lstStyle/>
              <a:p>
                <a:pPr algn="ctr">
                  <a:lnSpc>
                    <a:spcPts val="3220"/>
                  </a:lnSpc>
                </a:pPr>
                <a:endParaRPr/>
              </a:p>
            </p:txBody>
          </p:sp>
        </p:grpSp>
        <p:sp>
          <p:nvSpPr>
            <p:cNvPr id="17" name="TextBox 17"/>
            <p:cNvSpPr txBox="1"/>
            <p:nvPr/>
          </p:nvSpPr>
          <p:spPr>
            <a:xfrm>
              <a:off x="357285" y="289748"/>
              <a:ext cx="10471974" cy="1456902"/>
            </a:xfrm>
            <a:prstGeom prst="rect">
              <a:avLst/>
            </a:prstGeom>
          </p:spPr>
          <p:txBody>
            <a:bodyPr lIns="0" tIns="0" rIns="0" bIns="0" rtlCol="0" anchor="t">
              <a:spAutoFit/>
            </a:bodyPr>
            <a:lstStyle/>
            <a:p>
              <a:pPr algn="ctr">
                <a:lnSpc>
                  <a:spcPts val="4479"/>
                </a:lnSpc>
                <a:spcBef>
                  <a:spcPct val="0"/>
                </a:spcBef>
              </a:pPr>
              <a:r>
                <a:rPr lang="en-US" sz="3199" b="1">
                  <a:solidFill>
                    <a:srgbClr val="FFFFFF"/>
                  </a:solidFill>
                  <a:latin typeface="Inter Bold"/>
                  <a:ea typeface="Inter Bold"/>
                  <a:cs typeface="Inter Bold"/>
                  <a:sym typeface="Inter Bold"/>
                </a:rPr>
                <a:t>El interruptor como medio de encendido y apagado </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850158" y="1695153"/>
            <a:ext cx="6409142" cy="6409142"/>
            <a:chOff x="0" y="0"/>
            <a:chExt cx="812800" cy="812800"/>
          </a:xfrm>
        </p:grpSpPr>
        <p:sp>
          <p:nvSpPr>
            <p:cNvPr id="3" name="Freeform 3"/>
            <p:cNvSpPr/>
            <p:nvPr/>
          </p:nvSpPr>
          <p:spPr>
            <a:xfrm>
              <a:off x="0" y="0"/>
              <a:ext cx="812800" cy="812800"/>
            </a:xfrm>
            <a:custGeom>
              <a:avLst/>
              <a:gdLst/>
              <a:ahLst/>
              <a:cxnLst/>
              <a:rect l="l" t="t" r="r" b="b"/>
              <a:pathLst>
                <a:path w="812800" h="812800">
                  <a:moveTo>
                    <a:pt x="27783" y="0"/>
                  </a:moveTo>
                  <a:lnTo>
                    <a:pt x="785017" y="0"/>
                  </a:lnTo>
                  <a:cubicBezTo>
                    <a:pt x="792386" y="0"/>
                    <a:pt x="799452" y="2927"/>
                    <a:pt x="804663" y="8137"/>
                  </a:cubicBezTo>
                  <a:cubicBezTo>
                    <a:pt x="809873" y="13348"/>
                    <a:pt x="812800" y="20414"/>
                    <a:pt x="812800" y="27783"/>
                  </a:cubicBezTo>
                  <a:lnTo>
                    <a:pt x="812800" y="785017"/>
                  </a:lnTo>
                  <a:cubicBezTo>
                    <a:pt x="812800" y="792386"/>
                    <a:pt x="809873" y="799452"/>
                    <a:pt x="804663" y="804663"/>
                  </a:cubicBezTo>
                  <a:cubicBezTo>
                    <a:pt x="799452" y="809873"/>
                    <a:pt x="792386" y="812800"/>
                    <a:pt x="785017" y="812800"/>
                  </a:cubicBezTo>
                  <a:lnTo>
                    <a:pt x="27783" y="812800"/>
                  </a:lnTo>
                  <a:cubicBezTo>
                    <a:pt x="20414" y="812800"/>
                    <a:pt x="13348" y="809873"/>
                    <a:pt x="8137" y="804663"/>
                  </a:cubicBezTo>
                  <a:cubicBezTo>
                    <a:pt x="2927" y="799452"/>
                    <a:pt x="0" y="792386"/>
                    <a:pt x="0" y="785017"/>
                  </a:cubicBezTo>
                  <a:lnTo>
                    <a:pt x="0" y="27783"/>
                  </a:lnTo>
                  <a:cubicBezTo>
                    <a:pt x="0" y="20414"/>
                    <a:pt x="2927" y="13348"/>
                    <a:pt x="8137" y="8137"/>
                  </a:cubicBezTo>
                  <a:cubicBezTo>
                    <a:pt x="13348" y="2927"/>
                    <a:pt x="20414" y="0"/>
                    <a:pt x="27783" y="0"/>
                  </a:cubicBezTo>
                  <a:close/>
                </a:path>
              </a:pathLst>
            </a:custGeom>
            <a:blipFill>
              <a:blip r:embed="rId2"/>
              <a:stretch>
                <a:fillRect l="-301" r="-301"/>
              </a:stretch>
            </a:blipFill>
          </p:spPr>
        </p:sp>
      </p:grpSp>
      <p:grpSp>
        <p:nvGrpSpPr>
          <p:cNvPr id="4" name="Group 4"/>
          <p:cNvGrpSpPr/>
          <p:nvPr/>
        </p:nvGrpSpPr>
        <p:grpSpPr>
          <a:xfrm>
            <a:off x="1150370" y="3293898"/>
            <a:ext cx="8389907" cy="4146241"/>
            <a:chOff x="0" y="0"/>
            <a:chExt cx="1624525" cy="802830"/>
          </a:xfrm>
        </p:grpSpPr>
        <p:sp>
          <p:nvSpPr>
            <p:cNvPr id="5" name="Freeform 5"/>
            <p:cNvSpPr/>
            <p:nvPr/>
          </p:nvSpPr>
          <p:spPr>
            <a:xfrm>
              <a:off x="0" y="0"/>
              <a:ext cx="1624525" cy="802830"/>
            </a:xfrm>
            <a:custGeom>
              <a:avLst/>
              <a:gdLst/>
              <a:ahLst/>
              <a:cxnLst/>
              <a:rect l="l" t="t" r="r" b="b"/>
              <a:pathLst>
                <a:path w="1624525" h="802830">
                  <a:moveTo>
                    <a:pt x="18023" y="0"/>
                  </a:moveTo>
                  <a:lnTo>
                    <a:pt x="1606502" y="0"/>
                  </a:lnTo>
                  <a:cubicBezTo>
                    <a:pt x="1611282" y="0"/>
                    <a:pt x="1615866" y="1899"/>
                    <a:pt x="1619246" y="5279"/>
                  </a:cubicBezTo>
                  <a:cubicBezTo>
                    <a:pt x="1622626" y="8659"/>
                    <a:pt x="1624525" y="13243"/>
                    <a:pt x="1624525" y="18023"/>
                  </a:cubicBezTo>
                  <a:lnTo>
                    <a:pt x="1624525" y="784808"/>
                  </a:lnTo>
                  <a:cubicBezTo>
                    <a:pt x="1624525" y="789588"/>
                    <a:pt x="1622626" y="794172"/>
                    <a:pt x="1619246" y="797552"/>
                  </a:cubicBezTo>
                  <a:cubicBezTo>
                    <a:pt x="1615866" y="800932"/>
                    <a:pt x="1611282" y="802830"/>
                    <a:pt x="1606502" y="802830"/>
                  </a:cubicBezTo>
                  <a:lnTo>
                    <a:pt x="18023" y="802830"/>
                  </a:lnTo>
                  <a:cubicBezTo>
                    <a:pt x="8069" y="802830"/>
                    <a:pt x="0" y="794761"/>
                    <a:pt x="0" y="784808"/>
                  </a:cubicBezTo>
                  <a:lnTo>
                    <a:pt x="0" y="18023"/>
                  </a:lnTo>
                  <a:cubicBezTo>
                    <a:pt x="0" y="13243"/>
                    <a:pt x="1899" y="8659"/>
                    <a:pt x="5279" y="5279"/>
                  </a:cubicBezTo>
                  <a:cubicBezTo>
                    <a:pt x="8659" y="1899"/>
                    <a:pt x="13243" y="0"/>
                    <a:pt x="18023"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6" name="TextBox 6"/>
            <p:cNvSpPr txBox="1"/>
            <p:nvPr/>
          </p:nvSpPr>
          <p:spPr>
            <a:xfrm>
              <a:off x="0" y="-47625"/>
              <a:ext cx="1624525" cy="850455"/>
            </a:xfrm>
            <a:prstGeom prst="rect">
              <a:avLst/>
            </a:prstGeom>
          </p:spPr>
          <p:txBody>
            <a:bodyPr lIns="50800" tIns="50800" rIns="50800" bIns="50800" rtlCol="0" anchor="ctr"/>
            <a:lstStyle/>
            <a:p>
              <a:pPr algn="ctr">
                <a:lnSpc>
                  <a:spcPts val="3220"/>
                </a:lnSpc>
              </a:pPr>
              <a:endParaRPr/>
            </a:p>
          </p:txBody>
        </p:sp>
      </p:grpSp>
      <p:sp>
        <p:nvSpPr>
          <p:cNvPr id="7" name="TextBox 7"/>
          <p:cNvSpPr txBox="1"/>
          <p:nvPr/>
        </p:nvSpPr>
        <p:spPr>
          <a:xfrm>
            <a:off x="2065352" y="1199991"/>
            <a:ext cx="7762577" cy="1094740"/>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Inter Bold"/>
                <a:ea typeface="Inter Bold"/>
                <a:cs typeface="Inter Bold"/>
                <a:sym typeface="Inter Bold"/>
                <a:hlinkClick r:id="rId3" tooltip="https://www.engitronicperu.com/producto/bateria-de-litio-3-7-v/"/>
              </a:rPr>
              <a:t>Batería de liti</a:t>
            </a:r>
            <a:r>
              <a:rPr lang="en-US" sz="6399" b="1">
                <a:solidFill>
                  <a:srgbClr val="000000"/>
                </a:solidFill>
                <a:latin typeface="Inter Bold"/>
                <a:ea typeface="Inter Bold"/>
                <a:cs typeface="Inter Bold"/>
                <a:sym typeface="Inter Bold"/>
                <a:hlinkClick r:id="rId3" tooltip="https://www.engitronicperu.com/producto/bateria-de-litio-3-7-v/"/>
              </a:rPr>
              <a:t>o 3.7 V</a:t>
            </a:r>
          </a:p>
        </p:txBody>
      </p:sp>
      <p:sp>
        <p:nvSpPr>
          <p:cNvPr id="8" name="TextBox 8"/>
          <p:cNvSpPr txBox="1"/>
          <p:nvPr/>
        </p:nvSpPr>
        <p:spPr>
          <a:xfrm>
            <a:off x="1418333" y="3400321"/>
            <a:ext cx="7853981" cy="3357246"/>
          </a:xfrm>
          <a:prstGeom prst="rect">
            <a:avLst/>
          </a:prstGeom>
        </p:spPr>
        <p:txBody>
          <a:bodyPr lIns="0" tIns="0" rIns="0" bIns="0" rtlCol="0" anchor="t">
            <a:spAutoFit/>
          </a:bodyPr>
          <a:lstStyle/>
          <a:p>
            <a:pPr algn="ctr">
              <a:lnSpc>
                <a:spcPts val="4479"/>
              </a:lnSpc>
              <a:spcBef>
                <a:spcPct val="0"/>
              </a:spcBef>
            </a:pPr>
            <a:r>
              <a:rPr lang="en-US" sz="3199" b="1">
                <a:solidFill>
                  <a:srgbClr val="FFFFFF"/>
                </a:solidFill>
                <a:latin typeface="Inter Bold"/>
                <a:ea typeface="Inter Bold"/>
                <a:cs typeface="Inter Bold"/>
                <a:sym typeface="Inter Bold"/>
              </a:rPr>
              <a:t>La bateria de litio nos permite hacer este proyecto portatil y de bajo recurso sin tener que preocuparnos de llevar adaptadores. tmabien nos da la facilidad de poder mejorar la movilidad del paciente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3411600">
            <a:off x="17403427" y="4417290"/>
            <a:ext cx="921989" cy="92198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3411600">
            <a:off x="-5001" y="9562060"/>
            <a:ext cx="608165" cy="60816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6984490" y="-1518820"/>
            <a:ext cx="2644809" cy="264480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17" name="Freeform 17"/>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18" name="Freeform 18"/>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19" name="Group 19"/>
          <p:cNvGrpSpPr/>
          <p:nvPr/>
        </p:nvGrpSpPr>
        <p:grpSpPr>
          <a:xfrm rot="-3411600">
            <a:off x="-1331536" y="702168"/>
            <a:ext cx="1980044" cy="198004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2" name="TextBox 22"/>
          <p:cNvSpPr txBox="1"/>
          <p:nvPr/>
        </p:nvSpPr>
        <p:spPr>
          <a:xfrm>
            <a:off x="9139238" y="4925060"/>
            <a:ext cx="9525" cy="389255"/>
          </a:xfrm>
          <a:prstGeom prst="rect">
            <a:avLst/>
          </a:prstGeom>
        </p:spPr>
        <p:txBody>
          <a:bodyPr lIns="0" tIns="0" rIns="0" bIns="0" rtlCol="0" anchor="t">
            <a:spAutoFit/>
          </a:bodyPr>
          <a:lstStyle/>
          <a:p>
            <a:pPr algn="ctr">
              <a:lnSpc>
                <a:spcPts val="3220"/>
              </a:lnSpc>
              <a:spcBef>
                <a:spcPct val="0"/>
              </a:spcBef>
            </a:pPr>
            <a:endParaRPr/>
          </a:p>
        </p:txBody>
      </p:sp>
      <p:grpSp>
        <p:nvGrpSpPr>
          <p:cNvPr id="23" name="Group 23"/>
          <p:cNvGrpSpPr/>
          <p:nvPr/>
        </p:nvGrpSpPr>
        <p:grpSpPr>
          <a:xfrm>
            <a:off x="719939" y="2062693"/>
            <a:ext cx="10803614" cy="6907238"/>
            <a:chOff x="0" y="0"/>
            <a:chExt cx="1797072" cy="1148950"/>
          </a:xfrm>
        </p:grpSpPr>
        <p:sp>
          <p:nvSpPr>
            <p:cNvPr id="24" name="Freeform 24"/>
            <p:cNvSpPr/>
            <p:nvPr/>
          </p:nvSpPr>
          <p:spPr>
            <a:xfrm>
              <a:off x="0" y="0"/>
              <a:ext cx="1797072" cy="1148950"/>
            </a:xfrm>
            <a:custGeom>
              <a:avLst/>
              <a:gdLst/>
              <a:ahLst/>
              <a:cxnLst/>
              <a:rect l="l" t="t" r="r" b="b"/>
              <a:pathLst>
                <a:path w="1797072" h="1148950">
                  <a:moveTo>
                    <a:pt x="13996" y="0"/>
                  </a:moveTo>
                  <a:lnTo>
                    <a:pt x="1783076" y="0"/>
                  </a:lnTo>
                  <a:cubicBezTo>
                    <a:pt x="1790806" y="0"/>
                    <a:pt x="1797072" y="6266"/>
                    <a:pt x="1797072" y="13996"/>
                  </a:cubicBezTo>
                  <a:lnTo>
                    <a:pt x="1797072" y="1134953"/>
                  </a:lnTo>
                  <a:cubicBezTo>
                    <a:pt x="1797072" y="1142683"/>
                    <a:pt x="1790806" y="1148950"/>
                    <a:pt x="1783076" y="1148950"/>
                  </a:cubicBezTo>
                  <a:lnTo>
                    <a:pt x="13996" y="1148950"/>
                  </a:lnTo>
                  <a:cubicBezTo>
                    <a:pt x="6266" y="1148950"/>
                    <a:pt x="0" y="1142683"/>
                    <a:pt x="0" y="1134953"/>
                  </a:cubicBezTo>
                  <a:lnTo>
                    <a:pt x="0" y="13996"/>
                  </a:lnTo>
                  <a:cubicBezTo>
                    <a:pt x="0" y="6266"/>
                    <a:pt x="6266" y="0"/>
                    <a:pt x="13996"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5" name="TextBox 25"/>
            <p:cNvSpPr txBox="1"/>
            <p:nvPr/>
          </p:nvSpPr>
          <p:spPr>
            <a:xfrm>
              <a:off x="0" y="-47625"/>
              <a:ext cx="1797072" cy="1196575"/>
            </a:xfrm>
            <a:prstGeom prst="rect">
              <a:avLst/>
            </a:prstGeom>
          </p:spPr>
          <p:txBody>
            <a:bodyPr lIns="50800" tIns="50800" rIns="50800" bIns="50800" rtlCol="0" anchor="ctr"/>
            <a:lstStyle/>
            <a:p>
              <a:pPr algn="ctr">
                <a:lnSpc>
                  <a:spcPts val="3220"/>
                </a:lnSpc>
              </a:pPr>
              <a:endParaRPr/>
            </a:p>
          </p:txBody>
        </p:sp>
      </p:grpSp>
      <p:sp>
        <p:nvSpPr>
          <p:cNvPr id="26" name="TextBox 26"/>
          <p:cNvSpPr txBox="1"/>
          <p:nvPr/>
        </p:nvSpPr>
        <p:spPr>
          <a:xfrm>
            <a:off x="1008380" y="2363537"/>
            <a:ext cx="10226731" cy="6257925"/>
          </a:xfrm>
          <a:prstGeom prst="rect">
            <a:avLst/>
          </a:prstGeom>
        </p:spPr>
        <p:txBody>
          <a:bodyPr lIns="0" tIns="0" rIns="0" bIns="0" rtlCol="0" anchor="t">
            <a:spAutoFit/>
          </a:bodyPr>
          <a:lstStyle/>
          <a:p>
            <a:pPr algn="ctr">
              <a:lnSpc>
                <a:spcPts val="4199"/>
              </a:lnSpc>
              <a:spcBef>
                <a:spcPct val="0"/>
              </a:spcBef>
            </a:pPr>
            <a:r>
              <a:rPr lang="en-US" sz="2999" b="1">
                <a:solidFill>
                  <a:srgbClr val="FFFFFF"/>
                </a:solidFill>
                <a:latin typeface="Inter Bold"/>
                <a:ea typeface="Inter Bold"/>
                <a:cs typeface="Inter Bold"/>
                <a:sym typeface="Inter Bold"/>
              </a:rPr>
              <a:t>Se emplea un microcontrolador Raspberry Pi Pico W para gestionar la conectividad inalámbrica del sistema. Su función principal es procesar los datos cinemáticos capturados por el sensor MPU6050 durante la respuesta motora del paciente y transmitirlos a través de una red Wi-Fi hacia un servidor o equipo central. Esto permite registrar el progreso de la rehabilitación sin limitar la movilidad del usuario con cables, mientras que, de forma simultánea, la pantalla OLED de 0.96” I2C proporciona indicaciones de las rondas y retroalimentación visual en tiempo real directamente en la muñequera.</a:t>
            </a:r>
          </a:p>
        </p:txBody>
      </p:sp>
      <p:sp>
        <p:nvSpPr>
          <p:cNvPr id="27" name="Freeform 27"/>
          <p:cNvSpPr/>
          <p:nvPr/>
        </p:nvSpPr>
        <p:spPr>
          <a:xfrm>
            <a:off x="11934104" y="2631609"/>
            <a:ext cx="5325196" cy="5507254"/>
          </a:xfrm>
          <a:custGeom>
            <a:avLst/>
            <a:gdLst/>
            <a:ahLst/>
            <a:cxnLst/>
            <a:rect l="l" t="t" r="r" b="b"/>
            <a:pathLst>
              <a:path w="5325196" h="5507254">
                <a:moveTo>
                  <a:pt x="0" y="0"/>
                </a:moveTo>
                <a:lnTo>
                  <a:pt x="5325196" y="0"/>
                </a:lnTo>
                <a:lnTo>
                  <a:pt x="5325196" y="5507254"/>
                </a:lnTo>
                <a:lnTo>
                  <a:pt x="0" y="5507254"/>
                </a:lnTo>
                <a:lnTo>
                  <a:pt x="0" y="0"/>
                </a:lnTo>
                <a:close/>
              </a:path>
            </a:pathLst>
          </a:custGeom>
          <a:blipFill>
            <a:blip r:embed="rId3"/>
            <a:stretch>
              <a:fillRect t="-32690" b="-39210"/>
            </a:stretch>
          </a:blipFill>
        </p:spPr>
      </p:sp>
      <p:sp>
        <p:nvSpPr>
          <p:cNvPr id="28" name="TextBox 28"/>
          <p:cNvSpPr txBox="1"/>
          <p:nvPr/>
        </p:nvSpPr>
        <p:spPr>
          <a:xfrm>
            <a:off x="537373" y="188626"/>
            <a:ext cx="15018714"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Conexión Wi-Fi y Envío de Datos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2891737">
            <a:off x="8296316" y="-2098661"/>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315169">
            <a:off x="8206034" y="-46980"/>
            <a:ext cx="675492" cy="670091"/>
            <a:chOff x="0" y="0"/>
            <a:chExt cx="819351" cy="812800"/>
          </a:xfrm>
        </p:grpSpPr>
        <p:sp>
          <p:nvSpPr>
            <p:cNvPr id="6" name="Freeform 6"/>
            <p:cNvSpPr/>
            <p:nvPr/>
          </p:nvSpPr>
          <p:spPr>
            <a:xfrm>
              <a:off x="0" y="0"/>
              <a:ext cx="819351" cy="812800"/>
            </a:xfrm>
            <a:custGeom>
              <a:avLst/>
              <a:gdLst/>
              <a:ahLst/>
              <a:cxnLst/>
              <a:rect l="l" t="t" r="r" b="b"/>
              <a:pathLst>
                <a:path w="819351" h="812800">
                  <a:moveTo>
                    <a:pt x="409676" y="0"/>
                  </a:moveTo>
                  <a:cubicBezTo>
                    <a:pt x="183418" y="0"/>
                    <a:pt x="0" y="181951"/>
                    <a:pt x="0" y="406400"/>
                  </a:cubicBezTo>
                  <a:cubicBezTo>
                    <a:pt x="0" y="630849"/>
                    <a:pt x="183418" y="812800"/>
                    <a:pt x="409676" y="812800"/>
                  </a:cubicBezTo>
                  <a:cubicBezTo>
                    <a:pt x="635933" y="812800"/>
                    <a:pt x="819351" y="630849"/>
                    <a:pt x="819351" y="406400"/>
                  </a:cubicBezTo>
                  <a:cubicBezTo>
                    <a:pt x="819351" y="181951"/>
                    <a:pt x="635933" y="0"/>
                    <a:pt x="409676"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814" y="28575"/>
              <a:ext cx="665723" cy="708025"/>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15114601"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6921224" y="9863873"/>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6464379">
            <a:off x="17953122" y="3595580"/>
            <a:ext cx="2283455" cy="22834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rot="6198033">
            <a:off x="17244905" y="4482673"/>
            <a:ext cx="1247033" cy="12470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rot="-3411600">
            <a:off x="13019447" y="665407"/>
            <a:ext cx="608165" cy="60816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a:off x="930202" y="2167477"/>
            <a:ext cx="11300453" cy="2993388"/>
            <a:chOff x="0" y="0"/>
            <a:chExt cx="2325196" cy="615923"/>
          </a:xfrm>
        </p:grpSpPr>
        <p:sp>
          <p:nvSpPr>
            <p:cNvPr id="20" name="Freeform 20"/>
            <p:cNvSpPr/>
            <p:nvPr/>
          </p:nvSpPr>
          <p:spPr>
            <a:xfrm>
              <a:off x="0" y="0"/>
              <a:ext cx="2325196" cy="615923"/>
            </a:xfrm>
            <a:custGeom>
              <a:avLst/>
              <a:gdLst/>
              <a:ahLst/>
              <a:cxnLst/>
              <a:rect l="l" t="t" r="r" b="b"/>
              <a:pathLst>
                <a:path w="2325196" h="615923">
                  <a:moveTo>
                    <a:pt x="13381" y="0"/>
                  </a:moveTo>
                  <a:lnTo>
                    <a:pt x="2311815" y="0"/>
                  </a:lnTo>
                  <a:cubicBezTo>
                    <a:pt x="2319205" y="0"/>
                    <a:pt x="2325196" y="5991"/>
                    <a:pt x="2325196" y="13381"/>
                  </a:cubicBezTo>
                  <a:lnTo>
                    <a:pt x="2325196" y="602543"/>
                  </a:lnTo>
                  <a:cubicBezTo>
                    <a:pt x="2325196" y="606091"/>
                    <a:pt x="2323786" y="609495"/>
                    <a:pt x="2321277" y="612004"/>
                  </a:cubicBezTo>
                  <a:cubicBezTo>
                    <a:pt x="2318768" y="614514"/>
                    <a:pt x="2315364" y="615923"/>
                    <a:pt x="2311815" y="615923"/>
                  </a:cubicBezTo>
                  <a:lnTo>
                    <a:pt x="13381" y="615923"/>
                  </a:lnTo>
                  <a:cubicBezTo>
                    <a:pt x="5991" y="615923"/>
                    <a:pt x="0" y="609933"/>
                    <a:pt x="0" y="602543"/>
                  </a:cubicBezTo>
                  <a:lnTo>
                    <a:pt x="0" y="13381"/>
                  </a:lnTo>
                  <a:cubicBezTo>
                    <a:pt x="0" y="5991"/>
                    <a:pt x="5991" y="0"/>
                    <a:pt x="13381"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1" name="TextBox 21"/>
            <p:cNvSpPr txBox="1"/>
            <p:nvPr/>
          </p:nvSpPr>
          <p:spPr>
            <a:xfrm>
              <a:off x="0" y="-47625"/>
              <a:ext cx="2325196" cy="663548"/>
            </a:xfrm>
            <a:prstGeom prst="rect">
              <a:avLst/>
            </a:prstGeom>
          </p:spPr>
          <p:txBody>
            <a:bodyPr lIns="50800" tIns="50800" rIns="50800" bIns="50800" rtlCol="0" anchor="ctr"/>
            <a:lstStyle/>
            <a:p>
              <a:pPr algn="ctr">
                <a:lnSpc>
                  <a:spcPts val="3220"/>
                </a:lnSpc>
              </a:pPr>
              <a:endParaRPr/>
            </a:p>
          </p:txBody>
        </p:sp>
      </p:grpSp>
      <p:grpSp>
        <p:nvGrpSpPr>
          <p:cNvPr id="22" name="Group 22"/>
          <p:cNvGrpSpPr/>
          <p:nvPr/>
        </p:nvGrpSpPr>
        <p:grpSpPr>
          <a:xfrm>
            <a:off x="6418559" y="6518077"/>
            <a:ext cx="11624191" cy="3141917"/>
            <a:chOff x="0" y="0"/>
            <a:chExt cx="2077521" cy="561536"/>
          </a:xfrm>
        </p:grpSpPr>
        <p:sp>
          <p:nvSpPr>
            <p:cNvPr id="23" name="Freeform 23"/>
            <p:cNvSpPr/>
            <p:nvPr/>
          </p:nvSpPr>
          <p:spPr>
            <a:xfrm>
              <a:off x="0" y="0"/>
              <a:ext cx="2077521" cy="561536"/>
            </a:xfrm>
            <a:custGeom>
              <a:avLst/>
              <a:gdLst/>
              <a:ahLst/>
              <a:cxnLst/>
              <a:rect l="l" t="t" r="r" b="b"/>
              <a:pathLst>
                <a:path w="2077521" h="561536">
                  <a:moveTo>
                    <a:pt x="13008" y="0"/>
                  </a:moveTo>
                  <a:lnTo>
                    <a:pt x="2064513" y="0"/>
                  </a:lnTo>
                  <a:cubicBezTo>
                    <a:pt x="2067963" y="0"/>
                    <a:pt x="2071271" y="1370"/>
                    <a:pt x="2073711" y="3810"/>
                  </a:cubicBezTo>
                  <a:cubicBezTo>
                    <a:pt x="2076150" y="6250"/>
                    <a:pt x="2077521" y="9558"/>
                    <a:pt x="2077521" y="13008"/>
                  </a:cubicBezTo>
                  <a:lnTo>
                    <a:pt x="2077521" y="548527"/>
                  </a:lnTo>
                  <a:cubicBezTo>
                    <a:pt x="2077521" y="551977"/>
                    <a:pt x="2076150" y="555286"/>
                    <a:pt x="2073711" y="557726"/>
                  </a:cubicBezTo>
                  <a:cubicBezTo>
                    <a:pt x="2071271" y="560165"/>
                    <a:pt x="2067963" y="561536"/>
                    <a:pt x="2064513" y="561536"/>
                  </a:cubicBezTo>
                  <a:lnTo>
                    <a:pt x="13008" y="561536"/>
                  </a:lnTo>
                  <a:cubicBezTo>
                    <a:pt x="9558" y="561536"/>
                    <a:pt x="6250" y="560165"/>
                    <a:pt x="3810" y="557726"/>
                  </a:cubicBezTo>
                  <a:cubicBezTo>
                    <a:pt x="1370" y="555286"/>
                    <a:pt x="0" y="551977"/>
                    <a:pt x="0" y="548527"/>
                  </a:cubicBezTo>
                  <a:lnTo>
                    <a:pt x="0" y="13008"/>
                  </a:lnTo>
                  <a:cubicBezTo>
                    <a:pt x="0" y="9558"/>
                    <a:pt x="1370" y="6250"/>
                    <a:pt x="3810" y="3810"/>
                  </a:cubicBezTo>
                  <a:cubicBezTo>
                    <a:pt x="6250" y="1370"/>
                    <a:pt x="9558" y="0"/>
                    <a:pt x="1300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4" name="TextBox 24"/>
            <p:cNvSpPr txBox="1"/>
            <p:nvPr/>
          </p:nvSpPr>
          <p:spPr>
            <a:xfrm>
              <a:off x="0" y="-47625"/>
              <a:ext cx="2077521" cy="609161"/>
            </a:xfrm>
            <a:prstGeom prst="rect">
              <a:avLst/>
            </a:prstGeom>
          </p:spPr>
          <p:txBody>
            <a:bodyPr lIns="50800" tIns="50800" rIns="50800" bIns="50800" rtlCol="0" anchor="ctr"/>
            <a:lstStyle/>
            <a:p>
              <a:pPr algn="ctr">
                <a:lnSpc>
                  <a:spcPts val="3220"/>
                </a:lnSpc>
              </a:pPr>
              <a:endParaRPr/>
            </a:p>
          </p:txBody>
        </p:sp>
      </p:grpSp>
      <p:grpSp>
        <p:nvGrpSpPr>
          <p:cNvPr id="25" name="Group 25"/>
          <p:cNvGrpSpPr/>
          <p:nvPr/>
        </p:nvGrpSpPr>
        <p:grpSpPr>
          <a:xfrm>
            <a:off x="1068461" y="2406614"/>
            <a:ext cx="358140" cy="35814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6548841" y="6784031"/>
            <a:ext cx="358140" cy="35814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1" name="Group 31"/>
          <p:cNvGrpSpPr/>
          <p:nvPr/>
        </p:nvGrpSpPr>
        <p:grpSpPr>
          <a:xfrm rot="6784697">
            <a:off x="-229274" y="9648232"/>
            <a:ext cx="1277535" cy="127753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4" name="Freeform 34"/>
          <p:cNvSpPr/>
          <p:nvPr/>
        </p:nvSpPr>
        <p:spPr>
          <a:xfrm>
            <a:off x="-213486" y="6364431"/>
            <a:ext cx="2042383" cy="1117740"/>
          </a:xfrm>
          <a:custGeom>
            <a:avLst/>
            <a:gdLst/>
            <a:ahLst/>
            <a:cxnLst/>
            <a:rect l="l" t="t" r="r" b="b"/>
            <a:pathLst>
              <a:path w="2042383" h="1117740">
                <a:moveTo>
                  <a:pt x="0" y="0"/>
                </a:moveTo>
                <a:lnTo>
                  <a:pt x="2042383" y="0"/>
                </a:lnTo>
                <a:lnTo>
                  <a:pt x="2042383" y="1117740"/>
                </a:lnTo>
                <a:lnTo>
                  <a:pt x="0" y="111774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5" name="Freeform 35"/>
          <p:cNvSpPr/>
          <p:nvPr/>
        </p:nvSpPr>
        <p:spPr>
          <a:xfrm>
            <a:off x="316145" y="5522814"/>
            <a:ext cx="5783543" cy="4341059"/>
          </a:xfrm>
          <a:custGeom>
            <a:avLst/>
            <a:gdLst/>
            <a:ahLst/>
            <a:cxnLst/>
            <a:rect l="l" t="t" r="r" b="b"/>
            <a:pathLst>
              <a:path w="5783543" h="4341059">
                <a:moveTo>
                  <a:pt x="0" y="0"/>
                </a:moveTo>
                <a:lnTo>
                  <a:pt x="5783543" y="0"/>
                </a:lnTo>
                <a:lnTo>
                  <a:pt x="5783543" y="4341059"/>
                </a:lnTo>
                <a:lnTo>
                  <a:pt x="0" y="4341059"/>
                </a:lnTo>
                <a:lnTo>
                  <a:pt x="0" y="0"/>
                </a:lnTo>
                <a:close/>
              </a:path>
            </a:pathLst>
          </a:custGeom>
          <a:blipFill>
            <a:blip r:embed="rId4"/>
            <a:stretch>
              <a:fillRect/>
            </a:stretch>
          </a:blipFill>
        </p:spPr>
      </p:sp>
      <p:sp>
        <p:nvSpPr>
          <p:cNvPr id="36" name="Freeform 36"/>
          <p:cNvSpPr/>
          <p:nvPr/>
        </p:nvSpPr>
        <p:spPr>
          <a:xfrm>
            <a:off x="12902672" y="2406614"/>
            <a:ext cx="4927461" cy="3289081"/>
          </a:xfrm>
          <a:custGeom>
            <a:avLst/>
            <a:gdLst/>
            <a:ahLst/>
            <a:cxnLst/>
            <a:rect l="l" t="t" r="r" b="b"/>
            <a:pathLst>
              <a:path w="4927461" h="3289081">
                <a:moveTo>
                  <a:pt x="0" y="0"/>
                </a:moveTo>
                <a:lnTo>
                  <a:pt x="4927462" y="0"/>
                </a:lnTo>
                <a:lnTo>
                  <a:pt x="4927462" y="3289080"/>
                </a:lnTo>
                <a:lnTo>
                  <a:pt x="0" y="3289080"/>
                </a:lnTo>
                <a:lnTo>
                  <a:pt x="0" y="0"/>
                </a:lnTo>
                <a:close/>
              </a:path>
            </a:pathLst>
          </a:custGeom>
          <a:blipFill>
            <a:blip r:embed="rId5"/>
            <a:stretch>
              <a:fillRect/>
            </a:stretch>
          </a:blipFill>
        </p:spPr>
      </p:sp>
      <p:sp>
        <p:nvSpPr>
          <p:cNvPr id="37" name="TextBox 37"/>
          <p:cNvSpPr txBox="1"/>
          <p:nvPr/>
        </p:nvSpPr>
        <p:spPr>
          <a:xfrm>
            <a:off x="1674565" y="2170912"/>
            <a:ext cx="10752554" cy="2935278"/>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Como complemento a los objetivos técnicos trazados, es fundamental considerar el marco clínico en el que opera el sistema. Dentro de la rehabilitación cognitiva destaca el método Perfetti.</a:t>
            </a:r>
          </a:p>
          <a:p>
            <a:pPr algn="l">
              <a:lnSpc>
                <a:spcPts val="3361"/>
              </a:lnSpc>
            </a:pPr>
            <a:r>
              <a:rPr lang="en-US" sz="2400" b="1">
                <a:solidFill>
                  <a:srgbClr val="FFFFFF"/>
                </a:solidFill>
                <a:latin typeface="Inter Medium"/>
                <a:ea typeface="Inter Medium"/>
                <a:cs typeface="Inter Medium"/>
                <a:sym typeface="Inter Medium"/>
              </a:rPr>
              <a:t>Este método nos permitirá entender la parte cognitiva a fondo, y servirá como una herramienta previa para el proceso de rehabilitación a través de nuestro producto, que actúa como un indicador de progreso para el paciente a través de sus métricas y funcionalidades.</a:t>
            </a:r>
          </a:p>
        </p:txBody>
      </p:sp>
      <p:sp>
        <p:nvSpPr>
          <p:cNvPr id="38" name="TextBox 38"/>
          <p:cNvSpPr txBox="1"/>
          <p:nvPr/>
        </p:nvSpPr>
        <p:spPr>
          <a:xfrm>
            <a:off x="186086" y="878755"/>
            <a:ext cx="12716586" cy="929642"/>
          </a:xfrm>
          <a:prstGeom prst="rect">
            <a:avLst/>
          </a:prstGeom>
        </p:spPr>
        <p:txBody>
          <a:bodyPr lIns="0" tIns="0" rIns="0" bIns="0" rtlCol="0" anchor="t">
            <a:spAutoFit/>
          </a:bodyPr>
          <a:lstStyle/>
          <a:p>
            <a:pPr algn="ctr">
              <a:lnSpc>
                <a:spcPts val="7559"/>
              </a:lnSpc>
              <a:spcBef>
                <a:spcPct val="0"/>
              </a:spcBef>
            </a:pPr>
            <a:r>
              <a:rPr lang="en-US" sz="5399" b="1">
                <a:solidFill>
                  <a:srgbClr val="000000"/>
                </a:solidFill>
                <a:latin typeface="Stinger Fit Bold"/>
                <a:ea typeface="Stinger Fit Bold"/>
                <a:cs typeface="Stinger Fit Bold"/>
                <a:sym typeface="Stinger Fit Bold"/>
              </a:rPr>
              <a:t>Métodos complementarios (Perfetti)</a:t>
            </a:r>
          </a:p>
        </p:txBody>
      </p:sp>
      <p:sp>
        <p:nvSpPr>
          <p:cNvPr id="39" name="TextBox 39"/>
          <p:cNvSpPr txBox="1"/>
          <p:nvPr/>
        </p:nvSpPr>
        <p:spPr>
          <a:xfrm>
            <a:off x="7122772" y="6597584"/>
            <a:ext cx="10608693" cy="2935278"/>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El método Perfetti se caracteriza por:</a:t>
            </a:r>
          </a:p>
          <a:p>
            <a:pPr algn="l">
              <a:lnSpc>
                <a:spcPts val="3361"/>
              </a:lnSpc>
            </a:pPr>
            <a:r>
              <a:rPr lang="en-US" sz="2400" b="1">
                <a:solidFill>
                  <a:srgbClr val="FFFFFF"/>
                </a:solidFill>
                <a:latin typeface="Inter Medium"/>
                <a:ea typeface="Inter Medium"/>
                <a:cs typeface="Inter Medium"/>
                <a:sym typeface="Inter Medium"/>
              </a:rPr>
              <a:t>Activación cerebral: El movimiento no es solo una acción mecánica, sino el resultado de procesos cognitivos (atención, memoria, lenguaje, percepción).</a:t>
            </a:r>
          </a:p>
          <a:p>
            <a:pPr algn="l">
              <a:lnSpc>
                <a:spcPts val="3361"/>
              </a:lnSpc>
            </a:pPr>
            <a:r>
              <a:rPr lang="en-US" sz="2400" b="1">
                <a:solidFill>
                  <a:srgbClr val="FFFFFF"/>
                </a:solidFill>
                <a:latin typeface="Inter Medium"/>
                <a:ea typeface="Inter Medium"/>
                <a:cs typeface="Inter Medium"/>
                <a:sym typeface="Inter Medium"/>
              </a:rPr>
              <a:t>Resolución de problemas: Se pide al paciente que interactúe con el entorno reconociendo formas, texturas, pesos o longitudes para volver a enseñarle al cerebro cómo organizar el movimiento.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2891737">
            <a:off x="8296316" y="-2098661"/>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315169">
            <a:off x="8206034" y="-46980"/>
            <a:ext cx="675492" cy="670091"/>
            <a:chOff x="0" y="0"/>
            <a:chExt cx="819351" cy="812800"/>
          </a:xfrm>
        </p:grpSpPr>
        <p:sp>
          <p:nvSpPr>
            <p:cNvPr id="6" name="Freeform 6"/>
            <p:cNvSpPr/>
            <p:nvPr/>
          </p:nvSpPr>
          <p:spPr>
            <a:xfrm>
              <a:off x="0" y="0"/>
              <a:ext cx="819351" cy="812800"/>
            </a:xfrm>
            <a:custGeom>
              <a:avLst/>
              <a:gdLst/>
              <a:ahLst/>
              <a:cxnLst/>
              <a:rect l="l" t="t" r="r" b="b"/>
              <a:pathLst>
                <a:path w="819351" h="812800">
                  <a:moveTo>
                    <a:pt x="409676" y="0"/>
                  </a:moveTo>
                  <a:cubicBezTo>
                    <a:pt x="183418" y="0"/>
                    <a:pt x="0" y="181951"/>
                    <a:pt x="0" y="406400"/>
                  </a:cubicBezTo>
                  <a:cubicBezTo>
                    <a:pt x="0" y="630849"/>
                    <a:pt x="183418" y="812800"/>
                    <a:pt x="409676" y="812800"/>
                  </a:cubicBezTo>
                  <a:cubicBezTo>
                    <a:pt x="635933" y="812800"/>
                    <a:pt x="819351" y="630849"/>
                    <a:pt x="819351" y="406400"/>
                  </a:cubicBezTo>
                  <a:cubicBezTo>
                    <a:pt x="819351" y="181951"/>
                    <a:pt x="635933" y="0"/>
                    <a:pt x="409676"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814" y="28575"/>
              <a:ext cx="665723" cy="708025"/>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15114601"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6921224" y="9863873"/>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6464379">
            <a:off x="17953122" y="3595580"/>
            <a:ext cx="2283455" cy="22834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rot="6198033">
            <a:off x="17244905" y="4482673"/>
            <a:ext cx="1247033" cy="12470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rot="-3411600">
            <a:off x="13019447" y="665407"/>
            <a:ext cx="608165" cy="60816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rot="6784697">
            <a:off x="-229274" y="9648232"/>
            <a:ext cx="1277535" cy="127753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2" name="Freeform 22"/>
          <p:cNvSpPr/>
          <p:nvPr/>
        </p:nvSpPr>
        <p:spPr>
          <a:xfrm>
            <a:off x="-213486" y="6364431"/>
            <a:ext cx="2042383" cy="1117740"/>
          </a:xfrm>
          <a:custGeom>
            <a:avLst/>
            <a:gdLst/>
            <a:ahLst/>
            <a:cxnLst/>
            <a:rect l="l" t="t" r="r" b="b"/>
            <a:pathLst>
              <a:path w="2042383" h="1117740">
                <a:moveTo>
                  <a:pt x="0" y="0"/>
                </a:moveTo>
                <a:lnTo>
                  <a:pt x="2042383" y="0"/>
                </a:lnTo>
                <a:lnTo>
                  <a:pt x="2042383" y="1117740"/>
                </a:lnTo>
                <a:lnTo>
                  <a:pt x="0" y="111774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4" name="TextBox 24"/>
          <p:cNvSpPr txBox="1"/>
          <p:nvPr/>
        </p:nvSpPr>
        <p:spPr>
          <a:xfrm>
            <a:off x="-906180" y="1199887"/>
            <a:ext cx="12716586" cy="929642"/>
          </a:xfrm>
          <a:prstGeom prst="rect">
            <a:avLst/>
          </a:prstGeom>
        </p:spPr>
        <p:txBody>
          <a:bodyPr lIns="0" tIns="0" rIns="0" bIns="0" rtlCol="0" anchor="t">
            <a:spAutoFit/>
          </a:bodyPr>
          <a:lstStyle/>
          <a:p>
            <a:pPr algn="ctr">
              <a:lnSpc>
                <a:spcPts val="7559"/>
              </a:lnSpc>
              <a:spcBef>
                <a:spcPct val="0"/>
              </a:spcBef>
            </a:pPr>
            <a:r>
              <a:rPr lang="en-US" sz="5399" b="1">
                <a:solidFill>
                  <a:srgbClr val="000000"/>
                </a:solidFill>
                <a:latin typeface="Stinger Fit Bold"/>
                <a:ea typeface="Stinger Fit Bold"/>
                <a:cs typeface="Stinger Fit Bold"/>
                <a:sym typeface="Stinger Fit Bold"/>
              </a:rPr>
              <a:t>Parametos y metodos</a:t>
            </a:r>
          </a:p>
        </p:txBody>
      </p:sp>
      <p:graphicFrame>
        <p:nvGraphicFramePr>
          <p:cNvPr id="25" name="Tabla 24">
            <a:extLst>
              <a:ext uri="{FF2B5EF4-FFF2-40B4-BE49-F238E27FC236}">
                <a16:creationId xmlns:a16="http://schemas.microsoft.com/office/drawing/2014/main" id="{1753CB21-4DE2-DB31-4ECA-5E0DA1160575}"/>
              </a:ext>
            </a:extLst>
          </p:cNvPr>
          <p:cNvGraphicFramePr>
            <a:graphicFrameLocks noGrp="1"/>
          </p:cNvGraphicFramePr>
          <p:nvPr>
            <p:extLst>
              <p:ext uri="{D42A27DB-BD31-4B8C-83A1-F6EECF244321}">
                <p14:modId xmlns:p14="http://schemas.microsoft.com/office/powerpoint/2010/main" val="209172191"/>
              </p:ext>
            </p:extLst>
          </p:nvPr>
        </p:nvGraphicFramePr>
        <p:xfrm>
          <a:off x="1993694" y="2705100"/>
          <a:ext cx="12331905" cy="5257800"/>
        </p:xfrm>
        <a:graphic>
          <a:graphicData uri="http://schemas.openxmlformats.org/drawingml/2006/table">
            <a:tbl>
              <a:tblPr/>
              <a:tblGrid>
                <a:gridCol w="2466381">
                  <a:extLst>
                    <a:ext uri="{9D8B030D-6E8A-4147-A177-3AD203B41FA5}">
                      <a16:colId xmlns:a16="http://schemas.microsoft.com/office/drawing/2014/main" val="3226510942"/>
                    </a:ext>
                  </a:extLst>
                </a:gridCol>
                <a:gridCol w="2466381">
                  <a:extLst>
                    <a:ext uri="{9D8B030D-6E8A-4147-A177-3AD203B41FA5}">
                      <a16:colId xmlns:a16="http://schemas.microsoft.com/office/drawing/2014/main" val="1255671127"/>
                    </a:ext>
                  </a:extLst>
                </a:gridCol>
                <a:gridCol w="2466381">
                  <a:extLst>
                    <a:ext uri="{9D8B030D-6E8A-4147-A177-3AD203B41FA5}">
                      <a16:colId xmlns:a16="http://schemas.microsoft.com/office/drawing/2014/main" val="1335397077"/>
                    </a:ext>
                  </a:extLst>
                </a:gridCol>
                <a:gridCol w="2466381">
                  <a:extLst>
                    <a:ext uri="{9D8B030D-6E8A-4147-A177-3AD203B41FA5}">
                      <a16:colId xmlns:a16="http://schemas.microsoft.com/office/drawing/2014/main" val="2788100726"/>
                    </a:ext>
                  </a:extLst>
                </a:gridCol>
                <a:gridCol w="2466381">
                  <a:extLst>
                    <a:ext uri="{9D8B030D-6E8A-4147-A177-3AD203B41FA5}">
                      <a16:colId xmlns:a16="http://schemas.microsoft.com/office/drawing/2014/main" val="2625816422"/>
                    </a:ext>
                  </a:extLst>
                </a:gridCol>
              </a:tblGrid>
              <a:tr h="1310552">
                <a:tc>
                  <a:txBody>
                    <a:bodyPr/>
                    <a:lstStyle/>
                    <a:p>
                      <a:pPr>
                        <a:buNone/>
                      </a:pPr>
                      <a:r>
                        <a:rPr lang="es-PE" sz="2000" b="1">
                          <a:effectLst/>
                        </a:rPr>
                        <a:t>Perfil Clínico</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buNone/>
                      </a:pPr>
                      <a:r>
                        <a:rPr lang="es-PE" sz="2000" b="1">
                          <a:effectLst/>
                        </a:rPr>
                        <a:t>Umbral Fuerza G</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buNone/>
                      </a:pPr>
                      <a:r>
                        <a:rPr lang="es-PE" sz="2000" b="1">
                          <a:effectLst/>
                        </a:rPr>
                        <a:t>Timeout (tmax)</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buNone/>
                      </a:pPr>
                      <a:r>
                        <a:rPr lang="es-PE" sz="2000" b="1">
                          <a:effectLst/>
                        </a:rPr>
                        <a:t>Población objetivo</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tc>
                  <a:txBody>
                    <a:bodyPr/>
                    <a:lstStyle/>
                    <a:p>
                      <a:pPr>
                        <a:buNone/>
                      </a:pPr>
                      <a:r>
                        <a:rPr lang="es-PE" sz="2000" b="1">
                          <a:effectLst/>
                        </a:rPr>
                        <a:t>Fundamento clínico</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5E8F0"/>
                    </a:solidFill>
                  </a:tcPr>
                </a:tc>
                <a:extLst>
                  <a:ext uri="{0D108BD9-81ED-4DB2-BD59-A6C34878D82A}">
                    <a16:rowId xmlns:a16="http://schemas.microsoft.com/office/drawing/2014/main" val="655852897"/>
                  </a:ext>
                </a:extLst>
              </a:tr>
              <a:tr h="1326144">
                <a:tc>
                  <a:txBody>
                    <a:bodyPr/>
                    <a:lstStyle/>
                    <a:p>
                      <a:pPr>
                        <a:buNone/>
                      </a:pPr>
                      <a:r>
                        <a:rPr lang="es-PE" sz="2000" b="1">
                          <a:effectLst/>
                        </a:rPr>
                        <a:t>Paciente Crítico (Baja Movilidad)</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EE2E2"/>
                    </a:solidFill>
                  </a:tcPr>
                </a:tc>
                <a:tc>
                  <a:txBody>
                    <a:bodyPr/>
                    <a:lstStyle/>
                    <a:p>
                      <a:pPr>
                        <a:buNone/>
                      </a:pPr>
                      <a:r>
                        <a:rPr lang="es-PE" sz="2000">
                          <a:effectLst/>
                        </a:rPr>
                        <a:t>±0.30 G</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3.50 segundos</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ACV agudo, fase inicial</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Procesamiento motor lento, alta sensibilidad requerida</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extLst>
                  <a:ext uri="{0D108BD9-81ED-4DB2-BD59-A6C34878D82A}">
                    <a16:rowId xmlns:a16="http://schemas.microsoft.com/office/drawing/2014/main" val="1495630780"/>
                  </a:ext>
                </a:extLst>
              </a:tr>
              <a:tr h="1310552">
                <a:tc>
                  <a:txBody>
                    <a:bodyPr/>
                    <a:lstStyle/>
                    <a:p>
                      <a:pPr>
                        <a:buNone/>
                      </a:pPr>
                      <a:r>
                        <a:rPr lang="es-PE" sz="2000" b="1">
                          <a:effectLst/>
                        </a:rPr>
                        <a:t>Etapa Intermedia (Evolución Moderada)</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EF3C7"/>
                    </a:solidFill>
                  </a:tcPr>
                </a:tc>
                <a:tc>
                  <a:txBody>
                    <a:bodyPr/>
                    <a:lstStyle/>
                    <a:p>
                      <a:pPr>
                        <a:buNone/>
                      </a:pPr>
                      <a:r>
                        <a:rPr lang="es-PE" sz="2000">
                          <a:effectLst/>
                        </a:rPr>
                        <a:t>±0.55 G</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1.80 segundos</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Rehabilitación en curso</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dirty="0">
                          <a:effectLst/>
                        </a:rPr>
                        <a:t>Parámetros adaptativos de progresión terapéutica</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extLst>
                  <a:ext uri="{0D108BD9-81ED-4DB2-BD59-A6C34878D82A}">
                    <a16:rowId xmlns:a16="http://schemas.microsoft.com/office/drawing/2014/main" val="1734955747"/>
                  </a:ext>
                </a:extLst>
              </a:tr>
              <a:tr h="1310552">
                <a:tc>
                  <a:txBody>
                    <a:bodyPr/>
                    <a:lstStyle/>
                    <a:p>
                      <a:pPr>
                        <a:buNone/>
                      </a:pPr>
                      <a:r>
                        <a:rPr lang="es-PE" sz="2000" b="1">
                          <a:effectLst/>
                        </a:rPr>
                        <a:t>Paciente Recuperado (Alta Exigencia)</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D1FAE5"/>
                    </a:solidFill>
                  </a:tcPr>
                </a:tc>
                <a:tc>
                  <a:txBody>
                    <a:bodyPr/>
                    <a:lstStyle/>
                    <a:p>
                      <a:pPr>
                        <a:buNone/>
                      </a:pPr>
                      <a:r>
                        <a:rPr lang="es-PE" sz="2000">
                          <a:effectLst/>
                        </a:rPr>
                        <a:t>±0.73 G</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0.80 segundos</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a:effectLst/>
                        </a:rPr>
                        <a:t>Fase avanzada / alta</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tc>
                  <a:txBody>
                    <a:bodyPr/>
                    <a:lstStyle/>
                    <a:p>
                      <a:pPr>
                        <a:buNone/>
                      </a:pPr>
                      <a:r>
                        <a:rPr lang="es-PE" sz="2000" dirty="0">
                          <a:effectLst/>
                        </a:rPr>
                        <a:t>Cercano a valores normales de adulto sano</a:t>
                      </a:r>
                    </a:p>
                  </a:txBody>
                  <a:tcPr marL="67815" marR="67815" marT="33908" marB="33908" anchor="ctr">
                    <a:lnL w="12668" cap="flat" cmpd="sng" algn="ctr">
                      <a:solidFill>
                        <a:srgbClr val="C0C8D8"/>
                      </a:solidFill>
                      <a:prstDash val="solid"/>
                      <a:round/>
                      <a:headEnd type="none" w="med" len="med"/>
                      <a:tailEnd type="none" w="med" len="med"/>
                    </a:lnL>
                    <a:lnR w="12668" cap="flat" cmpd="sng" algn="ctr">
                      <a:solidFill>
                        <a:srgbClr val="C0C8D8"/>
                      </a:solidFill>
                      <a:prstDash val="solid"/>
                      <a:round/>
                      <a:headEnd type="none" w="med" len="med"/>
                      <a:tailEnd type="none" w="med" len="med"/>
                    </a:lnR>
                    <a:lnT w="12668" cap="flat" cmpd="sng" algn="ctr">
                      <a:solidFill>
                        <a:srgbClr val="C0C8D8"/>
                      </a:solidFill>
                      <a:prstDash val="solid"/>
                      <a:round/>
                      <a:headEnd type="none" w="med" len="med"/>
                      <a:tailEnd type="none" w="med" len="med"/>
                    </a:lnT>
                    <a:lnB w="12668" cap="flat" cmpd="sng" algn="ctr">
                      <a:solidFill>
                        <a:srgbClr val="C0C8D8"/>
                      </a:solidFill>
                      <a:prstDash val="solid"/>
                      <a:round/>
                      <a:headEnd type="none" w="med" len="med"/>
                      <a:tailEnd type="none" w="med" len="med"/>
                    </a:lnB>
                    <a:solidFill>
                      <a:srgbClr val="FFFFFF"/>
                    </a:solidFill>
                  </a:tcPr>
                </a:tc>
                <a:extLst>
                  <a:ext uri="{0D108BD9-81ED-4DB2-BD59-A6C34878D82A}">
                    <a16:rowId xmlns:a16="http://schemas.microsoft.com/office/drawing/2014/main" val="312039661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2891737">
            <a:off x="8296316" y="-2098661"/>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315169">
            <a:off x="8206034" y="-46980"/>
            <a:ext cx="675492" cy="670091"/>
            <a:chOff x="0" y="0"/>
            <a:chExt cx="819351" cy="812800"/>
          </a:xfrm>
        </p:grpSpPr>
        <p:sp>
          <p:nvSpPr>
            <p:cNvPr id="6" name="Freeform 6"/>
            <p:cNvSpPr/>
            <p:nvPr/>
          </p:nvSpPr>
          <p:spPr>
            <a:xfrm>
              <a:off x="0" y="0"/>
              <a:ext cx="819351" cy="812800"/>
            </a:xfrm>
            <a:custGeom>
              <a:avLst/>
              <a:gdLst/>
              <a:ahLst/>
              <a:cxnLst/>
              <a:rect l="l" t="t" r="r" b="b"/>
              <a:pathLst>
                <a:path w="819351" h="812800">
                  <a:moveTo>
                    <a:pt x="409676" y="0"/>
                  </a:moveTo>
                  <a:cubicBezTo>
                    <a:pt x="183418" y="0"/>
                    <a:pt x="0" y="181951"/>
                    <a:pt x="0" y="406400"/>
                  </a:cubicBezTo>
                  <a:cubicBezTo>
                    <a:pt x="0" y="630849"/>
                    <a:pt x="183418" y="812800"/>
                    <a:pt x="409676" y="812800"/>
                  </a:cubicBezTo>
                  <a:cubicBezTo>
                    <a:pt x="635933" y="812800"/>
                    <a:pt x="819351" y="630849"/>
                    <a:pt x="819351" y="406400"/>
                  </a:cubicBezTo>
                  <a:cubicBezTo>
                    <a:pt x="819351" y="181951"/>
                    <a:pt x="635933" y="0"/>
                    <a:pt x="409676"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814" y="28575"/>
              <a:ext cx="665723" cy="708025"/>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15114601"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6921224" y="9863873"/>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6464379">
            <a:off x="17953122" y="3595580"/>
            <a:ext cx="2283455" cy="22834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rot="6198033">
            <a:off x="17244905" y="4482673"/>
            <a:ext cx="1247033" cy="12470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rot="-3411600">
            <a:off x="13019447" y="665407"/>
            <a:ext cx="608165" cy="60816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a:off x="979453" y="1581701"/>
            <a:ext cx="11464688" cy="2993388"/>
            <a:chOff x="0" y="0"/>
            <a:chExt cx="2358989" cy="615923"/>
          </a:xfrm>
        </p:grpSpPr>
        <p:sp>
          <p:nvSpPr>
            <p:cNvPr id="20" name="Freeform 20"/>
            <p:cNvSpPr/>
            <p:nvPr/>
          </p:nvSpPr>
          <p:spPr>
            <a:xfrm>
              <a:off x="0" y="0"/>
              <a:ext cx="2358989" cy="615923"/>
            </a:xfrm>
            <a:custGeom>
              <a:avLst/>
              <a:gdLst/>
              <a:ahLst/>
              <a:cxnLst/>
              <a:rect l="l" t="t" r="r" b="b"/>
              <a:pathLst>
                <a:path w="2358989" h="615923">
                  <a:moveTo>
                    <a:pt x="13189" y="0"/>
                  </a:moveTo>
                  <a:lnTo>
                    <a:pt x="2345800" y="0"/>
                  </a:lnTo>
                  <a:cubicBezTo>
                    <a:pt x="2353084" y="0"/>
                    <a:pt x="2358989" y="5905"/>
                    <a:pt x="2358989" y="13189"/>
                  </a:cubicBezTo>
                  <a:lnTo>
                    <a:pt x="2358989" y="602734"/>
                  </a:lnTo>
                  <a:cubicBezTo>
                    <a:pt x="2358989" y="606232"/>
                    <a:pt x="2357600" y="609587"/>
                    <a:pt x="2355126" y="612060"/>
                  </a:cubicBezTo>
                  <a:cubicBezTo>
                    <a:pt x="2352653" y="614534"/>
                    <a:pt x="2349298" y="615923"/>
                    <a:pt x="2345800" y="615923"/>
                  </a:cubicBezTo>
                  <a:lnTo>
                    <a:pt x="13189" y="615923"/>
                  </a:lnTo>
                  <a:cubicBezTo>
                    <a:pt x="5905" y="615923"/>
                    <a:pt x="0" y="610018"/>
                    <a:pt x="0" y="602734"/>
                  </a:cubicBezTo>
                  <a:lnTo>
                    <a:pt x="0" y="13189"/>
                  </a:lnTo>
                  <a:cubicBezTo>
                    <a:pt x="0" y="9691"/>
                    <a:pt x="1390" y="6336"/>
                    <a:pt x="3863" y="3863"/>
                  </a:cubicBezTo>
                  <a:cubicBezTo>
                    <a:pt x="6336" y="1390"/>
                    <a:pt x="9691" y="0"/>
                    <a:pt x="13189"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1" name="TextBox 21"/>
            <p:cNvSpPr txBox="1"/>
            <p:nvPr/>
          </p:nvSpPr>
          <p:spPr>
            <a:xfrm>
              <a:off x="0" y="-47625"/>
              <a:ext cx="2358989" cy="663548"/>
            </a:xfrm>
            <a:prstGeom prst="rect">
              <a:avLst/>
            </a:prstGeom>
          </p:spPr>
          <p:txBody>
            <a:bodyPr lIns="50800" tIns="50800" rIns="50800" bIns="50800" rtlCol="0" anchor="ctr"/>
            <a:lstStyle/>
            <a:p>
              <a:pPr algn="ctr">
                <a:lnSpc>
                  <a:spcPts val="3220"/>
                </a:lnSpc>
              </a:pPr>
              <a:endParaRPr/>
            </a:p>
          </p:txBody>
        </p:sp>
      </p:grpSp>
      <p:grpSp>
        <p:nvGrpSpPr>
          <p:cNvPr id="22" name="Group 22"/>
          <p:cNvGrpSpPr/>
          <p:nvPr/>
        </p:nvGrpSpPr>
        <p:grpSpPr>
          <a:xfrm>
            <a:off x="2388407" y="6479026"/>
            <a:ext cx="11624191" cy="3141917"/>
            <a:chOff x="0" y="0"/>
            <a:chExt cx="2077521" cy="561536"/>
          </a:xfrm>
        </p:grpSpPr>
        <p:sp>
          <p:nvSpPr>
            <p:cNvPr id="23" name="Freeform 23"/>
            <p:cNvSpPr/>
            <p:nvPr/>
          </p:nvSpPr>
          <p:spPr>
            <a:xfrm>
              <a:off x="0" y="0"/>
              <a:ext cx="2077521" cy="561536"/>
            </a:xfrm>
            <a:custGeom>
              <a:avLst/>
              <a:gdLst/>
              <a:ahLst/>
              <a:cxnLst/>
              <a:rect l="l" t="t" r="r" b="b"/>
              <a:pathLst>
                <a:path w="2077521" h="561536">
                  <a:moveTo>
                    <a:pt x="13008" y="0"/>
                  </a:moveTo>
                  <a:lnTo>
                    <a:pt x="2064513" y="0"/>
                  </a:lnTo>
                  <a:cubicBezTo>
                    <a:pt x="2067963" y="0"/>
                    <a:pt x="2071271" y="1370"/>
                    <a:pt x="2073711" y="3810"/>
                  </a:cubicBezTo>
                  <a:cubicBezTo>
                    <a:pt x="2076150" y="6250"/>
                    <a:pt x="2077521" y="9558"/>
                    <a:pt x="2077521" y="13008"/>
                  </a:cubicBezTo>
                  <a:lnTo>
                    <a:pt x="2077521" y="548527"/>
                  </a:lnTo>
                  <a:cubicBezTo>
                    <a:pt x="2077521" y="551977"/>
                    <a:pt x="2076150" y="555286"/>
                    <a:pt x="2073711" y="557726"/>
                  </a:cubicBezTo>
                  <a:cubicBezTo>
                    <a:pt x="2071271" y="560165"/>
                    <a:pt x="2067963" y="561536"/>
                    <a:pt x="2064513" y="561536"/>
                  </a:cubicBezTo>
                  <a:lnTo>
                    <a:pt x="13008" y="561536"/>
                  </a:lnTo>
                  <a:cubicBezTo>
                    <a:pt x="9558" y="561536"/>
                    <a:pt x="6250" y="560165"/>
                    <a:pt x="3810" y="557726"/>
                  </a:cubicBezTo>
                  <a:cubicBezTo>
                    <a:pt x="1370" y="555286"/>
                    <a:pt x="0" y="551977"/>
                    <a:pt x="0" y="548527"/>
                  </a:cubicBezTo>
                  <a:lnTo>
                    <a:pt x="0" y="13008"/>
                  </a:lnTo>
                  <a:cubicBezTo>
                    <a:pt x="0" y="9558"/>
                    <a:pt x="1370" y="6250"/>
                    <a:pt x="3810" y="3810"/>
                  </a:cubicBezTo>
                  <a:cubicBezTo>
                    <a:pt x="6250" y="1370"/>
                    <a:pt x="9558" y="0"/>
                    <a:pt x="1300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4" name="TextBox 24"/>
            <p:cNvSpPr txBox="1"/>
            <p:nvPr/>
          </p:nvSpPr>
          <p:spPr>
            <a:xfrm>
              <a:off x="0" y="-47625"/>
              <a:ext cx="2077521" cy="609161"/>
            </a:xfrm>
            <a:prstGeom prst="rect">
              <a:avLst/>
            </a:prstGeom>
          </p:spPr>
          <p:txBody>
            <a:bodyPr lIns="50800" tIns="50800" rIns="50800" bIns="50800" rtlCol="0" anchor="ctr"/>
            <a:lstStyle/>
            <a:p>
              <a:pPr algn="ctr">
                <a:lnSpc>
                  <a:spcPts val="3220"/>
                </a:lnSpc>
              </a:pPr>
              <a:endParaRPr/>
            </a:p>
          </p:txBody>
        </p:sp>
      </p:grpSp>
      <p:grpSp>
        <p:nvGrpSpPr>
          <p:cNvPr id="25" name="Group 25"/>
          <p:cNvGrpSpPr/>
          <p:nvPr/>
        </p:nvGrpSpPr>
        <p:grpSpPr>
          <a:xfrm>
            <a:off x="1117711" y="1820838"/>
            <a:ext cx="358140" cy="358140"/>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2518689" y="6744979"/>
            <a:ext cx="358140" cy="35814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1" name="Group 31"/>
          <p:cNvGrpSpPr/>
          <p:nvPr/>
        </p:nvGrpSpPr>
        <p:grpSpPr>
          <a:xfrm rot="6784697">
            <a:off x="-229274" y="9648232"/>
            <a:ext cx="1277535" cy="127753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4" name="Freeform 34"/>
          <p:cNvSpPr/>
          <p:nvPr/>
        </p:nvSpPr>
        <p:spPr>
          <a:xfrm>
            <a:off x="-213486" y="6364431"/>
            <a:ext cx="2042383" cy="1117740"/>
          </a:xfrm>
          <a:custGeom>
            <a:avLst/>
            <a:gdLst/>
            <a:ahLst/>
            <a:cxnLst/>
            <a:rect l="l" t="t" r="r" b="b"/>
            <a:pathLst>
              <a:path w="2042383" h="1117740">
                <a:moveTo>
                  <a:pt x="0" y="0"/>
                </a:moveTo>
                <a:lnTo>
                  <a:pt x="2042383" y="0"/>
                </a:lnTo>
                <a:lnTo>
                  <a:pt x="2042383" y="1117740"/>
                </a:lnTo>
                <a:lnTo>
                  <a:pt x="0" y="111774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5" name="TextBox 35"/>
          <p:cNvSpPr txBox="1"/>
          <p:nvPr/>
        </p:nvSpPr>
        <p:spPr>
          <a:xfrm>
            <a:off x="1691588" y="1773213"/>
            <a:ext cx="10752554" cy="2514044"/>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Diseñado para la etapa post-ACV temprana con hemiparesia severa, espasticidad y retraso cognitivo-motor. Para capturar la fuerza reducida del paciente, el sistema valida movimientos desde los ±0.30 G (~2.94 m/s²). Además, otorga un tiempo límite extendido de 3.5 segundos por estímulo, respetando el tiempo de procesamiento neurológico y evitando penalizar la lentitud provocada por la lesión.</a:t>
            </a:r>
          </a:p>
        </p:txBody>
      </p:sp>
      <p:sp>
        <p:nvSpPr>
          <p:cNvPr id="36" name="TextBox 36"/>
          <p:cNvSpPr txBox="1"/>
          <p:nvPr/>
        </p:nvSpPr>
        <p:spPr>
          <a:xfrm>
            <a:off x="1117711" y="506729"/>
            <a:ext cx="11326430" cy="929642"/>
          </a:xfrm>
          <a:prstGeom prst="rect">
            <a:avLst/>
          </a:prstGeom>
        </p:spPr>
        <p:txBody>
          <a:bodyPr lIns="0" tIns="0" rIns="0" bIns="0" rtlCol="0" anchor="t">
            <a:spAutoFit/>
          </a:bodyPr>
          <a:lstStyle/>
          <a:p>
            <a:pPr algn="ctr">
              <a:lnSpc>
                <a:spcPts val="7559"/>
              </a:lnSpc>
              <a:spcBef>
                <a:spcPct val="0"/>
              </a:spcBef>
            </a:pPr>
            <a:r>
              <a:rPr lang="en-US" sz="5399" b="1">
                <a:solidFill>
                  <a:srgbClr val="000000"/>
                </a:solidFill>
                <a:latin typeface="Stinger Fit Bold"/>
                <a:ea typeface="Stinger Fit Bold"/>
                <a:cs typeface="Stinger Fit Bold"/>
                <a:sym typeface="Stinger Fit Bold"/>
              </a:rPr>
              <a:t>Paciente Crítico (Baja Movilidad)</a:t>
            </a:r>
          </a:p>
        </p:txBody>
      </p:sp>
      <p:sp>
        <p:nvSpPr>
          <p:cNvPr id="37" name="TextBox 37"/>
          <p:cNvSpPr txBox="1"/>
          <p:nvPr/>
        </p:nvSpPr>
        <p:spPr>
          <a:xfrm>
            <a:off x="3135694" y="6697354"/>
            <a:ext cx="10608693" cy="2514044"/>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Diseñado para la fase de rehabilitación activa en pacientes con movilidad funcional parcial. El sistema eleva la exigencia física con un umbral de ±0.55 G, requiriendo movimientos más decididos y controlados. Además, reduce el tiempo límite a 1.8 segundos por estímulo con el fin de acelerar el procesamiento cognitivo y la velocidad de reacción sin causar frustración.</a:t>
            </a:r>
          </a:p>
        </p:txBody>
      </p:sp>
      <p:sp>
        <p:nvSpPr>
          <p:cNvPr id="38" name="TextBox 38"/>
          <p:cNvSpPr txBox="1"/>
          <p:nvPr/>
        </p:nvSpPr>
        <p:spPr>
          <a:xfrm>
            <a:off x="1165690" y="5115044"/>
            <a:ext cx="12716586" cy="830582"/>
          </a:xfrm>
          <a:prstGeom prst="rect">
            <a:avLst/>
          </a:prstGeom>
        </p:spPr>
        <p:txBody>
          <a:bodyPr lIns="0" tIns="0" rIns="0" bIns="0" rtlCol="0" anchor="t">
            <a:spAutoFit/>
          </a:bodyPr>
          <a:lstStyle/>
          <a:p>
            <a:pPr algn="ctr">
              <a:lnSpc>
                <a:spcPts val="6719"/>
              </a:lnSpc>
              <a:spcBef>
                <a:spcPct val="0"/>
              </a:spcBef>
            </a:pPr>
            <a:r>
              <a:rPr lang="en-US" sz="4799" b="1">
                <a:solidFill>
                  <a:srgbClr val="000000"/>
                </a:solidFill>
                <a:latin typeface="Stinger Fit Bold"/>
                <a:ea typeface="Stinger Fit Bold"/>
                <a:cs typeface="Stinger Fit Bold"/>
                <a:sym typeface="Stinger Fit Bold"/>
              </a:rPr>
              <a:t>Etapa Intermedia (Evolución Moderada)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2891737">
            <a:off x="8296316" y="-2098661"/>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315169">
            <a:off x="8206034" y="-46980"/>
            <a:ext cx="675492" cy="670091"/>
            <a:chOff x="0" y="0"/>
            <a:chExt cx="819351" cy="812800"/>
          </a:xfrm>
        </p:grpSpPr>
        <p:sp>
          <p:nvSpPr>
            <p:cNvPr id="6" name="Freeform 6"/>
            <p:cNvSpPr/>
            <p:nvPr/>
          </p:nvSpPr>
          <p:spPr>
            <a:xfrm>
              <a:off x="0" y="0"/>
              <a:ext cx="819351" cy="812800"/>
            </a:xfrm>
            <a:custGeom>
              <a:avLst/>
              <a:gdLst/>
              <a:ahLst/>
              <a:cxnLst/>
              <a:rect l="l" t="t" r="r" b="b"/>
              <a:pathLst>
                <a:path w="819351" h="812800">
                  <a:moveTo>
                    <a:pt x="409676" y="0"/>
                  </a:moveTo>
                  <a:cubicBezTo>
                    <a:pt x="183418" y="0"/>
                    <a:pt x="0" y="181951"/>
                    <a:pt x="0" y="406400"/>
                  </a:cubicBezTo>
                  <a:cubicBezTo>
                    <a:pt x="0" y="630849"/>
                    <a:pt x="183418" y="812800"/>
                    <a:pt x="409676" y="812800"/>
                  </a:cubicBezTo>
                  <a:cubicBezTo>
                    <a:pt x="635933" y="812800"/>
                    <a:pt x="819351" y="630849"/>
                    <a:pt x="819351" y="406400"/>
                  </a:cubicBezTo>
                  <a:cubicBezTo>
                    <a:pt x="819351" y="181951"/>
                    <a:pt x="635933" y="0"/>
                    <a:pt x="409676"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814" y="28575"/>
              <a:ext cx="665723" cy="708025"/>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15114601"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6921224" y="9863873"/>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6464379">
            <a:off x="17953122" y="3595580"/>
            <a:ext cx="2283455" cy="22834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rot="6198033">
            <a:off x="17244905" y="4482673"/>
            <a:ext cx="1247033" cy="12470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rot="-3411600">
            <a:off x="13019447" y="665407"/>
            <a:ext cx="608165" cy="60816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rot="6784697">
            <a:off x="-229274" y="9648232"/>
            <a:ext cx="1277535" cy="127753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2" name="Freeform 22"/>
          <p:cNvSpPr/>
          <p:nvPr/>
        </p:nvSpPr>
        <p:spPr>
          <a:xfrm>
            <a:off x="-213486" y="6364431"/>
            <a:ext cx="2042383" cy="1117740"/>
          </a:xfrm>
          <a:custGeom>
            <a:avLst/>
            <a:gdLst/>
            <a:ahLst/>
            <a:cxnLst/>
            <a:rect l="l" t="t" r="r" b="b"/>
            <a:pathLst>
              <a:path w="2042383" h="1117740">
                <a:moveTo>
                  <a:pt x="0" y="0"/>
                </a:moveTo>
                <a:lnTo>
                  <a:pt x="2042383" y="0"/>
                </a:lnTo>
                <a:lnTo>
                  <a:pt x="2042383" y="1117740"/>
                </a:lnTo>
                <a:lnTo>
                  <a:pt x="0" y="111774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23" name="Group 23"/>
          <p:cNvGrpSpPr/>
          <p:nvPr/>
        </p:nvGrpSpPr>
        <p:grpSpPr>
          <a:xfrm>
            <a:off x="3493774" y="5295403"/>
            <a:ext cx="11300453" cy="2993388"/>
            <a:chOff x="0" y="0"/>
            <a:chExt cx="15067270" cy="3991183"/>
          </a:xfrm>
        </p:grpSpPr>
        <p:grpSp>
          <p:nvGrpSpPr>
            <p:cNvPr id="24" name="Group 24"/>
            <p:cNvGrpSpPr/>
            <p:nvPr/>
          </p:nvGrpSpPr>
          <p:grpSpPr>
            <a:xfrm>
              <a:off x="0" y="0"/>
              <a:ext cx="15067270" cy="3991183"/>
              <a:chOff x="0" y="0"/>
              <a:chExt cx="2325196" cy="615923"/>
            </a:xfrm>
          </p:grpSpPr>
          <p:sp>
            <p:nvSpPr>
              <p:cNvPr id="25" name="Freeform 25"/>
              <p:cNvSpPr/>
              <p:nvPr/>
            </p:nvSpPr>
            <p:spPr>
              <a:xfrm>
                <a:off x="0" y="0"/>
                <a:ext cx="2325196" cy="615923"/>
              </a:xfrm>
              <a:custGeom>
                <a:avLst/>
                <a:gdLst/>
                <a:ahLst/>
                <a:cxnLst/>
                <a:rect l="l" t="t" r="r" b="b"/>
                <a:pathLst>
                  <a:path w="2325196" h="615923">
                    <a:moveTo>
                      <a:pt x="13381" y="0"/>
                    </a:moveTo>
                    <a:lnTo>
                      <a:pt x="2311815" y="0"/>
                    </a:lnTo>
                    <a:cubicBezTo>
                      <a:pt x="2319205" y="0"/>
                      <a:pt x="2325196" y="5991"/>
                      <a:pt x="2325196" y="13381"/>
                    </a:cubicBezTo>
                    <a:lnTo>
                      <a:pt x="2325196" y="602543"/>
                    </a:lnTo>
                    <a:cubicBezTo>
                      <a:pt x="2325196" y="606091"/>
                      <a:pt x="2323786" y="609495"/>
                      <a:pt x="2321277" y="612004"/>
                    </a:cubicBezTo>
                    <a:cubicBezTo>
                      <a:pt x="2318768" y="614514"/>
                      <a:pt x="2315364" y="615923"/>
                      <a:pt x="2311815" y="615923"/>
                    </a:cubicBezTo>
                    <a:lnTo>
                      <a:pt x="13381" y="615923"/>
                    </a:lnTo>
                    <a:cubicBezTo>
                      <a:pt x="5991" y="615923"/>
                      <a:pt x="0" y="609933"/>
                      <a:pt x="0" y="602543"/>
                    </a:cubicBezTo>
                    <a:lnTo>
                      <a:pt x="0" y="13381"/>
                    </a:lnTo>
                    <a:cubicBezTo>
                      <a:pt x="0" y="5991"/>
                      <a:pt x="5991" y="0"/>
                      <a:pt x="13381"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6" name="TextBox 26"/>
              <p:cNvSpPr txBox="1"/>
              <p:nvPr/>
            </p:nvSpPr>
            <p:spPr>
              <a:xfrm>
                <a:off x="0" y="-47625"/>
                <a:ext cx="2325196" cy="663548"/>
              </a:xfrm>
              <a:prstGeom prst="rect">
                <a:avLst/>
              </a:prstGeom>
            </p:spPr>
            <p:txBody>
              <a:bodyPr lIns="50800" tIns="50800" rIns="50800" bIns="50800" rtlCol="0" anchor="ctr"/>
              <a:lstStyle/>
              <a:p>
                <a:pPr algn="ctr">
                  <a:lnSpc>
                    <a:spcPts val="3220"/>
                  </a:lnSpc>
                </a:pPr>
                <a:endParaRPr/>
              </a:p>
            </p:txBody>
          </p:sp>
        </p:grpSp>
        <p:grpSp>
          <p:nvGrpSpPr>
            <p:cNvPr id="27" name="Group 27"/>
            <p:cNvGrpSpPr/>
            <p:nvPr/>
          </p:nvGrpSpPr>
          <p:grpSpPr>
            <a:xfrm>
              <a:off x="184344" y="318849"/>
              <a:ext cx="477520" cy="47752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0" name="TextBox 30"/>
            <p:cNvSpPr txBox="1"/>
            <p:nvPr/>
          </p:nvSpPr>
          <p:spPr>
            <a:xfrm>
              <a:off x="730532" y="271224"/>
              <a:ext cx="14336738" cy="3336184"/>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Configurado como el estándar para adultos sanos, este perfil aplica un umbral biomecánico de ±0.73 G (basado en la sensibilidad del MPU6050 a ±2G). El límite de respuesta (timeout) se reduce a 0.8 segundos para igualar el rango normativo de reacción de elección simple en sujetos sanos, sirviendo como métrica de alta exigencia para validar el alta médica.</a:t>
              </a:r>
            </a:p>
          </p:txBody>
        </p:sp>
      </p:grpSp>
      <p:sp>
        <p:nvSpPr>
          <p:cNvPr id="31" name="TextBox 31"/>
          <p:cNvSpPr txBox="1"/>
          <p:nvPr/>
        </p:nvSpPr>
        <p:spPr>
          <a:xfrm>
            <a:off x="3381680" y="2770698"/>
            <a:ext cx="11326430" cy="1882142"/>
          </a:xfrm>
          <a:prstGeom prst="rect">
            <a:avLst/>
          </a:prstGeom>
        </p:spPr>
        <p:txBody>
          <a:bodyPr lIns="0" tIns="0" rIns="0" bIns="0" rtlCol="0" anchor="t">
            <a:spAutoFit/>
          </a:bodyPr>
          <a:lstStyle/>
          <a:p>
            <a:pPr algn="ctr">
              <a:lnSpc>
                <a:spcPts val="7559"/>
              </a:lnSpc>
              <a:spcBef>
                <a:spcPct val="0"/>
              </a:spcBef>
            </a:pPr>
            <a:r>
              <a:rPr lang="en-US" sz="5399" b="1">
                <a:solidFill>
                  <a:srgbClr val="000000"/>
                </a:solidFill>
                <a:latin typeface="Stinger Fit Bold"/>
                <a:ea typeface="Stinger Fit Bold"/>
                <a:cs typeface="Stinger Fit Bold"/>
                <a:sym typeface="Stinger Fit Bold"/>
              </a:rPr>
              <a:t>Paciente Recuperado (Alta Exigencia)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2891737">
            <a:off x="8296316" y="-2098661"/>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315169">
            <a:off x="8206034" y="-46980"/>
            <a:ext cx="675492" cy="670091"/>
            <a:chOff x="0" y="0"/>
            <a:chExt cx="819351" cy="812800"/>
          </a:xfrm>
        </p:grpSpPr>
        <p:sp>
          <p:nvSpPr>
            <p:cNvPr id="6" name="Freeform 6"/>
            <p:cNvSpPr/>
            <p:nvPr/>
          </p:nvSpPr>
          <p:spPr>
            <a:xfrm>
              <a:off x="0" y="0"/>
              <a:ext cx="819351" cy="812800"/>
            </a:xfrm>
            <a:custGeom>
              <a:avLst/>
              <a:gdLst/>
              <a:ahLst/>
              <a:cxnLst/>
              <a:rect l="l" t="t" r="r" b="b"/>
              <a:pathLst>
                <a:path w="819351" h="812800">
                  <a:moveTo>
                    <a:pt x="409676" y="0"/>
                  </a:moveTo>
                  <a:cubicBezTo>
                    <a:pt x="183418" y="0"/>
                    <a:pt x="0" y="181951"/>
                    <a:pt x="0" y="406400"/>
                  </a:cubicBezTo>
                  <a:cubicBezTo>
                    <a:pt x="0" y="630849"/>
                    <a:pt x="183418" y="812800"/>
                    <a:pt x="409676" y="812800"/>
                  </a:cubicBezTo>
                  <a:cubicBezTo>
                    <a:pt x="635933" y="812800"/>
                    <a:pt x="819351" y="630849"/>
                    <a:pt x="819351" y="406400"/>
                  </a:cubicBezTo>
                  <a:cubicBezTo>
                    <a:pt x="819351" y="181951"/>
                    <a:pt x="635933" y="0"/>
                    <a:pt x="409676"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814" y="28575"/>
              <a:ext cx="665723" cy="708025"/>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15114601" y="-810342"/>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6921224" y="9863873"/>
            <a:ext cx="979000" cy="245640"/>
          </a:xfrm>
          <a:custGeom>
            <a:avLst/>
            <a:gdLst/>
            <a:ahLst/>
            <a:cxnLst/>
            <a:rect l="l" t="t" r="r" b="b"/>
            <a:pathLst>
              <a:path w="979000" h="245640">
                <a:moveTo>
                  <a:pt x="0" y="0"/>
                </a:moveTo>
                <a:lnTo>
                  <a:pt x="979000" y="0"/>
                </a:lnTo>
                <a:lnTo>
                  <a:pt x="979000" y="245640"/>
                </a:lnTo>
                <a:lnTo>
                  <a:pt x="0" y="24564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6464379">
            <a:off x="17953122" y="3595580"/>
            <a:ext cx="2283455" cy="22834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rot="6198033">
            <a:off x="17244905" y="4482673"/>
            <a:ext cx="1247033" cy="124703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rot="-3411600">
            <a:off x="13019447" y="665407"/>
            <a:ext cx="608165" cy="60816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rot="6784697">
            <a:off x="-229274" y="9648232"/>
            <a:ext cx="1277535" cy="127753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2" name="Freeform 22"/>
          <p:cNvSpPr/>
          <p:nvPr/>
        </p:nvSpPr>
        <p:spPr>
          <a:xfrm>
            <a:off x="-213486" y="6364431"/>
            <a:ext cx="2042383" cy="1117740"/>
          </a:xfrm>
          <a:custGeom>
            <a:avLst/>
            <a:gdLst/>
            <a:ahLst/>
            <a:cxnLst/>
            <a:rect l="l" t="t" r="r" b="b"/>
            <a:pathLst>
              <a:path w="2042383" h="1117740">
                <a:moveTo>
                  <a:pt x="0" y="0"/>
                </a:moveTo>
                <a:lnTo>
                  <a:pt x="2042383" y="0"/>
                </a:lnTo>
                <a:lnTo>
                  <a:pt x="2042383" y="1117740"/>
                </a:lnTo>
                <a:lnTo>
                  <a:pt x="0" y="111774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23" name="Group 23"/>
          <p:cNvGrpSpPr/>
          <p:nvPr/>
        </p:nvGrpSpPr>
        <p:grpSpPr>
          <a:xfrm>
            <a:off x="5985814" y="3066550"/>
            <a:ext cx="11273486" cy="1980560"/>
            <a:chOff x="0" y="0"/>
            <a:chExt cx="15031315" cy="2640746"/>
          </a:xfrm>
        </p:grpSpPr>
        <p:grpSp>
          <p:nvGrpSpPr>
            <p:cNvPr id="24" name="Group 24"/>
            <p:cNvGrpSpPr/>
            <p:nvPr/>
          </p:nvGrpSpPr>
          <p:grpSpPr>
            <a:xfrm>
              <a:off x="0" y="0"/>
              <a:ext cx="14815986" cy="2640746"/>
              <a:chOff x="0" y="0"/>
              <a:chExt cx="2286418" cy="407523"/>
            </a:xfrm>
          </p:grpSpPr>
          <p:sp>
            <p:nvSpPr>
              <p:cNvPr id="25" name="Freeform 25"/>
              <p:cNvSpPr/>
              <p:nvPr/>
            </p:nvSpPr>
            <p:spPr>
              <a:xfrm>
                <a:off x="0" y="0"/>
                <a:ext cx="2286418" cy="407523"/>
              </a:xfrm>
              <a:custGeom>
                <a:avLst/>
                <a:gdLst/>
                <a:ahLst/>
                <a:cxnLst/>
                <a:rect l="l" t="t" r="r" b="b"/>
                <a:pathLst>
                  <a:path w="2286418" h="407523">
                    <a:moveTo>
                      <a:pt x="13608" y="0"/>
                    </a:moveTo>
                    <a:lnTo>
                      <a:pt x="2272810" y="0"/>
                    </a:lnTo>
                    <a:cubicBezTo>
                      <a:pt x="2280325" y="0"/>
                      <a:pt x="2286418" y="6092"/>
                      <a:pt x="2286418" y="13608"/>
                    </a:cubicBezTo>
                    <a:lnTo>
                      <a:pt x="2286418" y="393915"/>
                    </a:lnTo>
                    <a:cubicBezTo>
                      <a:pt x="2286418" y="401430"/>
                      <a:pt x="2280325" y="407523"/>
                      <a:pt x="2272810" y="407523"/>
                    </a:cubicBezTo>
                    <a:lnTo>
                      <a:pt x="13608" y="407523"/>
                    </a:lnTo>
                    <a:cubicBezTo>
                      <a:pt x="6092" y="407523"/>
                      <a:pt x="0" y="401430"/>
                      <a:pt x="0" y="393915"/>
                    </a:cubicBezTo>
                    <a:lnTo>
                      <a:pt x="0" y="13608"/>
                    </a:lnTo>
                    <a:cubicBezTo>
                      <a:pt x="0" y="6092"/>
                      <a:pt x="6092" y="0"/>
                      <a:pt x="1360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26" name="TextBox 26"/>
              <p:cNvSpPr txBox="1"/>
              <p:nvPr/>
            </p:nvSpPr>
            <p:spPr>
              <a:xfrm>
                <a:off x="0" y="-47625"/>
                <a:ext cx="2286418" cy="455148"/>
              </a:xfrm>
              <a:prstGeom prst="rect">
                <a:avLst/>
              </a:prstGeom>
            </p:spPr>
            <p:txBody>
              <a:bodyPr lIns="50800" tIns="50800" rIns="50800" bIns="50800" rtlCol="0" anchor="ctr"/>
              <a:lstStyle/>
              <a:p>
                <a:pPr algn="ctr">
                  <a:lnSpc>
                    <a:spcPts val="3220"/>
                  </a:lnSpc>
                </a:pPr>
                <a:endParaRPr/>
              </a:p>
            </p:txBody>
          </p:sp>
        </p:grpSp>
        <p:grpSp>
          <p:nvGrpSpPr>
            <p:cNvPr id="27" name="Group 27"/>
            <p:cNvGrpSpPr/>
            <p:nvPr/>
          </p:nvGrpSpPr>
          <p:grpSpPr>
            <a:xfrm>
              <a:off x="181270" y="318849"/>
              <a:ext cx="469556" cy="477520"/>
              <a:chOff x="0" y="0"/>
              <a:chExt cx="799245" cy="812800"/>
            </a:xfrm>
          </p:grpSpPr>
          <p:sp>
            <p:nvSpPr>
              <p:cNvPr id="28" name="Freeform 28"/>
              <p:cNvSpPr/>
              <p:nvPr/>
            </p:nvSpPr>
            <p:spPr>
              <a:xfrm>
                <a:off x="0" y="0"/>
                <a:ext cx="799245" cy="812800"/>
              </a:xfrm>
              <a:custGeom>
                <a:avLst/>
                <a:gdLst/>
                <a:ahLst/>
                <a:cxnLst/>
                <a:rect l="l" t="t" r="r" b="b"/>
                <a:pathLst>
                  <a:path w="799245" h="812800">
                    <a:moveTo>
                      <a:pt x="399622" y="0"/>
                    </a:moveTo>
                    <a:cubicBezTo>
                      <a:pt x="178917" y="0"/>
                      <a:pt x="0" y="181951"/>
                      <a:pt x="0" y="406400"/>
                    </a:cubicBezTo>
                    <a:cubicBezTo>
                      <a:pt x="0" y="630849"/>
                      <a:pt x="178917" y="812800"/>
                      <a:pt x="399622" y="812800"/>
                    </a:cubicBezTo>
                    <a:cubicBezTo>
                      <a:pt x="620328" y="812800"/>
                      <a:pt x="799245" y="630849"/>
                      <a:pt x="799245" y="406400"/>
                    </a:cubicBezTo>
                    <a:cubicBezTo>
                      <a:pt x="799245" y="181951"/>
                      <a:pt x="620328" y="0"/>
                      <a:pt x="399622"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29" name="TextBox 29"/>
              <p:cNvSpPr txBox="1"/>
              <p:nvPr/>
            </p:nvSpPr>
            <p:spPr>
              <a:xfrm>
                <a:off x="74929" y="28575"/>
                <a:ext cx="649386" cy="708025"/>
              </a:xfrm>
              <a:prstGeom prst="rect">
                <a:avLst/>
              </a:prstGeom>
            </p:spPr>
            <p:txBody>
              <a:bodyPr lIns="50800" tIns="50800" rIns="50800" bIns="50800" rtlCol="0" anchor="ctr"/>
              <a:lstStyle/>
              <a:p>
                <a:pPr algn="ctr">
                  <a:lnSpc>
                    <a:spcPts val="3220"/>
                  </a:lnSpc>
                </a:pPr>
                <a:endParaRPr/>
              </a:p>
            </p:txBody>
          </p:sp>
        </p:grpSp>
        <p:sp>
          <p:nvSpPr>
            <p:cNvPr id="30" name="TextBox 30"/>
            <p:cNvSpPr txBox="1"/>
            <p:nvPr/>
          </p:nvSpPr>
          <p:spPr>
            <a:xfrm>
              <a:off x="933678" y="222228"/>
              <a:ext cx="14097637" cy="2212896"/>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Para el cálculo de la Métrica de Precisión de Rotación, Donde θ representa el ángulo acumulado en grados, ωeje(i) es la velocidad angular en grados/segunda leída del registro del giroscopio para el eje activo y Δt = 0.05 s es el paso de integración. </a:t>
              </a:r>
            </a:p>
          </p:txBody>
        </p:sp>
      </p:grpSp>
      <p:sp>
        <p:nvSpPr>
          <p:cNvPr id="31" name="Freeform 31"/>
          <p:cNvSpPr/>
          <p:nvPr/>
        </p:nvSpPr>
        <p:spPr>
          <a:xfrm>
            <a:off x="409494" y="3637113"/>
            <a:ext cx="4979364" cy="839433"/>
          </a:xfrm>
          <a:custGeom>
            <a:avLst/>
            <a:gdLst/>
            <a:ahLst/>
            <a:cxnLst/>
            <a:rect l="l" t="t" r="r" b="b"/>
            <a:pathLst>
              <a:path w="4979364" h="839433">
                <a:moveTo>
                  <a:pt x="0" y="0"/>
                </a:moveTo>
                <a:lnTo>
                  <a:pt x="4979364" y="0"/>
                </a:lnTo>
                <a:lnTo>
                  <a:pt x="4979364" y="839433"/>
                </a:lnTo>
                <a:lnTo>
                  <a:pt x="0" y="839433"/>
                </a:lnTo>
                <a:lnTo>
                  <a:pt x="0" y="0"/>
                </a:lnTo>
                <a:close/>
              </a:path>
            </a:pathLst>
          </a:custGeom>
          <a:blipFill>
            <a:blip r:embed="rId4"/>
            <a:stretch>
              <a:fillRect/>
            </a:stretch>
          </a:blipFill>
        </p:spPr>
      </p:sp>
      <p:sp>
        <p:nvSpPr>
          <p:cNvPr id="32" name="Freeform 32"/>
          <p:cNvSpPr/>
          <p:nvPr/>
        </p:nvSpPr>
        <p:spPr>
          <a:xfrm>
            <a:off x="807705" y="6364431"/>
            <a:ext cx="4013554" cy="870737"/>
          </a:xfrm>
          <a:custGeom>
            <a:avLst/>
            <a:gdLst/>
            <a:ahLst/>
            <a:cxnLst/>
            <a:rect l="l" t="t" r="r" b="b"/>
            <a:pathLst>
              <a:path w="4013554" h="870737">
                <a:moveTo>
                  <a:pt x="0" y="0"/>
                </a:moveTo>
                <a:lnTo>
                  <a:pt x="4013554" y="0"/>
                </a:lnTo>
                <a:lnTo>
                  <a:pt x="4013554" y="870737"/>
                </a:lnTo>
                <a:lnTo>
                  <a:pt x="0" y="870737"/>
                </a:lnTo>
                <a:lnTo>
                  <a:pt x="0" y="0"/>
                </a:lnTo>
                <a:close/>
              </a:path>
            </a:pathLst>
          </a:custGeom>
          <a:blipFill>
            <a:blip r:embed="rId5"/>
            <a:stretch>
              <a:fillRect/>
            </a:stretch>
          </a:blipFill>
        </p:spPr>
      </p:sp>
      <p:grpSp>
        <p:nvGrpSpPr>
          <p:cNvPr id="33" name="Group 33"/>
          <p:cNvGrpSpPr/>
          <p:nvPr/>
        </p:nvGrpSpPr>
        <p:grpSpPr>
          <a:xfrm>
            <a:off x="6257370" y="6046927"/>
            <a:ext cx="11273486" cy="1186185"/>
            <a:chOff x="0" y="0"/>
            <a:chExt cx="15031315" cy="1581580"/>
          </a:xfrm>
        </p:grpSpPr>
        <p:grpSp>
          <p:nvGrpSpPr>
            <p:cNvPr id="34" name="Group 34"/>
            <p:cNvGrpSpPr/>
            <p:nvPr/>
          </p:nvGrpSpPr>
          <p:grpSpPr>
            <a:xfrm>
              <a:off x="0" y="0"/>
              <a:ext cx="14815986" cy="1581580"/>
              <a:chOff x="0" y="0"/>
              <a:chExt cx="2286418" cy="244071"/>
            </a:xfrm>
          </p:grpSpPr>
          <p:sp>
            <p:nvSpPr>
              <p:cNvPr id="35" name="Freeform 35"/>
              <p:cNvSpPr/>
              <p:nvPr/>
            </p:nvSpPr>
            <p:spPr>
              <a:xfrm>
                <a:off x="0" y="0"/>
                <a:ext cx="2286418" cy="244071"/>
              </a:xfrm>
              <a:custGeom>
                <a:avLst/>
                <a:gdLst/>
                <a:ahLst/>
                <a:cxnLst/>
                <a:rect l="l" t="t" r="r" b="b"/>
                <a:pathLst>
                  <a:path w="2286418" h="244071">
                    <a:moveTo>
                      <a:pt x="13608" y="0"/>
                    </a:moveTo>
                    <a:lnTo>
                      <a:pt x="2272810" y="0"/>
                    </a:lnTo>
                    <a:cubicBezTo>
                      <a:pt x="2280325" y="0"/>
                      <a:pt x="2286418" y="6092"/>
                      <a:pt x="2286418" y="13608"/>
                    </a:cubicBezTo>
                    <a:lnTo>
                      <a:pt x="2286418" y="230463"/>
                    </a:lnTo>
                    <a:cubicBezTo>
                      <a:pt x="2286418" y="237978"/>
                      <a:pt x="2280325" y="244071"/>
                      <a:pt x="2272810" y="244071"/>
                    </a:cubicBezTo>
                    <a:lnTo>
                      <a:pt x="13608" y="244071"/>
                    </a:lnTo>
                    <a:cubicBezTo>
                      <a:pt x="6092" y="244071"/>
                      <a:pt x="0" y="237978"/>
                      <a:pt x="0" y="230463"/>
                    </a:cubicBezTo>
                    <a:lnTo>
                      <a:pt x="0" y="13608"/>
                    </a:lnTo>
                    <a:cubicBezTo>
                      <a:pt x="0" y="6092"/>
                      <a:pt x="6092" y="0"/>
                      <a:pt x="1360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36" name="TextBox 36"/>
              <p:cNvSpPr txBox="1"/>
              <p:nvPr/>
            </p:nvSpPr>
            <p:spPr>
              <a:xfrm>
                <a:off x="0" y="-47625"/>
                <a:ext cx="2286418" cy="291696"/>
              </a:xfrm>
              <a:prstGeom prst="rect">
                <a:avLst/>
              </a:prstGeom>
            </p:spPr>
            <p:txBody>
              <a:bodyPr lIns="50800" tIns="50800" rIns="50800" bIns="50800" rtlCol="0" anchor="ctr"/>
              <a:lstStyle/>
              <a:p>
                <a:pPr algn="ctr">
                  <a:lnSpc>
                    <a:spcPts val="3220"/>
                  </a:lnSpc>
                </a:pPr>
                <a:endParaRPr/>
              </a:p>
            </p:txBody>
          </p:sp>
        </p:grpSp>
        <p:grpSp>
          <p:nvGrpSpPr>
            <p:cNvPr id="37" name="Group 37"/>
            <p:cNvGrpSpPr/>
            <p:nvPr/>
          </p:nvGrpSpPr>
          <p:grpSpPr>
            <a:xfrm>
              <a:off x="181270" y="318849"/>
              <a:ext cx="469556" cy="477520"/>
              <a:chOff x="0" y="0"/>
              <a:chExt cx="799245" cy="812800"/>
            </a:xfrm>
          </p:grpSpPr>
          <p:sp>
            <p:nvSpPr>
              <p:cNvPr id="38" name="Freeform 38"/>
              <p:cNvSpPr/>
              <p:nvPr/>
            </p:nvSpPr>
            <p:spPr>
              <a:xfrm>
                <a:off x="0" y="0"/>
                <a:ext cx="799245" cy="812800"/>
              </a:xfrm>
              <a:custGeom>
                <a:avLst/>
                <a:gdLst/>
                <a:ahLst/>
                <a:cxnLst/>
                <a:rect l="l" t="t" r="r" b="b"/>
                <a:pathLst>
                  <a:path w="799245" h="812800">
                    <a:moveTo>
                      <a:pt x="399622" y="0"/>
                    </a:moveTo>
                    <a:cubicBezTo>
                      <a:pt x="178917" y="0"/>
                      <a:pt x="0" y="181951"/>
                      <a:pt x="0" y="406400"/>
                    </a:cubicBezTo>
                    <a:cubicBezTo>
                      <a:pt x="0" y="630849"/>
                      <a:pt x="178917" y="812800"/>
                      <a:pt x="399622" y="812800"/>
                    </a:cubicBezTo>
                    <a:cubicBezTo>
                      <a:pt x="620328" y="812800"/>
                      <a:pt x="799245" y="630849"/>
                      <a:pt x="799245" y="406400"/>
                    </a:cubicBezTo>
                    <a:cubicBezTo>
                      <a:pt x="799245" y="181951"/>
                      <a:pt x="620328" y="0"/>
                      <a:pt x="399622"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39" name="TextBox 39"/>
              <p:cNvSpPr txBox="1"/>
              <p:nvPr/>
            </p:nvSpPr>
            <p:spPr>
              <a:xfrm>
                <a:off x="74929" y="28575"/>
                <a:ext cx="649386" cy="708025"/>
              </a:xfrm>
              <a:prstGeom prst="rect">
                <a:avLst/>
              </a:prstGeom>
            </p:spPr>
            <p:txBody>
              <a:bodyPr lIns="50800" tIns="50800" rIns="50800" bIns="50800" rtlCol="0" anchor="ctr"/>
              <a:lstStyle/>
              <a:p>
                <a:pPr algn="ctr">
                  <a:lnSpc>
                    <a:spcPts val="3220"/>
                  </a:lnSpc>
                </a:pPr>
                <a:endParaRPr/>
              </a:p>
            </p:txBody>
          </p:sp>
        </p:grpSp>
        <p:sp>
          <p:nvSpPr>
            <p:cNvPr id="40" name="TextBox 40"/>
            <p:cNvSpPr txBox="1"/>
            <p:nvPr/>
          </p:nvSpPr>
          <p:spPr>
            <a:xfrm>
              <a:off x="933678" y="222228"/>
              <a:ext cx="14097637" cy="1089608"/>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Para la evaluación del control inhibitorio y la estabilidad motora durante los estímulos NO-GO, calcula la magnitud del vector de aceleración</a:t>
              </a:r>
            </a:p>
          </p:txBody>
        </p:sp>
      </p:grpSp>
      <p:sp>
        <p:nvSpPr>
          <p:cNvPr id="41" name="Freeform 41"/>
          <p:cNvSpPr/>
          <p:nvPr/>
        </p:nvSpPr>
        <p:spPr>
          <a:xfrm>
            <a:off x="807705" y="8678934"/>
            <a:ext cx="4458891" cy="912948"/>
          </a:xfrm>
          <a:custGeom>
            <a:avLst/>
            <a:gdLst/>
            <a:ahLst/>
            <a:cxnLst/>
            <a:rect l="l" t="t" r="r" b="b"/>
            <a:pathLst>
              <a:path w="4458891" h="912948">
                <a:moveTo>
                  <a:pt x="0" y="0"/>
                </a:moveTo>
                <a:lnTo>
                  <a:pt x="4458891" y="0"/>
                </a:lnTo>
                <a:lnTo>
                  <a:pt x="4458891" y="912948"/>
                </a:lnTo>
                <a:lnTo>
                  <a:pt x="0" y="912948"/>
                </a:lnTo>
                <a:lnTo>
                  <a:pt x="0" y="0"/>
                </a:lnTo>
                <a:close/>
              </a:path>
            </a:pathLst>
          </a:custGeom>
          <a:blipFill>
            <a:blip r:embed="rId6"/>
            <a:stretch>
              <a:fillRect/>
            </a:stretch>
          </a:blipFill>
        </p:spPr>
      </p:sp>
      <p:sp>
        <p:nvSpPr>
          <p:cNvPr id="42" name="TextBox 42"/>
          <p:cNvSpPr txBox="1"/>
          <p:nvPr/>
        </p:nvSpPr>
        <p:spPr>
          <a:xfrm>
            <a:off x="3480785" y="1122370"/>
            <a:ext cx="11326430" cy="929642"/>
          </a:xfrm>
          <a:prstGeom prst="rect">
            <a:avLst/>
          </a:prstGeom>
        </p:spPr>
        <p:txBody>
          <a:bodyPr lIns="0" tIns="0" rIns="0" bIns="0" rtlCol="0" anchor="t">
            <a:spAutoFit/>
          </a:bodyPr>
          <a:lstStyle/>
          <a:p>
            <a:pPr algn="ctr">
              <a:lnSpc>
                <a:spcPts val="7559"/>
              </a:lnSpc>
              <a:spcBef>
                <a:spcPct val="0"/>
              </a:spcBef>
            </a:pPr>
            <a:r>
              <a:rPr lang="en-US" sz="5399" b="1">
                <a:solidFill>
                  <a:srgbClr val="000000"/>
                </a:solidFill>
                <a:latin typeface="Stinger Fit Bold"/>
                <a:ea typeface="Stinger Fit Bold"/>
                <a:cs typeface="Stinger Fit Bold"/>
                <a:sym typeface="Stinger Fit Bold"/>
              </a:rPr>
              <a:t>Formulas matematicas usadas</a:t>
            </a:r>
          </a:p>
        </p:txBody>
      </p:sp>
      <p:grpSp>
        <p:nvGrpSpPr>
          <p:cNvPr id="43" name="Group 43"/>
          <p:cNvGrpSpPr/>
          <p:nvPr/>
        </p:nvGrpSpPr>
        <p:grpSpPr>
          <a:xfrm>
            <a:off x="6137238" y="8262779"/>
            <a:ext cx="11111990" cy="1940841"/>
            <a:chOff x="0" y="0"/>
            <a:chExt cx="14815986" cy="2587788"/>
          </a:xfrm>
        </p:grpSpPr>
        <p:grpSp>
          <p:nvGrpSpPr>
            <p:cNvPr id="44" name="Group 44"/>
            <p:cNvGrpSpPr/>
            <p:nvPr/>
          </p:nvGrpSpPr>
          <p:grpSpPr>
            <a:xfrm>
              <a:off x="0" y="0"/>
              <a:ext cx="14815986" cy="2587788"/>
              <a:chOff x="0" y="0"/>
              <a:chExt cx="2286418" cy="399350"/>
            </a:xfrm>
          </p:grpSpPr>
          <p:sp>
            <p:nvSpPr>
              <p:cNvPr id="45" name="Freeform 45"/>
              <p:cNvSpPr/>
              <p:nvPr/>
            </p:nvSpPr>
            <p:spPr>
              <a:xfrm>
                <a:off x="0" y="0"/>
                <a:ext cx="2286418" cy="399350"/>
              </a:xfrm>
              <a:custGeom>
                <a:avLst/>
                <a:gdLst/>
                <a:ahLst/>
                <a:cxnLst/>
                <a:rect l="l" t="t" r="r" b="b"/>
                <a:pathLst>
                  <a:path w="2286418" h="399350">
                    <a:moveTo>
                      <a:pt x="13608" y="0"/>
                    </a:moveTo>
                    <a:lnTo>
                      <a:pt x="2272810" y="0"/>
                    </a:lnTo>
                    <a:cubicBezTo>
                      <a:pt x="2280325" y="0"/>
                      <a:pt x="2286418" y="6092"/>
                      <a:pt x="2286418" y="13608"/>
                    </a:cubicBezTo>
                    <a:lnTo>
                      <a:pt x="2286418" y="385742"/>
                    </a:lnTo>
                    <a:cubicBezTo>
                      <a:pt x="2286418" y="393258"/>
                      <a:pt x="2280325" y="399350"/>
                      <a:pt x="2272810" y="399350"/>
                    </a:cubicBezTo>
                    <a:lnTo>
                      <a:pt x="13608" y="399350"/>
                    </a:lnTo>
                    <a:cubicBezTo>
                      <a:pt x="9999" y="399350"/>
                      <a:pt x="6538" y="397916"/>
                      <a:pt x="3986" y="395364"/>
                    </a:cubicBezTo>
                    <a:cubicBezTo>
                      <a:pt x="1434" y="392812"/>
                      <a:pt x="0" y="389351"/>
                      <a:pt x="0" y="385742"/>
                    </a:cubicBezTo>
                    <a:lnTo>
                      <a:pt x="0" y="13608"/>
                    </a:lnTo>
                    <a:cubicBezTo>
                      <a:pt x="0" y="6092"/>
                      <a:pt x="6092" y="0"/>
                      <a:pt x="13608"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46" name="TextBox 46"/>
              <p:cNvSpPr txBox="1"/>
              <p:nvPr/>
            </p:nvSpPr>
            <p:spPr>
              <a:xfrm>
                <a:off x="0" y="-47625"/>
                <a:ext cx="2286418" cy="446975"/>
              </a:xfrm>
              <a:prstGeom prst="rect">
                <a:avLst/>
              </a:prstGeom>
            </p:spPr>
            <p:txBody>
              <a:bodyPr lIns="50800" tIns="50800" rIns="50800" bIns="50800" rtlCol="0" anchor="ctr"/>
              <a:lstStyle/>
              <a:p>
                <a:pPr algn="ctr">
                  <a:lnSpc>
                    <a:spcPts val="3220"/>
                  </a:lnSpc>
                </a:pPr>
                <a:endParaRPr/>
              </a:p>
            </p:txBody>
          </p:sp>
        </p:grpSp>
        <p:grpSp>
          <p:nvGrpSpPr>
            <p:cNvPr id="47" name="Group 47"/>
            <p:cNvGrpSpPr/>
            <p:nvPr/>
          </p:nvGrpSpPr>
          <p:grpSpPr>
            <a:xfrm>
              <a:off x="181270" y="318849"/>
              <a:ext cx="469556" cy="477520"/>
              <a:chOff x="0" y="0"/>
              <a:chExt cx="799245" cy="812800"/>
            </a:xfrm>
          </p:grpSpPr>
          <p:sp>
            <p:nvSpPr>
              <p:cNvPr id="48" name="Freeform 48"/>
              <p:cNvSpPr/>
              <p:nvPr/>
            </p:nvSpPr>
            <p:spPr>
              <a:xfrm>
                <a:off x="0" y="0"/>
                <a:ext cx="799245" cy="812800"/>
              </a:xfrm>
              <a:custGeom>
                <a:avLst/>
                <a:gdLst/>
                <a:ahLst/>
                <a:cxnLst/>
                <a:rect l="l" t="t" r="r" b="b"/>
                <a:pathLst>
                  <a:path w="799245" h="812800">
                    <a:moveTo>
                      <a:pt x="399622" y="0"/>
                    </a:moveTo>
                    <a:cubicBezTo>
                      <a:pt x="178917" y="0"/>
                      <a:pt x="0" y="181951"/>
                      <a:pt x="0" y="406400"/>
                    </a:cubicBezTo>
                    <a:cubicBezTo>
                      <a:pt x="0" y="630849"/>
                      <a:pt x="178917" y="812800"/>
                      <a:pt x="399622" y="812800"/>
                    </a:cubicBezTo>
                    <a:cubicBezTo>
                      <a:pt x="620328" y="812800"/>
                      <a:pt x="799245" y="630849"/>
                      <a:pt x="799245" y="406400"/>
                    </a:cubicBezTo>
                    <a:cubicBezTo>
                      <a:pt x="799245" y="181951"/>
                      <a:pt x="620328" y="0"/>
                      <a:pt x="399622" y="0"/>
                    </a:cubicBezTo>
                    <a:close/>
                  </a:path>
                </a:pathLst>
              </a:custGeom>
              <a:ln w="66675" cap="sq">
                <a:gradFill>
                  <a:gsLst>
                    <a:gs pos="0">
                      <a:srgbClr val="CDFFD8">
                        <a:alpha val="100000"/>
                      </a:srgbClr>
                    </a:gs>
                    <a:gs pos="100000">
                      <a:srgbClr val="94B9FF">
                        <a:alpha val="100000"/>
                      </a:srgbClr>
                    </a:gs>
                  </a:gsLst>
                  <a:lin ang="0"/>
                </a:gradFill>
                <a:prstDash val="solid"/>
                <a:miter/>
              </a:ln>
            </p:spPr>
          </p:sp>
          <p:sp>
            <p:nvSpPr>
              <p:cNvPr id="49" name="TextBox 49"/>
              <p:cNvSpPr txBox="1"/>
              <p:nvPr/>
            </p:nvSpPr>
            <p:spPr>
              <a:xfrm>
                <a:off x="74929" y="28575"/>
                <a:ext cx="649386" cy="708025"/>
              </a:xfrm>
              <a:prstGeom prst="rect">
                <a:avLst/>
              </a:prstGeom>
            </p:spPr>
            <p:txBody>
              <a:bodyPr lIns="50800" tIns="50800" rIns="50800" bIns="50800" rtlCol="0" anchor="ctr"/>
              <a:lstStyle/>
              <a:p>
                <a:pPr algn="ctr">
                  <a:lnSpc>
                    <a:spcPts val="3220"/>
                  </a:lnSpc>
                </a:pPr>
                <a:endParaRPr/>
              </a:p>
            </p:txBody>
          </p:sp>
        </p:grpSp>
        <p:sp>
          <p:nvSpPr>
            <p:cNvPr id="50" name="TextBox 50"/>
            <p:cNvSpPr txBox="1"/>
            <p:nvPr/>
          </p:nvSpPr>
          <p:spPr>
            <a:xfrm>
              <a:off x="933678" y="222228"/>
              <a:ext cx="13882308" cy="2212896"/>
            </a:xfrm>
            <a:prstGeom prst="rect">
              <a:avLst/>
            </a:prstGeom>
          </p:spPr>
          <p:txBody>
            <a:bodyPr lIns="0" tIns="0" rIns="0" bIns="0" rtlCol="0" anchor="t">
              <a:spAutoFit/>
            </a:bodyPr>
            <a:lstStyle/>
            <a:p>
              <a:pPr algn="l">
                <a:lnSpc>
                  <a:spcPts val="3361"/>
                </a:lnSpc>
              </a:pPr>
              <a:r>
                <a:rPr lang="en-US" sz="2400" b="1">
                  <a:solidFill>
                    <a:srgbClr val="FFFFFF"/>
                  </a:solidFill>
                  <a:latin typeface="Inter Medium"/>
                  <a:ea typeface="Inter Medium"/>
                  <a:cs typeface="Inter Medium"/>
                  <a:sym typeface="Inter Medium"/>
                </a:rPr>
                <a:t>Se calcula la Tasa de Temblor, Donde N es el número total de muestras acumuladas en la ventana NO-GO y M̄ es la media aritmética de las magnitudes, Una varianza Var(M) → 0 indica estabilidad motora excelente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608845" y="1659231"/>
            <a:ext cx="13498938" cy="8434798"/>
            <a:chOff x="0" y="0"/>
            <a:chExt cx="1242296" cy="776247"/>
          </a:xfrm>
        </p:grpSpPr>
        <p:sp>
          <p:nvSpPr>
            <p:cNvPr id="3" name="Freeform 3"/>
            <p:cNvSpPr/>
            <p:nvPr/>
          </p:nvSpPr>
          <p:spPr>
            <a:xfrm>
              <a:off x="0" y="0"/>
              <a:ext cx="1242296" cy="776247"/>
            </a:xfrm>
            <a:custGeom>
              <a:avLst/>
              <a:gdLst/>
              <a:ahLst/>
              <a:cxnLst/>
              <a:rect l="l" t="t" r="r" b="b"/>
              <a:pathLst>
                <a:path w="1242296" h="776247">
                  <a:moveTo>
                    <a:pt x="13191" y="0"/>
                  </a:moveTo>
                  <a:lnTo>
                    <a:pt x="1229105" y="0"/>
                  </a:lnTo>
                  <a:cubicBezTo>
                    <a:pt x="1236390" y="0"/>
                    <a:pt x="1242296" y="5906"/>
                    <a:pt x="1242296" y="13191"/>
                  </a:cubicBezTo>
                  <a:lnTo>
                    <a:pt x="1242296" y="763056"/>
                  </a:lnTo>
                  <a:cubicBezTo>
                    <a:pt x="1242296" y="770341"/>
                    <a:pt x="1236390" y="776247"/>
                    <a:pt x="1229105" y="776247"/>
                  </a:cubicBezTo>
                  <a:lnTo>
                    <a:pt x="13191" y="776247"/>
                  </a:lnTo>
                  <a:cubicBezTo>
                    <a:pt x="9693" y="776247"/>
                    <a:pt x="6337" y="774857"/>
                    <a:pt x="3864" y="772384"/>
                  </a:cubicBezTo>
                  <a:cubicBezTo>
                    <a:pt x="1390" y="769910"/>
                    <a:pt x="0" y="766555"/>
                    <a:pt x="0" y="763056"/>
                  </a:cubicBezTo>
                  <a:lnTo>
                    <a:pt x="0" y="13191"/>
                  </a:lnTo>
                  <a:cubicBezTo>
                    <a:pt x="0" y="5906"/>
                    <a:pt x="5906" y="0"/>
                    <a:pt x="13191" y="0"/>
                  </a:cubicBezTo>
                  <a:close/>
                </a:path>
              </a:pathLst>
            </a:custGeom>
            <a:blipFill>
              <a:blip r:embed="rId2"/>
              <a:stretch>
                <a:fillRect t="-3346" b="-3346"/>
              </a:stretch>
            </a:blipFill>
          </p:spPr>
        </p:sp>
      </p:grpSp>
      <p:sp>
        <p:nvSpPr>
          <p:cNvPr id="4" name="TextBox 4"/>
          <p:cNvSpPr txBox="1"/>
          <p:nvPr/>
        </p:nvSpPr>
        <p:spPr>
          <a:xfrm>
            <a:off x="0" y="564491"/>
            <a:ext cx="8358314" cy="1094740"/>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Inter Bold"/>
                <a:ea typeface="Inter Bold"/>
                <a:cs typeface="Inter Bold"/>
                <a:sym typeface="Inter Bold"/>
              </a:rPr>
              <a:t>Diagrama de roles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3411600">
            <a:off x="17403427" y="4417290"/>
            <a:ext cx="921989" cy="92198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3411600">
            <a:off x="-5001" y="9562060"/>
            <a:ext cx="608165" cy="60816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6984490" y="-1518820"/>
            <a:ext cx="2644809" cy="264480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17" name="Freeform 17"/>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18" name="Freeform 18"/>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19" name="Group 19"/>
          <p:cNvGrpSpPr/>
          <p:nvPr/>
        </p:nvGrpSpPr>
        <p:grpSpPr>
          <a:xfrm rot="-3411600">
            <a:off x="-1331536" y="702168"/>
            <a:ext cx="1980044" cy="198004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2" name="Group 22"/>
          <p:cNvGrpSpPr/>
          <p:nvPr/>
        </p:nvGrpSpPr>
        <p:grpSpPr>
          <a:xfrm>
            <a:off x="1028700" y="3265431"/>
            <a:ext cx="8619064" cy="5351159"/>
            <a:chOff x="0" y="0"/>
            <a:chExt cx="966431" cy="600010"/>
          </a:xfrm>
        </p:grpSpPr>
        <p:sp>
          <p:nvSpPr>
            <p:cNvPr id="23" name="Freeform 23"/>
            <p:cNvSpPr/>
            <p:nvPr/>
          </p:nvSpPr>
          <p:spPr>
            <a:xfrm>
              <a:off x="0" y="0"/>
              <a:ext cx="966431" cy="600010"/>
            </a:xfrm>
            <a:custGeom>
              <a:avLst/>
              <a:gdLst/>
              <a:ahLst/>
              <a:cxnLst/>
              <a:rect l="l" t="t" r="r" b="b"/>
              <a:pathLst>
                <a:path w="966431" h="600010">
                  <a:moveTo>
                    <a:pt x="20659" y="0"/>
                  </a:moveTo>
                  <a:lnTo>
                    <a:pt x="945772" y="0"/>
                  </a:lnTo>
                  <a:cubicBezTo>
                    <a:pt x="951251" y="0"/>
                    <a:pt x="956506" y="2177"/>
                    <a:pt x="960380" y="6051"/>
                  </a:cubicBezTo>
                  <a:cubicBezTo>
                    <a:pt x="964255" y="9925"/>
                    <a:pt x="966431" y="15180"/>
                    <a:pt x="966431" y="20659"/>
                  </a:cubicBezTo>
                  <a:lnTo>
                    <a:pt x="966431" y="579351"/>
                  </a:lnTo>
                  <a:cubicBezTo>
                    <a:pt x="966431" y="590761"/>
                    <a:pt x="957182" y="600010"/>
                    <a:pt x="945772" y="600010"/>
                  </a:cubicBezTo>
                  <a:lnTo>
                    <a:pt x="20659" y="600010"/>
                  </a:lnTo>
                  <a:cubicBezTo>
                    <a:pt x="15180" y="600010"/>
                    <a:pt x="9925" y="597834"/>
                    <a:pt x="6051" y="593959"/>
                  </a:cubicBezTo>
                  <a:cubicBezTo>
                    <a:pt x="2177" y="590085"/>
                    <a:pt x="0" y="584830"/>
                    <a:pt x="0" y="579351"/>
                  </a:cubicBezTo>
                  <a:lnTo>
                    <a:pt x="0" y="20659"/>
                  </a:lnTo>
                  <a:cubicBezTo>
                    <a:pt x="0" y="9250"/>
                    <a:pt x="9250" y="0"/>
                    <a:pt x="20659" y="0"/>
                  </a:cubicBezTo>
                  <a:close/>
                </a:path>
              </a:pathLst>
            </a:custGeom>
            <a:blipFill>
              <a:blip r:embed="rId3"/>
              <a:stretch>
                <a:fillRect l="-11889" r="-11889"/>
              </a:stretch>
            </a:blipFill>
          </p:spPr>
        </p:sp>
      </p:grpSp>
      <p:grpSp>
        <p:nvGrpSpPr>
          <p:cNvPr id="24" name="Group 24"/>
          <p:cNvGrpSpPr/>
          <p:nvPr/>
        </p:nvGrpSpPr>
        <p:grpSpPr>
          <a:xfrm>
            <a:off x="11432546" y="2836573"/>
            <a:ext cx="4009066" cy="6536147"/>
            <a:chOff x="0" y="0"/>
            <a:chExt cx="523168" cy="852942"/>
          </a:xfrm>
        </p:grpSpPr>
        <p:sp>
          <p:nvSpPr>
            <p:cNvPr id="25" name="Freeform 25"/>
            <p:cNvSpPr/>
            <p:nvPr/>
          </p:nvSpPr>
          <p:spPr>
            <a:xfrm>
              <a:off x="0" y="0"/>
              <a:ext cx="523168" cy="852942"/>
            </a:xfrm>
            <a:custGeom>
              <a:avLst/>
              <a:gdLst/>
              <a:ahLst/>
              <a:cxnLst/>
              <a:rect l="l" t="t" r="r" b="b"/>
              <a:pathLst>
                <a:path w="523168" h="852942">
                  <a:moveTo>
                    <a:pt x="44415" y="0"/>
                  </a:moveTo>
                  <a:lnTo>
                    <a:pt x="478752" y="0"/>
                  </a:lnTo>
                  <a:cubicBezTo>
                    <a:pt x="490532" y="0"/>
                    <a:pt x="501829" y="4679"/>
                    <a:pt x="510159" y="13009"/>
                  </a:cubicBezTo>
                  <a:cubicBezTo>
                    <a:pt x="518488" y="21338"/>
                    <a:pt x="523168" y="32636"/>
                    <a:pt x="523168" y="44415"/>
                  </a:cubicBezTo>
                  <a:lnTo>
                    <a:pt x="523168" y="808526"/>
                  </a:lnTo>
                  <a:cubicBezTo>
                    <a:pt x="523168" y="820306"/>
                    <a:pt x="518488" y="831603"/>
                    <a:pt x="510159" y="839933"/>
                  </a:cubicBezTo>
                  <a:cubicBezTo>
                    <a:pt x="501829" y="848262"/>
                    <a:pt x="490532" y="852942"/>
                    <a:pt x="478752" y="852942"/>
                  </a:cubicBezTo>
                  <a:lnTo>
                    <a:pt x="44415" y="852942"/>
                  </a:lnTo>
                  <a:cubicBezTo>
                    <a:pt x="32636" y="852942"/>
                    <a:pt x="21338" y="848262"/>
                    <a:pt x="13009" y="839933"/>
                  </a:cubicBezTo>
                  <a:cubicBezTo>
                    <a:pt x="4679" y="831603"/>
                    <a:pt x="0" y="820306"/>
                    <a:pt x="0" y="808526"/>
                  </a:cubicBezTo>
                  <a:lnTo>
                    <a:pt x="0" y="44415"/>
                  </a:lnTo>
                  <a:cubicBezTo>
                    <a:pt x="0" y="32636"/>
                    <a:pt x="4679" y="21338"/>
                    <a:pt x="13009" y="13009"/>
                  </a:cubicBezTo>
                  <a:cubicBezTo>
                    <a:pt x="21338" y="4679"/>
                    <a:pt x="32636" y="0"/>
                    <a:pt x="44415" y="0"/>
                  </a:cubicBezTo>
                  <a:close/>
                </a:path>
              </a:pathLst>
            </a:custGeom>
            <a:blipFill>
              <a:blip r:embed="rId4"/>
              <a:stretch>
                <a:fillRect l="-820" r="-820"/>
              </a:stretch>
            </a:blipFill>
          </p:spPr>
        </p:sp>
      </p:grpSp>
      <p:sp>
        <p:nvSpPr>
          <p:cNvPr id="26" name="TextBox 26"/>
          <p:cNvSpPr txBox="1"/>
          <p:nvPr/>
        </p:nvSpPr>
        <p:spPr>
          <a:xfrm>
            <a:off x="455167" y="13797"/>
            <a:ext cx="13826723" cy="1104268"/>
          </a:xfrm>
          <a:prstGeom prst="rect">
            <a:avLst/>
          </a:prstGeom>
        </p:spPr>
        <p:txBody>
          <a:bodyPr lIns="0" tIns="0" rIns="0" bIns="0" rtlCol="0" anchor="t">
            <a:spAutoFit/>
          </a:bodyPr>
          <a:lstStyle/>
          <a:p>
            <a:pPr algn="ctr">
              <a:lnSpc>
                <a:spcPts val="8959"/>
              </a:lnSpc>
              <a:spcBef>
                <a:spcPct val="0"/>
              </a:spcBef>
            </a:pPr>
            <a:r>
              <a:rPr lang="en-US" sz="6399" b="1">
                <a:solidFill>
                  <a:srgbClr val="000000"/>
                </a:solidFill>
                <a:latin typeface="Stinger Fit Bold"/>
                <a:ea typeface="Stinger Fit Bold"/>
                <a:cs typeface="Stinger Fit Bold"/>
                <a:sym typeface="Stinger Fit Bold"/>
              </a:rPr>
              <a:t>Visualización de la Pagina Web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227271">
            <a:off x="9277703" y="-1169654"/>
            <a:ext cx="2339308" cy="23393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93617">
            <a:off x="9808589" y="-67770"/>
            <a:ext cx="1277535" cy="127753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7403427" y="4417290"/>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3411600">
            <a:off x="-5001" y="9562060"/>
            <a:ext cx="608165" cy="6081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16984490" y="-1518820"/>
            <a:ext cx="2644809" cy="26448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4" name="Freeform 24"/>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25" name="Group 25"/>
          <p:cNvGrpSpPr/>
          <p:nvPr/>
        </p:nvGrpSpPr>
        <p:grpSpPr>
          <a:xfrm rot="-3411600">
            <a:off x="-1331536" y="702168"/>
            <a:ext cx="1980044" cy="19800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537394" y="570998"/>
            <a:ext cx="10970676" cy="5351159"/>
            <a:chOff x="0" y="0"/>
            <a:chExt cx="1230111" cy="600010"/>
          </a:xfrm>
        </p:grpSpPr>
        <p:sp>
          <p:nvSpPr>
            <p:cNvPr id="29" name="Freeform 29"/>
            <p:cNvSpPr/>
            <p:nvPr/>
          </p:nvSpPr>
          <p:spPr>
            <a:xfrm>
              <a:off x="0" y="0"/>
              <a:ext cx="1230111" cy="600010"/>
            </a:xfrm>
            <a:custGeom>
              <a:avLst/>
              <a:gdLst/>
              <a:ahLst/>
              <a:cxnLst/>
              <a:rect l="l" t="t" r="r" b="b"/>
              <a:pathLst>
                <a:path w="1230111" h="600010">
                  <a:moveTo>
                    <a:pt x="16231" y="0"/>
                  </a:moveTo>
                  <a:lnTo>
                    <a:pt x="1213880" y="0"/>
                  </a:lnTo>
                  <a:cubicBezTo>
                    <a:pt x="1222844" y="0"/>
                    <a:pt x="1230111" y="7267"/>
                    <a:pt x="1230111" y="16231"/>
                  </a:cubicBezTo>
                  <a:lnTo>
                    <a:pt x="1230111" y="583779"/>
                  </a:lnTo>
                  <a:cubicBezTo>
                    <a:pt x="1230111" y="592743"/>
                    <a:pt x="1222844" y="600010"/>
                    <a:pt x="1213880" y="600010"/>
                  </a:cubicBezTo>
                  <a:lnTo>
                    <a:pt x="16231" y="600010"/>
                  </a:lnTo>
                  <a:cubicBezTo>
                    <a:pt x="7267" y="600010"/>
                    <a:pt x="0" y="592743"/>
                    <a:pt x="0" y="583779"/>
                  </a:cubicBezTo>
                  <a:lnTo>
                    <a:pt x="0" y="16231"/>
                  </a:lnTo>
                  <a:cubicBezTo>
                    <a:pt x="0" y="7267"/>
                    <a:pt x="7267" y="0"/>
                    <a:pt x="16231" y="0"/>
                  </a:cubicBezTo>
                  <a:close/>
                </a:path>
              </a:pathLst>
            </a:custGeom>
            <a:blipFill>
              <a:blip r:embed="rId3"/>
              <a:stretch>
                <a:fillRect t="-36" b="-36"/>
              </a:stretch>
            </a:blipFill>
          </p:spPr>
        </p:sp>
      </p:grpSp>
      <p:grpSp>
        <p:nvGrpSpPr>
          <p:cNvPr id="30" name="Group 30"/>
          <p:cNvGrpSpPr/>
          <p:nvPr/>
        </p:nvGrpSpPr>
        <p:grpSpPr>
          <a:xfrm>
            <a:off x="6893745" y="4358619"/>
            <a:ext cx="10970676" cy="5796547"/>
            <a:chOff x="0" y="0"/>
            <a:chExt cx="1230111" cy="649950"/>
          </a:xfrm>
        </p:grpSpPr>
        <p:sp>
          <p:nvSpPr>
            <p:cNvPr id="31" name="Freeform 31"/>
            <p:cNvSpPr/>
            <p:nvPr/>
          </p:nvSpPr>
          <p:spPr>
            <a:xfrm>
              <a:off x="0" y="0"/>
              <a:ext cx="1230111" cy="649950"/>
            </a:xfrm>
            <a:custGeom>
              <a:avLst/>
              <a:gdLst/>
              <a:ahLst/>
              <a:cxnLst/>
              <a:rect l="l" t="t" r="r" b="b"/>
              <a:pathLst>
                <a:path w="1230111" h="649950">
                  <a:moveTo>
                    <a:pt x="16231" y="0"/>
                  </a:moveTo>
                  <a:lnTo>
                    <a:pt x="1213880" y="0"/>
                  </a:lnTo>
                  <a:cubicBezTo>
                    <a:pt x="1222844" y="0"/>
                    <a:pt x="1230111" y="7267"/>
                    <a:pt x="1230111" y="16231"/>
                  </a:cubicBezTo>
                  <a:lnTo>
                    <a:pt x="1230111" y="633719"/>
                  </a:lnTo>
                  <a:cubicBezTo>
                    <a:pt x="1230111" y="642684"/>
                    <a:pt x="1222844" y="649950"/>
                    <a:pt x="1213880" y="649950"/>
                  </a:cubicBezTo>
                  <a:lnTo>
                    <a:pt x="16231" y="649950"/>
                  </a:lnTo>
                  <a:cubicBezTo>
                    <a:pt x="11926" y="649950"/>
                    <a:pt x="7798" y="648240"/>
                    <a:pt x="4754" y="645196"/>
                  </a:cubicBezTo>
                  <a:cubicBezTo>
                    <a:pt x="1710" y="642153"/>
                    <a:pt x="0" y="638024"/>
                    <a:pt x="0" y="633719"/>
                  </a:cubicBezTo>
                  <a:lnTo>
                    <a:pt x="0" y="16231"/>
                  </a:lnTo>
                  <a:cubicBezTo>
                    <a:pt x="0" y="7267"/>
                    <a:pt x="7267" y="0"/>
                    <a:pt x="16231" y="0"/>
                  </a:cubicBezTo>
                  <a:close/>
                </a:path>
              </a:pathLst>
            </a:custGeom>
            <a:blipFill>
              <a:blip r:embed="rId4"/>
              <a:stretch>
                <a:fillRect t="-944" b="-944"/>
              </a:stretch>
            </a:blipFill>
          </p:spPr>
        </p:sp>
      </p:grpSp>
      <p:sp>
        <p:nvSpPr>
          <p:cNvPr id="32" name="TextBox 32"/>
          <p:cNvSpPr txBox="1"/>
          <p:nvPr/>
        </p:nvSpPr>
        <p:spPr>
          <a:xfrm>
            <a:off x="12098474" y="1311733"/>
            <a:ext cx="4894934" cy="1934845"/>
          </a:xfrm>
          <a:prstGeom prst="rect">
            <a:avLst/>
          </a:prstGeom>
        </p:spPr>
        <p:txBody>
          <a:bodyPr lIns="0" tIns="0" rIns="0" bIns="0" rtlCol="0" anchor="t">
            <a:spAutoFit/>
          </a:bodyPr>
          <a:lstStyle/>
          <a:p>
            <a:pPr algn="ctr">
              <a:lnSpc>
                <a:spcPts val="3080"/>
              </a:lnSpc>
              <a:spcBef>
                <a:spcPct val="0"/>
              </a:spcBef>
            </a:pPr>
            <a:r>
              <a:rPr lang="en-US" sz="2200" b="1">
                <a:solidFill>
                  <a:srgbClr val="000000"/>
                </a:solidFill>
                <a:latin typeface="Inter Bold"/>
                <a:ea typeface="Inter Bold"/>
                <a:cs typeface="Inter Bold"/>
                <a:sym typeface="Inter Bold"/>
              </a:rPr>
              <a:t>La primera pagina vemos a los pacientes en los que podemos agregar pacientes y tambien ver su historial como su asignación de ejercicios</a:t>
            </a:r>
          </a:p>
        </p:txBody>
      </p:sp>
      <p:sp>
        <p:nvSpPr>
          <p:cNvPr id="33" name="TextBox 33"/>
          <p:cNvSpPr txBox="1"/>
          <p:nvPr/>
        </p:nvSpPr>
        <p:spPr>
          <a:xfrm>
            <a:off x="719939" y="6843459"/>
            <a:ext cx="4894934" cy="2325370"/>
          </a:xfrm>
          <a:prstGeom prst="rect">
            <a:avLst/>
          </a:prstGeom>
        </p:spPr>
        <p:txBody>
          <a:bodyPr lIns="0" tIns="0" rIns="0" bIns="0" rtlCol="0" anchor="t">
            <a:spAutoFit/>
          </a:bodyPr>
          <a:lstStyle/>
          <a:p>
            <a:pPr algn="ctr">
              <a:lnSpc>
                <a:spcPts val="3080"/>
              </a:lnSpc>
              <a:spcBef>
                <a:spcPct val="0"/>
              </a:spcBef>
            </a:pPr>
            <a:r>
              <a:rPr lang="en-US" sz="2200" b="1">
                <a:solidFill>
                  <a:srgbClr val="000000"/>
                </a:solidFill>
                <a:latin typeface="Inter Bold"/>
                <a:ea typeface="Inter Bold"/>
                <a:cs typeface="Inter Bold"/>
                <a:sym typeface="Inter Bold"/>
              </a:rPr>
              <a:t>En la segunda vista podemos observar la inicializacion de una nueva secion en la que configuramos los parametros de acuerdo a la condición de la persona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7502008">
            <a:off x="17339093" y="7769698"/>
            <a:ext cx="2610545" cy="261054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rot="-5078575">
            <a:off x="16811654" y="7894219"/>
            <a:ext cx="1444742" cy="14447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rot="-5227271">
            <a:off x="9277703" y="-1169654"/>
            <a:ext cx="2339308" cy="233930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1" name="Group 11"/>
          <p:cNvGrpSpPr/>
          <p:nvPr/>
        </p:nvGrpSpPr>
        <p:grpSpPr>
          <a:xfrm rot="-5493617">
            <a:off x="9808589" y="-67770"/>
            <a:ext cx="1277535" cy="127753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4" name="Group 14"/>
          <p:cNvGrpSpPr/>
          <p:nvPr/>
        </p:nvGrpSpPr>
        <p:grpSpPr>
          <a:xfrm rot="-3411600">
            <a:off x="17403427" y="4417290"/>
            <a:ext cx="921989" cy="9219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7" name="Group 17"/>
          <p:cNvGrpSpPr/>
          <p:nvPr/>
        </p:nvGrpSpPr>
        <p:grpSpPr>
          <a:xfrm rot="-3411600">
            <a:off x="-5001" y="9562060"/>
            <a:ext cx="608165" cy="60816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0" name="Group 20"/>
          <p:cNvGrpSpPr/>
          <p:nvPr/>
        </p:nvGrpSpPr>
        <p:grpSpPr>
          <a:xfrm rot="-3411600">
            <a:off x="16984490" y="-1518820"/>
            <a:ext cx="2644809" cy="26448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3" name="Freeform 23"/>
          <p:cNvSpPr/>
          <p:nvPr/>
        </p:nvSpPr>
        <p:spPr>
          <a:xfrm>
            <a:off x="16952562" y="1441872"/>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4" name="Freeform 24"/>
          <p:cNvSpPr/>
          <p:nvPr/>
        </p:nvSpPr>
        <p:spPr>
          <a:xfrm>
            <a:off x="-2989725" y="3476088"/>
            <a:ext cx="4662775" cy="4662775"/>
          </a:xfrm>
          <a:custGeom>
            <a:avLst/>
            <a:gdLst/>
            <a:ahLst/>
            <a:cxnLst/>
            <a:rect l="l" t="t" r="r" b="b"/>
            <a:pathLst>
              <a:path w="4662775" h="4662775">
                <a:moveTo>
                  <a:pt x="0" y="0"/>
                </a:moveTo>
                <a:lnTo>
                  <a:pt x="4662775" y="0"/>
                </a:lnTo>
                <a:lnTo>
                  <a:pt x="4662775"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25" name="Group 25"/>
          <p:cNvGrpSpPr/>
          <p:nvPr/>
        </p:nvGrpSpPr>
        <p:grpSpPr>
          <a:xfrm rot="-3411600">
            <a:off x="-1331536" y="702168"/>
            <a:ext cx="1980044" cy="198004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a:off x="418238" y="321976"/>
            <a:ext cx="11089832" cy="5600181"/>
            <a:chOff x="0" y="0"/>
            <a:chExt cx="1243471" cy="627932"/>
          </a:xfrm>
        </p:grpSpPr>
        <p:sp>
          <p:nvSpPr>
            <p:cNvPr id="29" name="Freeform 29"/>
            <p:cNvSpPr/>
            <p:nvPr/>
          </p:nvSpPr>
          <p:spPr>
            <a:xfrm>
              <a:off x="0" y="0"/>
              <a:ext cx="1243471" cy="627932"/>
            </a:xfrm>
            <a:custGeom>
              <a:avLst/>
              <a:gdLst/>
              <a:ahLst/>
              <a:cxnLst/>
              <a:rect l="l" t="t" r="r" b="b"/>
              <a:pathLst>
                <a:path w="1243471" h="627932">
                  <a:moveTo>
                    <a:pt x="16057" y="0"/>
                  </a:moveTo>
                  <a:lnTo>
                    <a:pt x="1227415" y="0"/>
                  </a:lnTo>
                  <a:cubicBezTo>
                    <a:pt x="1236283" y="0"/>
                    <a:pt x="1243471" y="7189"/>
                    <a:pt x="1243471" y="16057"/>
                  </a:cubicBezTo>
                  <a:lnTo>
                    <a:pt x="1243471" y="611876"/>
                  </a:lnTo>
                  <a:cubicBezTo>
                    <a:pt x="1243471" y="616134"/>
                    <a:pt x="1241780" y="620218"/>
                    <a:pt x="1238769" y="623229"/>
                  </a:cubicBezTo>
                  <a:cubicBezTo>
                    <a:pt x="1235757" y="626241"/>
                    <a:pt x="1231673" y="627932"/>
                    <a:pt x="1227415" y="627932"/>
                  </a:cubicBezTo>
                  <a:lnTo>
                    <a:pt x="16057" y="627932"/>
                  </a:lnTo>
                  <a:cubicBezTo>
                    <a:pt x="7189" y="627932"/>
                    <a:pt x="0" y="620744"/>
                    <a:pt x="0" y="611876"/>
                  </a:cubicBezTo>
                  <a:lnTo>
                    <a:pt x="0" y="16057"/>
                  </a:lnTo>
                  <a:cubicBezTo>
                    <a:pt x="0" y="11798"/>
                    <a:pt x="1692" y="7714"/>
                    <a:pt x="4703" y="4703"/>
                  </a:cubicBezTo>
                  <a:cubicBezTo>
                    <a:pt x="7714" y="1692"/>
                    <a:pt x="11798" y="0"/>
                    <a:pt x="16057" y="0"/>
                  </a:cubicBezTo>
                  <a:close/>
                </a:path>
              </a:pathLst>
            </a:custGeom>
            <a:blipFill>
              <a:blip r:embed="rId3"/>
              <a:stretch>
                <a:fillRect t="-1584" b="-1584"/>
              </a:stretch>
            </a:blipFill>
          </p:spPr>
        </p:sp>
      </p:grpSp>
      <p:grpSp>
        <p:nvGrpSpPr>
          <p:cNvPr id="30" name="Group 30"/>
          <p:cNvGrpSpPr/>
          <p:nvPr/>
        </p:nvGrpSpPr>
        <p:grpSpPr>
          <a:xfrm>
            <a:off x="6206033" y="4358619"/>
            <a:ext cx="11703191" cy="5796547"/>
            <a:chOff x="0" y="0"/>
            <a:chExt cx="1312246" cy="649950"/>
          </a:xfrm>
        </p:grpSpPr>
        <p:sp>
          <p:nvSpPr>
            <p:cNvPr id="31" name="Freeform 31"/>
            <p:cNvSpPr/>
            <p:nvPr/>
          </p:nvSpPr>
          <p:spPr>
            <a:xfrm>
              <a:off x="0" y="0"/>
              <a:ext cx="1312246" cy="649950"/>
            </a:xfrm>
            <a:custGeom>
              <a:avLst/>
              <a:gdLst/>
              <a:ahLst/>
              <a:cxnLst/>
              <a:rect l="l" t="t" r="r" b="b"/>
              <a:pathLst>
                <a:path w="1312246" h="649950">
                  <a:moveTo>
                    <a:pt x="15215" y="0"/>
                  </a:moveTo>
                  <a:lnTo>
                    <a:pt x="1297031" y="0"/>
                  </a:lnTo>
                  <a:cubicBezTo>
                    <a:pt x="1301066" y="0"/>
                    <a:pt x="1304936" y="1603"/>
                    <a:pt x="1307789" y="4456"/>
                  </a:cubicBezTo>
                  <a:cubicBezTo>
                    <a:pt x="1310643" y="7310"/>
                    <a:pt x="1312246" y="11180"/>
                    <a:pt x="1312246" y="15215"/>
                  </a:cubicBezTo>
                  <a:lnTo>
                    <a:pt x="1312246" y="634735"/>
                  </a:lnTo>
                  <a:cubicBezTo>
                    <a:pt x="1312246" y="638771"/>
                    <a:pt x="1310643" y="642641"/>
                    <a:pt x="1307789" y="645494"/>
                  </a:cubicBezTo>
                  <a:cubicBezTo>
                    <a:pt x="1304936" y="648347"/>
                    <a:pt x="1301066" y="649950"/>
                    <a:pt x="1297031" y="649950"/>
                  </a:cubicBezTo>
                  <a:lnTo>
                    <a:pt x="15215" y="649950"/>
                  </a:lnTo>
                  <a:cubicBezTo>
                    <a:pt x="11180" y="649950"/>
                    <a:pt x="7310" y="648347"/>
                    <a:pt x="4456" y="645494"/>
                  </a:cubicBezTo>
                  <a:cubicBezTo>
                    <a:pt x="1603" y="642641"/>
                    <a:pt x="0" y="638771"/>
                    <a:pt x="0" y="634735"/>
                  </a:cubicBezTo>
                  <a:lnTo>
                    <a:pt x="0" y="15215"/>
                  </a:lnTo>
                  <a:cubicBezTo>
                    <a:pt x="0" y="11180"/>
                    <a:pt x="1603" y="7310"/>
                    <a:pt x="4456" y="4456"/>
                  </a:cubicBezTo>
                  <a:cubicBezTo>
                    <a:pt x="7310" y="1603"/>
                    <a:pt x="11180" y="0"/>
                    <a:pt x="15215" y="0"/>
                  </a:cubicBezTo>
                  <a:close/>
                </a:path>
              </a:pathLst>
            </a:custGeom>
            <a:blipFill>
              <a:blip r:embed="rId4"/>
              <a:stretch>
                <a:fillRect l="-515" r="-515"/>
              </a:stretch>
            </a:blipFill>
          </p:spPr>
        </p:sp>
      </p:grpSp>
      <p:sp>
        <p:nvSpPr>
          <p:cNvPr id="32" name="TextBox 32"/>
          <p:cNvSpPr txBox="1"/>
          <p:nvPr/>
        </p:nvSpPr>
        <p:spPr>
          <a:xfrm>
            <a:off x="719939" y="6843459"/>
            <a:ext cx="4894934" cy="1153795"/>
          </a:xfrm>
          <a:prstGeom prst="rect">
            <a:avLst/>
          </a:prstGeom>
        </p:spPr>
        <p:txBody>
          <a:bodyPr lIns="0" tIns="0" rIns="0" bIns="0" rtlCol="0" anchor="t">
            <a:spAutoFit/>
          </a:bodyPr>
          <a:lstStyle/>
          <a:p>
            <a:pPr algn="ctr">
              <a:lnSpc>
                <a:spcPts val="3080"/>
              </a:lnSpc>
              <a:spcBef>
                <a:spcPct val="0"/>
              </a:spcBef>
            </a:pPr>
            <a:r>
              <a:rPr lang="en-US" sz="2200" b="1">
                <a:solidFill>
                  <a:srgbClr val="000000"/>
                </a:solidFill>
                <a:latin typeface="Inter Bold"/>
                <a:ea typeface="Inter Bold"/>
                <a:cs typeface="Inter Bold"/>
                <a:sym typeface="Inter Bold"/>
              </a:rPr>
              <a:t>En esta vista podemos obtener el historial de los pacientes vistos como una grafica de tiempo</a:t>
            </a:r>
          </a:p>
        </p:txBody>
      </p:sp>
      <p:sp>
        <p:nvSpPr>
          <p:cNvPr id="33" name="TextBox 33"/>
          <p:cNvSpPr txBox="1"/>
          <p:nvPr/>
        </p:nvSpPr>
        <p:spPr>
          <a:xfrm>
            <a:off x="12057628" y="1403772"/>
            <a:ext cx="4894934" cy="1544320"/>
          </a:xfrm>
          <a:prstGeom prst="rect">
            <a:avLst/>
          </a:prstGeom>
        </p:spPr>
        <p:txBody>
          <a:bodyPr lIns="0" tIns="0" rIns="0" bIns="0" rtlCol="0" anchor="t">
            <a:spAutoFit/>
          </a:bodyPr>
          <a:lstStyle/>
          <a:p>
            <a:pPr algn="ctr">
              <a:lnSpc>
                <a:spcPts val="3080"/>
              </a:lnSpc>
              <a:spcBef>
                <a:spcPct val="0"/>
              </a:spcBef>
            </a:pPr>
            <a:r>
              <a:rPr lang="en-US" sz="2200" b="1">
                <a:solidFill>
                  <a:srgbClr val="000000"/>
                </a:solidFill>
                <a:latin typeface="Inter Bold"/>
                <a:ea typeface="Inter Bold"/>
                <a:cs typeface="Inter Bold"/>
                <a:sym typeface="Inter Bold"/>
              </a:rPr>
              <a:t>Aquí podemos observar el monitoreo en tiempo real del trabajo habiendo estado en pruebas o practicas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3411600">
            <a:off x="8494114" y="4551955"/>
            <a:ext cx="921989" cy="92198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8018378" y="8686045"/>
            <a:ext cx="4662775" cy="4662775"/>
          </a:xfrm>
          <a:custGeom>
            <a:avLst/>
            <a:gdLst/>
            <a:ahLst/>
            <a:cxnLst/>
            <a:rect l="l" t="t" r="r" b="b"/>
            <a:pathLst>
              <a:path w="4662775" h="4662775">
                <a:moveTo>
                  <a:pt x="0" y="0"/>
                </a:moveTo>
                <a:lnTo>
                  <a:pt x="4662774" y="0"/>
                </a:lnTo>
                <a:lnTo>
                  <a:pt x="4662774"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9144000" y="5650976"/>
            <a:ext cx="7320434" cy="3791114"/>
            <a:chOff x="0" y="0"/>
            <a:chExt cx="1267646" cy="656490"/>
          </a:xfrm>
        </p:grpSpPr>
        <p:sp>
          <p:nvSpPr>
            <p:cNvPr id="7" name="Freeform 7"/>
            <p:cNvSpPr/>
            <p:nvPr/>
          </p:nvSpPr>
          <p:spPr>
            <a:xfrm>
              <a:off x="0" y="0"/>
              <a:ext cx="1267646" cy="656490"/>
            </a:xfrm>
            <a:custGeom>
              <a:avLst/>
              <a:gdLst/>
              <a:ahLst/>
              <a:cxnLst/>
              <a:rect l="l" t="t" r="r" b="b"/>
              <a:pathLst>
                <a:path w="1267646" h="656490">
                  <a:moveTo>
                    <a:pt x="16921" y="0"/>
                  </a:moveTo>
                  <a:lnTo>
                    <a:pt x="1250725" y="0"/>
                  </a:lnTo>
                  <a:cubicBezTo>
                    <a:pt x="1260070" y="0"/>
                    <a:pt x="1267646" y="7576"/>
                    <a:pt x="1267646" y="16921"/>
                  </a:cubicBezTo>
                  <a:lnTo>
                    <a:pt x="1267646" y="639569"/>
                  </a:lnTo>
                  <a:cubicBezTo>
                    <a:pt x="1267646" y="648914"/>
                    <a:pt x="1260070" y="656490"/>
                    <a:pt x="1250725" y="656490"/>
                  </a:cubicBezTo>
                  <a:lnTo>
                    <a:pt x="16921" y="656490"/>
                  </a:lnTo>
                  <a:cubicBezTo>
                    <a:pt x="7576" y="656490"/>
                    <a:pt x="0" y="648914"/>
                    <a:pt x="0" y="639569"/>
                  </a:cubicBezTo>
                  <a:lnTo>
                    <a:pt x="0" y="16921"/>
                  </a:lnTo>
                  <a:cubicBezTo>
                    <a:pt x="0" y="7576"/>
                    <a:pt x="7576" y="0"/>
                    <a:pt x="16921" y="0"/>
                  </a:cubicBezTo>
                  <a:close/>
                </a:path>
              </a:pathLst>
            </a:custGeom>
            <a:blipFill>
              <a:blip r:embed="rId3"/>
              <a:stretch>
                <a:fillRect t="-4307" b="-4307"/>
              </a:stretch>
            </a:blipFill>
          </p:spPr>
        </p:sp>
      </p:grpSp>
      <p:sp>
        <p:nvSpPr>
          <p:cNvPr id="8" name="Freeform 8"/>
          <p:cNvSpPr/>
          <p:nvPr/>
        </p:nvSpPr>
        <p:spPr>
          <a:xfrm>
            <a:off x="11257641" y="-2791577"/>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9077042" y="1871197"/>
            <a:ext cx="8428492" cy="2714789"/>
            <a:chOff x="0" y="0"/>
            <a:chExt cx="1734258" cy="558599"/>
          </a:xfrm>
        </p:grpSpPr>
        <p:sp>
          <p:nvSpPr>
            <p:cNvPr id="10" name="Freeform 10"/>
            <p:cNvSpPr/>
            <p:nvPr/>
          </p:nvSpPr>
          <p:spPr>
            <a:xfrm>
              <a:off x="0" y="0"/>
              <a:ext cx="1734258" cy="558599"/>
            </a:xfrm>
            <a:custGeom>
              <a:avLst/>
              <a:gdLst/>
              <a:ahLst/>
              <a:cxnLst/>
              <a:rect l="l" t="t" r="r" b="b"/>
              <a:pathLst>
                <a:path w="1734258" h="558599">
                  <a:moveTo>
                    <a:pt x="17940" y="0"/>
                  </a:moveTo>
                  <a:lnTo>
                    <a:pt x="1716317" y="0"/>
                  </a:lnTo>
                  <a:cubicBezTo>
                    <a:pt x="1721075" y="0"/>
                    <a:pt x="1725638" y="1890"/>
                    <a:pt x="1729003" y="5255"/>
                  </a:cubicBezTo>
                  <a:cubicBezTo>
                    <a:pt x="1732367" y="8619"/>
                    <a:pt x="1734258" y="13182"/>
                    <a:pt x="1734258" y="17940"/>
                  </a:cubicBezTo>
                  <a:lnTo>
                    <a:pt x="1734258" y="540658"/>
                  </a:lnTo>
                  <a:cubicBezTo>
                    <a:pt x="1734258" y="545416"/>
                    <a:pt x="1732367" y="549980"/>
                    <a:pt x="1729003" y="553344"/>
                  </a:cubicBezTo>
                  <a:cubicBezTo>
                    <a:pt x="1725638" y="556708"/>
                    <a:pt x="1721075" y="558599"/>
                    <a:pt x="1716317" y="558599"/>
                  </a:cubicBezTo>
                  <a:lnTo>
                    <a:pt x="17940" y="558599"/>
                  </a:lnTo>
                  <a:cubicBezTo>
                    <a:pt x="13182" y="558599"/>
                    <a:pt x="8619" y="556708"/>
                    <a:pt x="5255" y="553344"/>
                  </a:cubicBezTo>
                  <a:cubicBezTo>
                    <a:pt x="1890" y="549980"/>
                    <a:pt x="0" y="545416"/>
                    <a:pt x="0" y="540658"/>
                  </a:cubicBezTo>
                  <a:lnTo>
                    <a:pt x="0" y="17940"/>
                  </a:lnTo>
                  <a:cubicBezTo>
                    <a:pt x="0" y="13182"/>
                    <a:pt x="1890" y="8619"/>
                    <a:pt x="5255" y="5255"/>
                  </a:cubicBezTo>
                  <a:cubicBezTo>
                    <a:pt x="8619" y="1890"/>
                    <a:pt x="13182" y="0"/>
                    <a:pt x="17940"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1" name="TextBox 11"/>
            <p:cNvSpPr txBox="1"/>
            <p:nvPr/>
          </p:nvSpPr>
          <p:spPr>
            <a:xfrm>
              <a:off x="0" y="-47625"/>
              <a:ext cx="1734258" cy="606224"/>
            </a:xfrm>
            <a:prstGeom prst="rect">
              <a:avLst/>
            </a:prstGeom>
          </p:spPr>
          <p:txBody>
            <a:bodyPr lIns="50800" tIns="50800" rIns="50800" bIns="50800" rtlCol="0" anchor="ctr"/>
            <a:lstStyle/>
            <a:p>
              <a:pPr algn="ctr">
                <a:lnSpc>
                  <a:spcPts val="3220"/>
                </a:lnSpc>
              </a:pPr>
              <a:endParaRPr/>
            </a:p>
          </p:txBody>
        </p:sp>
      </p:grpSp>
      <p:grpSp>
        <p:nvGrpSpPr>
          <p:cNvPr id="12" name="Group 12"/>
          <p:cNvGrpSpPr/>
          <p:nvPr/>
        </p:nvGrpSpPr>
        <p:grpSpPr>
          <a:xfrm>
            <a:off x="477315" y="6094691"/>
            <a:ext cx="8182258" cy="2714789"/>
            <a:chOff x="0" y="0"/>
            <a:chExt cx="1683592" cy="558599"/>
          </a:xfrm>
        </p:grpSpPr>
        <p:sp>
          <p:nvSpPr>
            <p:cNvPr id="13" name="Freeform 13"/>
            <p:cNvSpPr/>
            <p:nvPr/>
          </p:nvSpPr>
          <p:spPr>
            <a:xfrm>
              <a:off x="0" y="0"/>
              <a:ext cx="1683592" cy="558599"/>
            </a:xfrm>
            <a:custGeom>
              <a:avLst/>
              <a:gdLst/>
              <a:ahLst/>
              <a:cxnLst/>
              <a:rect l="l" t="t" r="r" b="b"/>
              <a:pathLst>
                <a:path w="1683592" h="558599">
                  <a:moveTo>
                    <a:pt x="18480" y="0"/>
                  </a:moveTo>
                  <a:lnTo>
                    <a:pt x="1665112" y="0"/>
                  </a:lnTo>
                  <a:cubicBezTo>
                    <a:pt x="1670013" y="0"/>
                    <a:pt x="1674714" y="1947"/>
                    <a:pt x="1678180" y="5413"/>
                  </a:cubicBezTo>
                  <a:cubicBezTo>
                    <a:pt x="1681645" y="8878"/>
                    <a:pt x="1683592" y="13579"/>
                    <a:pt x="1683592" y="18480"/>
                  </a:cubicBezTo>
                  <a:lnTo>
                    <a:pt x="1683592" y="540118"/>
                  </a:lnTo>
                  <a:cubicBezTo>
                    <a:pt x="1683592" y="545020"/>
                    <a:pt x="1681645" y="549720"/>
                    <a:pt x="1678180" y="553186"/>
                  </a:cubicBezTo>
                  <a:cubicBezTo>
                    <a:pt x="1674714" y="556652"/>
                    <a:pt x="1670013" y="558599"/>
                    <a:pt x="1665112" y="558599"/>
                  </a:cubicBezTo>
                  <a:lnTo>
                    <a:pt x="18480" y="558599"/>
                  </a:lnTo>
                  <a:cubicBezTo>
                    <a:pt x="13579" y="558599"/>
                    <a:pt x="8878" y="556652"/>
                    <a:pt x="5413" y="553186"/>
                  </a:cubicBezTo>
                  <a:cubicBezTo>
                    <a:pt x="1947" y="549720"/>
                    <a:pt x="0" y="545020"/>
                    <a:pt x="0" y="540118"/>
                  </a:cubicBezTo>
                  <a:lnTo>
                    <a:pt x="0" y="18480"/>
                  </a:lnTo>
                  <a:cubicBezTo>
                    <a:pt x="0" y="13579"/>
                    <a:pt x="1947" y="8878"/>
                    <a:pt x="5413" y="5413"/>
                  </a:cubicBezTo>
                  <a:cubicBezTo>
                    <a:pt x="8878" y="1947"/>
                    <a:pt x="13579" y="0"/>
                    <a:pt x="18480"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4" name="TextBox 14"/>
            <p:cNvSpPr txBox="1"/>
            <p:nvPr/>
          </p:nvSpPr>
          <p:spPr>
            <a:xfrm>
              <a:off x="0" y="-47625"/>
              <a:ext cx="1683592" cy="606224"/>
            </a:xfrm>
            <a:prstGeom prst="rect">
              <a:avLst/>
            </a:prstGeom>
          </p:spPr>
          <p:txBody>
            <a:bodyPr lIns="50800" tIns="50800" rIns="50800" bIns="50800" rtlCol="0" anchor="ctr"/>
            <a:lstStyle/>
            <a:p>
              <a:pPr algn="ctr">
                <a:lnSpc>
                  <a:spcPts val="3220"/>
                </a:lnSpc>
              </a:pPr>
              <a:endParaRPr/>
            </a:p>
          </p:txBody>
        </p:sp>
      </p:grpSp>
      <p:sp>
        <p:nvSpPr>
          <p:cNvPr id="15" name="TextBox 15"/>
          <p:cNvSpPr txBox="1"/>
          <p:nvPr/>
        </p:nvSpPr>
        <p:spPr>
          <a:xfrm>
            <a:off x="1143086" y="957812"/>
            <a:ext cx="7516486" cy="847725"/>
          </a:xfrm>
          <a:prstGeom prst="rect">
            <a:avLst/>
          </a:prstGeom>
        </p:spPr>
        <p:txBody>
          <a:bodyPr lIns="0" tIns="0" rIns="0" bIns="0" rtlCol="0" anchor="t">
            <a:spAutoFit/>
          </a:bodyPr>
          <a:lstStyle/>
          <a:p>
            <a:pPr algn="l">
              <a:lnSpc>
                <a:spcPts val="6600"/>
              </a:lnSpc>
            </a:pPr>
            <a:r>
              <a:rPr lang="en-US" sz="5500" b="1">
                <a:solidFill>
                  <a:srgbClr val="000000"/>
                </a:solidFill>
                <a:latin typeface="Montaser Arabic Bold"/>
                <a:ea typeface="Montaser Arabic Bold"/>
                <a:cs typeface="Montaser Arabic Bold"/>
                <a:sym typeface="Montaser Arabic Bold"/>
              </a:rPr>
              <a:t>Conclusiones</a:t>
            </a:r>
          </a:p>
        </p:txBody>
      </p:sp>
      <p:grpSp>
        <p:nvGrpSpPr>
          <p:cNvPr id="16" name="Group 16"/>
          <p:cNvGrpSpPr/>
          <p:nvPr/>
        </p:nvGrpSpPr>
        <p:grpSpPr>
          <a:xfrm rot="-5146742">
            <a:off x="7572926" y="-1167033"/>
            <a:ext cx="2339308" cy="233930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rot="-5413088">
            <a:off x="7379610" y="325054"/>
            <a:ext cx="1277535" cy="127753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2" name="Group 22"/>
          <p:cNvGrpSpPr/>
          <p:nvPr/>
        </p:nvGrpSpPr>
        <p:grpSpPr>
          <a:xfrm rot="-3411600">
            <a:off x="-1331536" y="1972910"/>
            <a:ext cx="1980044" cy="198004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5" name="Group 25"/>
          <p:cNvGrpSpPr/>
          <p:nvPr/>
        </p:nvGrpSpPr>
        <p:grpSpPr>
          <a:xfrm rot="-3411600">
            <a:off x="16909400" y="-961509"/>
            <a:ext cx="2376407" cy="237640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52425" cap="sq">
              <a:gradFill>
                <a:gsLst>
                  <a:gs pos="0">
                    <a:srgbClr val="122354">
                      <a:alpha val="100000"/>
                    </a:srgbClr>
                  </a:gs>
                  <a:gs pos="100000">
                    <a:srgbClr val="12539F">
                      <a:alpha val="100000"/>
                    </a:srgbClr>
                  </a:gs>
                </a:gsLst>
                <a:lin ang="540000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rot="-3411600">
            <a:off x="16623263" y="8689266"/>
            <a:ext cx="886204" cy="886204"/>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7D95DB">
                      <a:alpha val="100000"/>
                    </a:srgbClr>
                  </a:gs>
                  <a:gs pos="100000">
                    <a:srgbClr val="12539F">
                      <a:alpha val="100000"/>
                    </a:srgbClr>
                  </a:gs>
                </a:gsLst>
                <a:lin ang="0"/>
              </a:gra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1" name="Group 31"/>
          <p:cNvGrpSpPr/>
          <p:nvPr/>
        </p:nvGrpSpPr>
        <p:grpSpPr>
          <a:xfrm rot="-3411600">
            <a:off x="12864089" y="1080597"/>
            <a:ext cx="608165" cy="60816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4" name="Freeform 34"/>
          <p:cNvSpPr/>
          <p:nvPr/>
        </p:nvSpPr>
        <p:spPr>
          <a:xfrm>
            <a:off x="15361468" y="6094691"/>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5" name="Freeform 35"/>
          <p:cNvSpPr/>
          <p:nvPr/>
        </p:nvSpPr>
        <p:spPr>
          <a:xfrm>
            <a:off x="322694" y="9679157"/>
            <a:ext cx="979000" cy="245640"/>
          </a:xfrm>
          <a:custGeom>
            <a:avLst/>
            <a:gdLst/>
            <a:ahLst/>
            <a:cxnLst/>
            <a:rect l="l" t="t" r="r" b="b"/>
            <a:pathLst>
              <a:path w="979000" h="245640">
                <a:moveTo>
                  <a:pt x="0" y="0"/>
                </a:moveTo>
                <a:lnTo>
                  <a:pt x="979001" y="0"/>
                </a:lnTo>
                <a:lnTo>
                  <a:pt x="979001" y="245641"/>
                </a:lnTo>
                <a:lnTo>
                  <a:pt x="0" y="245641"/>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36" name="Group 36"/>
          <p:cNvGrpSpPr/>
          <p:nvPr/>
        </p:nvGrpSpPr>
        <p:grpSpPr>
          <a:xfrm rot="8153064">
            <a:off x="4226196" y="9366823"/>
            <a:ext cx="2610545" cy="2610545"/>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38" name="TextBox 3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9" name="Group 39"/>
          <p:cNvGrpSpPr/>
          <p:nvPr/>
        </p:nvGrpSpPr>
        <p:grpSpPr>
          <a:xfrm rot="10576496">
            <a:off x="4264839" y="9053717"/>
            <a:ext cx="1193222" cy="1193222"/>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41" name="TextBox 4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42" name="Group 42"/>
          <p:cNvGrpSpPr/>
          <p:nvPr/>
        </p:nvGrpSpPr>
        <p:grpSpPr>
          <a:xfrm>
            <a:off x="1124411" y="2120074"/>
            <a:ext cx="7192670" cy="3279279"/>
            <a:chOff x="0" y="0"/>
            <a:chExt cx="1439925" cy="656490"/>
          </a:xfrm>
        </p:grpSpPr>
        <p:sp>
          <p:nvSpPr>
            <p:cNvPr id="43" name="Freeform 43"/>
            <p:cNvSpPr/>
            <p:nvPr/>
          </p:nvSpPr>
          <p:spPr>
            <a:xfrm>
              <a:off x="0" y="0"/>
              <a:ext cx="1439925" cy="656490"/>
            </a:xfrm>
            <a:custGeom>
              <a:avLst/>
              <a:gdLst/>
              <a:ahLst/>
              <a:cxnLst/>
              <a:rect l="l" t="t" r="r" b="b"/>
              <a:pathLst>
                <a:path w="1439925" h="656490">
                  <a:moveTo>
                    <a:pt x="17222" y="0"/>
                  </a:moveTo>
                  <a:lnTo>
                    <a:pt x="1422703" y="0"/>
                  </a:lnTo>
                  <a:cubicBezTo>
                    <a:pt x="1427271" y="0"/>
                    <a:pt x="1431651" y="1814"/>
                    <a:pt x="1434881" y="5044"/>
                  </a:cubicBezTo>
                  <a:cubicBezTo>
                    <a:pt x="1438110" y="8274"/>
                    <a:pt x="1439925" y="12654"/>
                    <a:pt x="1439925" y="17222"/>
                  </a:cubicBezTo>
                  <a:lnTo>
                    <a:pt x="1439925" y="639268"/>
                  </a:lnTo>
                  <a:cubicBezTo>
                    <a:pt x="1439925" y="643836"/>
                    <a:pt x="1438110" y="648216"/>
                    <a:pt x="1434881" y="651446"/>
                  </a:cubicBezTo>
                  <a:cubicBezTo>
                    <a:pt x="1431651" y="654675"/>
                    <a:pt x="1427271" y="656490"/>
                    <a:pt x="1422703" y="656490"/>
                  </a:cubicBezTo>
                  <a:lnTo>
                    <a:pt x="17222" y="656490"/>
                  </a:lnTo>
                  <a:cubicBezTo>
                    <a:pt x="12654" y="656490"/>
                    <a:pt x="8274" y="654675"/>
                    <a:pt x="5044" y="651446"/>
                  </a:cubicBezTo>
                  <a:cubicBezTo>
                    <a:pt x="1814" y="648216"/>
                    <a:pt x="0" y="643836"/>
                    <a:pt x="0" y="639268"/>
                  </a:cubicBezTo>
                  <a:lnTo>
                    <a:pt x="0" y="17222"/>
                  </a:lnTo>
                  <a:cubicBezTo>
                    <a:pt x="0" y="12654"/>
                    <a:pt x="1814" y="8274"/>
                    <a:pt x="5044" y="5044"/>
                  </a:cubicBezTo>
                  <a:cubicBezTo>
                    <a:pt x="8274" y="1814"/>
                    <a:pt x="12654" y="0"/>
                    <a:pt x="17222" y="0"/>
                  </a:cubicBezTo>
                  <a:close/>
                </a:path>
              </a:pathLst>
            </a:custGeom>
            <a:blipFill>
              <a:blip r:embed="rId6"/>
              <a:stretch>
                <a:fillRect t="-4764" b="-4764"/>
              </a:stretch>
            </a:blipFill>
          </p:spPr>
        </p:sp>
      </p:grpSp>
      <p:sp>
        <p:nvSpPr>
          <p:cNvPr id="44" name="TextBox 44"/>
          <p:cNvSpPr txBox="1"/>
          <p:nvPr/>
        </p:nvSpPr>
        <p:spPr>
          <a:xfrm>
            <a:off x="9288958" y="2119536"/>
            <a:ext cx="7970342" cy="2213610"/>
          </a:xfrm>
          <a:prstGeom prst="rect">
            <a:avLst/>
          </a:prstGeom>
        </p:spPr>
        <p:txBody>
          <a:bodyPr lIns="0" tIns="0" rIns="0" bIns="0" rtlCol="0" anchor="t">
            <a:spAutoFit/>
          </a:bodyPr>
          <a:lstStyle/>
          <a:p>
            <a:pPr algn="l">
              <a:lnSpc>
                <a:spcPts val="2940"/>
              </a:lnSpc>
            </a:pPr>
            <a:r>
              <a:rPr lang="en-US" sz="2100">
                <a:solidFill>
                  <a:srgbClr val="FFFFFF"/>
                </a:solidFill>
                <a:latin typeface="Inter"/>
                <a:ea typeface="Inter"/>
                <a:cs typeface="Inter"/>
                <a:sym typeface="Inter"/>
              </a:rPr>
              <a:t>La convergencia de hardware libre de bajo costo y arquitecturas cloud modernas demuestra ser una vía técnicamente sólida para democratizar la salud pública. El sistema logra una transmisión telemétrica estable a 20 Hz y cumple rigurosamente con los estándares legales de protección de datos médicos mediante encriptación y autenticación.</a:t>
            </a:r>
          </a:p>
        </p:txBody>
      </p:sp>
      <p:sp>
        <p:nvSpPr>
          <p:cNvPr id="45" name="TextBox 45"/>
          <p:cNvSpPr txBox="1"/>
          <p:nvPr/>
        </p:nvSpPr>
        <p:spPr>
          <a:xfrm>
            <a:off x="884225" y="6326230"/>
            <a:ext cx="7368437" cy="2213610"/>
          </a:xfrm>
          <a:prstGeom prst="rect">
            <a:avLst/>
          </a:prstGeom>
        </p:spPr>
        <p:txBody>
          <a:bodyPr lIns="0" tIns="0" rIns="0" bIns="0" rtlCol="0" anchor="t">
            <a:spAutoFit/>
          </a:bodyPr>
          <a:lstStyle/>
          <a:p>
            <a:pPr algn="l">
              <a:lnSpc>
                <a:spcPts val="2940"/>
              </a:lnSpc>
            </a:pPr>
            <a:r>
              <a:rPr lang="en-US" sz="2100">
                <a:solidFill>
                  <a:srgbClr val="FFFFFF"/>
                </a:solidFill>
                <a:latin typeface="Inter"/>
                <a:ea typeface="Inter"/>
                <a:cs typeface="Inter"/>
                <a:sym typeface="Inter"/>
              </a:rPr>
              <a:t>La aplicación remota del protocolo Go/No-Go, junto con sus tres perfiles clínicos dinámicos, entrega herramientas cuantitativas vitales para evaluar la neuroplasticidad del paciente. Asimismo, la decisión de migrar toda la interfaz a un ecosistema web enriquece la terapia y abarata los costos operativos.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3411600">
            <a:off x="8494114" y="4551955"/>
            <a:ext cx="921989" cy="92198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8018378" y="8686045"/>
            <a:ext cx="4662775" cy="4662775"/>
          </a:xfrm>
          <a:custGeom>
            <a:avLst/>
            <a:gdLst/>
            <a:ahLst/>
            <a:cxnLst/>
            <a:rect l="l" t="t" r="r" b="b"/>
            <a:pathLst>
              <a:path w="4662775" h="4662775">
                <a:moveTo>
                  <a:pt x="0" y="0"/>
                </a:moveTo>
                <a:lnTo>
                  <a:pt x="4662774" y="0"/>
                </a:lnTo>
                <a:lnTo>
                  <a:pt x="4662774" y="4662775"/>
                </a:lnTo>
                <a:lnTo>
                  <a:pt x="0" y="4662775"/>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9636700" y="5205111"/>
            <a:ext cx="7191688" cy="3724439"/>
            <a:chOff x="0" y="0"/>
            <a:chExt cx="1267646" cy="656490"/>
          </a:xfrm>
        </p:grpSpPr>
        <p:sp>
          <p:nvSpPr>
            <p:cNvPr id="7" name="Freeform 7"/>
            <p:cNvSpPr/>
            <p:nvPr/>
          </p:nvSpPr>
          <p:spPr>
            <a:xfrm>
              <a:off x="0" y="0"/>
              <a:ext cx="1267646" cy="656490"/>
            </a:xfrm>
            <a:custGeom>
              <a:avLst/>
              <a:gdLst/>
              <a:ahLst/>
              <a:cxnLst/>
              <a:rect l="l" t="t" r="r" b="b"/>
              <a:pathLst>
                <a:path w="1267646" h="656490">
                  <a:moveTo>
                    <a:pt x="17224" y="0"/>
                  </a:moveTo>
                  <a:lnTo>
                    <a:pt x="1250422" y="0"/>
                  </a:lnTo>
                  <a:cubicBezTo>
                    <a:pt x="1259934" y="0"/>
                    <a:pt x="1267646" y="7712"/>
                    <a:pt x="1267646" y="17224"/>
                  </a:cubicBezTo>
                  <a:lnTo>
                    <a:pt x="1267646" y="639266"/>
                  </a:lnTo>
                  <a:cubicBezTo>
                    <a:pt x="1267646" y="643834"/>
                    <a:pt x="1265831" y="648215"/>
                    <a:pt x="1262601" y="651445"/>
                  </a:cubicBezTo>
                  <a:cubicBezTo>
                    <a:pt x="1259371" y="654675"/>
                    <a:pt x="1254990" y="656490"/>
                    <a:pt x="1250422" y="656490"/>
                  </a:cubicBezTo>
                  <a:lnTo>
                    <a:pt x="17224" y="656490"/>
                  </a:lnTo>
                  <a:cubicBezTo>
                    <a:pt x="7712" y="656490"/>
                    <a:pt x="0" y="648778"/>
                    <a:pt x="0" y="639266"/>
                  </a:cubicBezTo>
                  <a:lnTo>
                    <a:pt x="0" y="17224"/>
                  </a:lnTo>
                  <a:cubicBezTo>
                    <a:pt x="0" y="7712"/>
                    <a:pt x="7712" y="0"/>
                    <a:pt x="17224" y="0"/>
                  </a:cubicBezTo>
                  <a:close/>
                </a:path>
              </a:pathLst>
            </a:custGeom>
            <a:blipFill>
              <a:blip r:embed="rId3"/>
              <a:stretch>
                <a:fillRect l="-1788" r="-1788"/>
              </a:stretch>
            </a:blipFill>
          </p:spPr>
        </p:sp>
      </p:grpSp>
      <p:sp>
        <p:nvSpPr>
          <p:cNvPr id="8" name="Freeform 8"/>
          <p:cNvSpPr/>
          <p:nvPr/>
        </p:nvSpPr>
        <p:spPr>
          <a:xfrm>
            <a:off x="11257641" y="-2791577"/>
            <a:ext cx="4662775" cy="4662775"/>
          </a:xfrm>
          <a:custGeom>
            <a:avLst/>
            <a:gdLst/>
            <a:ahLst/>
            <a:cxnLst/>
            <a:rect l="l" t="t" r="r" b="b"/>
            <a:pathLst>
              <a:path w="4662775" h="4662775">
                <a:moveTo>
                  <a:pt x="0" y="0"/>
                </a:moveTo>
                <a:lnTo>
                  <a:pt x="4662775" y="0"/>
                </a:lnTo>
                <a:lnTo>
                  <a:pt x="4662775" y="4662774"/>
                </a:lnTo>
                <a:lnTo>
                  <a:pt x="0" y="466277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9077042" y="1871197"/>
            <a:ext cx="8182258" cy="2714789"/>
            <a:chOff x="0" y="0"/>
            <a:chExt cx="1683592" cy="558599"/>
          </a:xfrm>
        </p:grpSpPr>
        <p:sp>
          <p:nvSpPr>
            <p:cNvPr id="10" name="Freeform 10"/>
            <p:cNvSpPr/>
            <p:nvPr/>
          </p:nvSpPr>
          <p:spPr>
            <a:xfrm>
              <a:off x="0" y="0"/>
              <a:ext cx="1683592" cy="558599"/>
            </a:xfrm>
            <a:custGeom>
              <a:avLst/>
              <a:gdLst/>
              <a:ahLst/>
              <a:cxnLst/>
              <a:rect l="l" t="t" r="r" b="b"/>
              <a:pathLst>
                <a:path w="1683592" h="558599">
                  <a:moveTo>
                    <a:pt x="18480" y="0"/>
                  </a:moveTo>
                  <a:lnTo>
                    <a:pt x="1665112" y="0"/>
                  </a:lnTo>
                  <a:cubicBezTo>
                    <a:pt x="1670013" y="0"/>
                    <a:pt x="1674714" y="1947"/>
                    <a:pt x="1678180" y="5413"/>
                  </a:cubicBezTo>
                  <a:cubicBezTo>
                    <a:pt x="1681645" y="8878"/>
                    <a:pt x="1683592" y="13579"/>
                    <a:pt x="1683592" y="18480"/>
                  </a:cubicBezTo>
                  <a:lnTo>
                    <a:pt x="1683592" y="540118"/>
                  </a:lnTo>
                  <a:cubicBezTo>
                    <a:pt x="1683592" y="545020"/>
                    <a:pt x="1681645" y="549720"/>
                    <a:pt x="1678180" y="553186"/>
                  </a:cubicBezTo>
                  <a:cubicBezTo>
                    <a:pt x="1674714" y="556652"/>
                    <a:pt x="1670013" y="558599"/>
                    <a:pt x="1665112" y="558599"/>
                  </a:cubicBezTo>
                  <a:lnTo>
                    <a:pt x="18480" y="558599"/>
                  </a:lnTo>
                  <a:cubicBezTo>
                    <a:pt x="13579" y="558599"/>
                    <a:pt x="8878" y="556652"/>
                    <a:pt x="5413" y="553186"/>
                  </a:cubicBezTo>
                  <a:cubicBezTo>
                    <a:pt x="1947" y="549720"/>
                    <a:pt x="0" y="545020"/>
                    <a:pt x="0" y="540118"/>
                  </a:cubicBezTo>
                  <a:lnTo>
                    <a:pt x="0" y="18480"/>
                  </a:lnTo>
                  <a:cubicBezTo>
                    <a:pt x="0" y="13579"/>
                    <a:pt x="1947" y="8878"/>
                    <a:pt x="5413" y="5413"/>
                  </a:cubicBezTo>
                  <a:cubicBezTo>
                    <a:pt x="8878" y="1947"/>
                    <a:pt x="13579" y="0"/>
                    <a:pt x="18480"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1" name="TextBox 11"/>
            <p:cNvSpPr txBox="1"/>
            <p:nvPr/>
          </p:nvSpPr>
          <p:spPr>
            <a:xfrm>
              <a:off x="0" y="-47625"/>
              <a:ext cx="1683592" cy="606224"/>
            </a:xfrm>
            <a:prstGeom prst="rect">
              <a:avLst/>
            </a:prstGeom>
          </p:spPr>
          <p:txBody>
            <a:bodyPr lIns="50800" tIns="50800" rIns="50800" bIns="50800" rtlCol="0" anchor="ctr"/>
            <a:lstStyle/>
            <a:p>
              <a:pPr algn="ctr">
                <a:lnSpc>
                  <a:spcPts val="3220"/>
                </a:lnSpc>
              </a:pPr>
              <a:endParaRPr/>
            </a:p>
          </p:txBody>
        </p:sp>
      </p:grpSp>
      <p:grpSp>
        <p:nvGrpSpPr>
          <p:cNvPr id="12" name="Group 12"/>
          <p:cNvGrpSpPr/>
          <p:nvPr/>
        </p:nvGrpSpPr>
        <p:grpSpPr>
          <a:xfrm>
            <a:off x="1151165" y="6036276"/>
            <a:ext cx="8182258" cy="2714789"/>
            <a:chOff x="0" y="0"/>
            <a:chExt cx="1683592" cy="558599"/>
          </a:xfrm>
        </p:grpSpPr>
        <p:sp>
          <p:nvSpPr>
            <p:cNvPr id="13" name="Freeform 13"/>
            <p:cNvSpPr/>
            <p:nvPr/>
          </p:nvSpPr>
          <p:spPr>
            <a:xfrm>
              <a:off x="0" y="0"/>
              <a:ext cx="1683592" cy="558599"/>
            </a:xfrm>
            <a:custGeom>
              <a:avLst/>
              <a:gdLst/>
              <a:ahLst/>
              <a:cxnLst/>
              <a:rect l="l" t="t" r="r" b="b"/>
              <a:pathLst>
                <a:path w="1683592" h="558599">
                  <a:moveTo>
                    <a:pt x="18480" y="0"/>
                  </a:moveTo>
                  <a:lnTo>
                    <a:pt x="1665112" y="0"/>
                  </a:lnTo>
                  <a:cubicBezTo>
                    <a:pt x="1670013" y="0"/>
                    <a:pt x="1674714" y="1947"/>
                    <a:pt x="1678180" y="5413"/>
                  </a:cubicBezTo>
                  <a:cubicBezTo>
                    <a:pt x="1681645" y="8878"/>
                    <a:pt x="1683592" y="13579"/>
                    <a:pt x="1683592" y="18480"/>
                  </a:cubicBezTo>
                  <a:lnTo>
                    <a:pt x="1683592" y="540118"/>
                  </a:lnTo>
                  <a:cubicBezTo>
                    <a:pt x="1683592" y="545020"/>
                    <a:pt x="1681645" y="549720"/>
                    <a:pt x="1678180" y="553186"/>
                  </a:cubicBezTo>
                  <a:cubicBezTo>
                    <a:pt x="1674714" y="556652"/>
                    <a:pt x="1670013" y="558599"/>
                    <a:pt x="1665112" y="558599"/>
                  </a:cubicBezTo>
                  <a:lnTo>
                    <a:pt x="18480" y="558599"/>
                  </a:lnTo>
                  <a:cubicBezTo>
                    <a:pt x="13579" y="558599"/>
                    <a:pt x="8878" y="556652"/>
                    <a:pt x="5413" y="553186"/>
                  </a:cubicBezTo>
                  <a:cubicBezTo>
                    <a:pt x="1947" y="549720"/>
                    <a:pt x="0" y="545020"/>
                    <a:pt x="0" y="540118"/>
                  </a:cubicBezTo>
                  <a:lnTo>
                    <a:pt x="0" y="18480"/>
                  </a:lnTo>
                  <a:cubicBezTo>
                    <a:pt x="0" y="13579"/>
                    <a:pt x="1947" y="8878"/>
                    <a:pt x="5413" y="5413"/>
                  </a:cubicBezTo>
                  <a:cubicBezTo>
                    <a:pt x="8878" y="1947"/>
                    <a:pt x="13579" y="0"/>
                    <a:pt x="18480" y="0"/>
                  </a:cubicBezTo>
                  <a:close/>
                </a:path>
              </a:pathLst>
            </a:custGeom>
            <a:gradFill rotWithShape="1">
              <a:gsLst>
                <a:gs pos="0">
                  <a:srgbClr val="122354">
                    <a:alpha val="100000"/>
                  </a:srgbClr>
                </a:gs>
                <a:gs pos="100000">
                  <a:srgbClr val="12539F">
                    <a:alpha val="100000"/>
                  </a:srgbClr>
                </a:gs>
              </a:gsLst>
              <a:path path="circle">
                <a:fillToRect r="100000" b="100000"/>
              </a:path>
              <a:tileRect l="-100000" t="-100000"/>
            </a:gradFill>
          </p:spPr>
        </p:sp>
        <p:sp>
          <p:nvSpPr>
            <p:cNvPr id="14" name="TextBox 14"/>
            <p:cNvSpPr txBox="1"/>
            <p:nvPr/>
          </p:nvSpPr>
          <p:spPr>
            <a:xfrm>
              <a:off x="0" y="-47625"/>
              <a:ext cx="1683592" cy="606224"/>
            </a:xfrm>
            <a:prstGeom prst="rect">
              <a:avLst/>
            </a:prstGeom>
          </p:spPr>
          <p:txBody>
            <a:bodyPr lIns="50800" tIns="50800" rIns="50800" bIns="50800" rtlCol="0" anchor="ctr"/>
            <a:lstStyle/>
            <a:p>
              <a:pPr algn="ctr">
                <a:lnSpc>
                  <a:spcPts val="3220"/>
                </a:lnSpc>
              </a:pPr>
              <a:endParaRPr/>
            </a:p>
          </p:txBody>
        </p:sp>
      </p:grpSp>
      <p:sp>
        <p:nvSpPr>
          <p:cNvPr id="15" name="TextBox 15"/>
          <p:cNvSpPr txBox="1"/>
          <p:nvPr/>
        </p:nvSpPr>
        <p:spPr>
          <a:xfrm>
            <a:off x="1301695" y="1164093"/>
            <a:ext cx="7516486" cy="847725"/>
          </a:xfrm>
          <a:prstGeom prst="rect">
            <a:avLst/>
          </a:prstGeom>
        </p:spPr>
        <p:txBody>
          <a:bodyPr lIns="0" tIns="0" rIns="0" bIns="0" rtlCol="0" anchor="t">
            <a:spAutoFit/>
          </a:bodyPr>
          <a:lstStyle/>
          <a:p>
            <a:pPr algn="l">
              <a:lnSpc>
                <a:spcPts val="6600"/>
              </a:lnSpc>
            </a:pPr>
            <a:r>
              <a:rPr lang="en-US" sz="5500" b="1">
                <a:solidFill>
                  <a:srgbClr val="000000"/>
                </a:solidFill>
                <a:latin typeface="Montaser Arabic Bold"/>
                <a:ea typeface="Montaser Arabic Bold"/>
                <a:cs typeface="Montaser Arabic Bold"/>
                <a:sym typeface="Montaser Arabic Bold"/>
              </a:rPr>
              <a:t>Recomendaciones</a:t>
            </a:r>
          </a:p>
        </p:txBody>
      </p:sp>
      <p:grpSp>
        <p:nvGrpSpPr>
          <p:cNvPr id="16" name="Group 16"/>
          <p:cNvGrpSpPr/>
          <p:nvPr/>
        </p:nvGrpSpPr>
        <p:grpSpPr>
          <a:xfrm rot="-5146742">
            <a:off x="7572926" y="-1167033"/>
            <a:ext cx="2339308" cy="233930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66700" cap="sq">
              <a:gradFill>
                <a:gsLst>
                  <a:gs pos="0">
                    <a:srgbClr val="7D95DB">
                      <a:alpha val="100000"/>
                    </a:srgbClr>
                  </a:gs>
                  <a:gs pos="100000">
                    <a:srgbClr val="12539F">
                      <a:alpha val="100000"/>
                    </a:srgbClr>
                  </a:gs>
                </a:gsLst>
                <a:lin ang="0"/>
              </a:grad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9" name="Group 19"/>
          <p:cNvGrpSpPr/>
          <p:nvPr/>
        </p:nvGrpSpPr>
        <p:grpSpPr>
          <a:xfrm rot="-5413088">
            <a:off x="7379610" y="325054"/>
            <a:ext cx="1277535" cy="127753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2" name="Group 22"/>
          <p:cNvGrpSpPr/>
          <p:nvPr/>
        </p:nvGrpSpPr>
        <p:grpSpPr>
          <a:xfrm rot="-3411600">
            <a:off x="-1331536" y="1972910"/>
            <a:ext cx="1980044" cy="198004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23850" cap="sq">
              <a:gradFill>
                <a:gsLst>
                  <a:gs pos="0">
                    <a:srgbClr val="7D95DB">
                      <a:alpha val="100000"/>
                    </a:srgbClr>
                  </a:gs>
                  <a:gs pos="100000">
                    <a:srgbClr val="12539F">
                      <a:alpha val="100000"/>
                    </a:srgbClr>
                  </a:gs>
                </a:gsLst>
                <a:lin ang="0"/>
              </a:gradFill>
              <a:prstDash val="solid"/>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5" name="Group 25"/>
          <p:cNvGrpSpPr/>
          <p:nvPr/>
        </p:nvGrpSpPr>
        <p:grpSpPr>
          <a:xfrm rot="-3411600">
            <a:off x="16909400" y="-961509"/>
            <a:ext cx="2376407" cy="237640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52425" cap="sq">
              <a:gradFill>
                <a:gsLst>
                  <a:gs pos="0">
                    <a:srgbClr val="122354">
                      <a:alpha val="100000"/>
                    </a:srgbClr>
                  </a:gs>
                  <a:gs pos="100000">
                    <a:srgbClr val="12539F">
                      <a:alpha val="100000"/>
                    </a:srgbClr>
                  </a:gs>
                </a:gsLst>
                <a:lin ang="5400000"/>
              </a:gra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8" name="Group 28"/>
          <p:cNvGrpSpPr/>
          <p:nvPr/>
        </p:nvGrpSpPr>
        <p:grpSpPr>
          <a:xfrm rot="-3411600">
            <a:off x="16623263" y="8689266"/>
            <a:ext cx="886204" cy="886204"/>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7D95DB">
                      <a:alpha val="100000"/>
                    </a:srgbClr>
                  </a:gs>
                  <a:gs pos="100000">
                    <a:srgbClr val="12539F">
                      <a:alpha val="100000"/>
                    </a:srgbClr>
                  </a:gs>
                </a:gsLst>
                <a:lin ang="0"/>
              </a:gra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1" name="Group 31"/>
          <p:cNvGrpSpPr/>
          <p:nvPr/>
        </p:nvGrpSpPr>
        <p:grpSpPr>
          <a:xfrm rot="-3411600">
            <a:off x="12864089" y="1080597"/>
            <a:ext cx="608165" cy="60816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4" name="Freeform 34"/>
          <p:cNvSpPr/>
          <p:nvPr/>
        </p:nvSpPr>
        <p:spPr>
          <a:xfrm>
            <a:off x="15361468" y="6094691"/>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5" name="Freeform 35"/>
          <p:cNvSpPr/>
          <p:nvPr/>
        </p:nvSpPr>
        <p:spPr>
          <a:xfrm>
            <a:off x="322694" y="9679157"/>
            <a:ext cx="979000" cy="245640"/>
          </a:xfrm>
          <a:custGeom>
            <a:avLst/>
            <a:gdLst/>
            <a:ahLst/>
            <a:cxnLst/>
            <a:rect l="l" t="t" r="r" b="b"/>
            <a:pathLst>
              <a:path w="979000" h="245640">
                <a:moveTo>
                  <a:pt x="0" y="0"/>
                </a:moveTo>
                <a:lnTo>
                  <a:pt x="979001" y="0"/>
                </a:lnTo>
                <a:lnTo>
                  <a:pt x="979001" y="245641"/>
                </a:lnTo>
                <a:lnTo>
                  <a:pt x="0" y="245641"/>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36" name="Group 36"/>
          <p:cNvGrpSpPr/>
          <p:nvPr/>
        </p:nvGrpSpPr>
        <p:grpSpPr>
          <a:xfrm rot="8153064">
            <a:off x="4226196" y="9366823"/>
            <a:ext cx="2610545" cy="2610545"/>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38" name="TextBox 3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9" name="Group 39"/>
          <p:cNvGrpSpPr/>
          <p:nvPr/>
        </p:nvGrpSpPr>
        <p:grpSpPr>
          <a:xfrm rot="10576496">
            <a:off x="4264839" y="9053717"/>
            <a:ext cx="1193222" cy="1193222"/>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41" name="TextBox 4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42" name="Group 42"/>
          <p:cNvGrpSpPr/>
          <p:nvPr/>
        </p:nvGrpSpPr>
        <p:grpSpPr>
          <a:xfrm>
            <a:off x="2030580" y="2254406"/>
            <a:ext cx="6787601" cy="3515170"/>
            <a:chOff x="0" y="0"/>
            <a:chExt cx="1267646" cy="656490"/>
          </a:xfrm>
        </p:grpSpPr>
        <p:sp>
          <p:nvSpPr>
            <p:cNvPr id="43" name="Freeform 43"/>
            <p:cNvSpPr/>
            <p:nvPr/>
          </p:nvSpPr>
          <p:spPr>
            <a:xfrm>
              <a:off x="0" y="0"/>
              <a:ext cx="1267646" cy="656490"/>
            </a:xfrm>
            <a:custGeom>
              <a:avLst/>
              <a:gdLst/>
              <a:ahLst/>
              <a:cxnLst/>
              <a:rect l="l" t="t" r="r" b="b"/>
              <a:pathLst>
                <a:path w="1267646" h="656490">
                  <a:moveTo>
                    <a:pt x="18250" y="0"/>
                  </a:moveTo>
                  <a:lnTo>
                    <a:pt x="1249396" y="0"/>
                  </a:lnTo>
                  <a:cubicBezTo>
                    <a:pt x="1259475" y="0"/>
                    <a:pt x="1267646" y="8171"/>
                    <a:pt x="1267646" y="18250"/>
                  </a:cubicBezTo>
                  <a:lnTo>
                    <a:pt x="1267646" y="638240"/>
                  </a:lnTo>
                  <a:cubicBezTo>
                    <a:pt x="1267646" y="643080"/>
                    <a:pt x="1265723" y="647722"/>
                    <a:pt x="1262301" y="651145"/>
                  </a:cubicBezTo>
                  <a:cubicBezTo>
                    <a:pt x="1258878" y="654567"/>
                    <a:pt x="1254236" y="656490"/>
                    <a:pt x="1249396" y="656490"/>
                  </a:cubicBezTo>
                  <a:lnTo>
                    <a:pt x="18250" y="656490"/>
                  </a:lnTo>
                  <a:cubicBezTo>
                    <a:pt x="8171" y="656490"/>
                    <a:pt x="0" y="648319"/>
                    <a:pt x="0" y="638240"/>
                  </a:cubicBezTo>
                  <a:lnTo>
                    <a:pt x="0" y="18250"/>
                  </a:lnTo>
                  <a:cubicBezTo>
                    <a:pt x="0" y="8171"/>
                    <a:pt x="8171" y="0"/>
                    <a:pt x="18250" y="0"/>
                  </a:cubicBezTo>
                  <a:close/>
                </a:path>
              </a:pathLst>
            </a:custGeom>
            <a:blipFill>
              <a:blip r:embed="rId6"/>
              <a:stretch>
                <a:fillRect t="-5156" b="-5156"/>
              </a:stretch>
            </a:blipFill>
          </p:spPr>
        </p:sp>
      </p:grpSp>
      <p:sp>
        <p:nvSpPr>
          <p:cNvPr id="44" name="TextBox 44"/>
          <p:cNvSpPr txBox="1"/>
          <p:nvPr/>
        </p:nvSpPr>
        <p:spPr>
          <a:xfrm>
            <a:off x="9397616" y="2323237"/>
            <a:ext cx="7541110" cy="1842135"/>
          </a:xfrm>
          <a:prstGeom prst="rect">
            <a:avLst/>
          </a:prstGeom>
        </p:spPr>
        <p:txBody>
          <a:bodyPr lIns="0" tIns="0" rIns="0" bIns="0" rtlCol="0" anchor="t">
            <a:spAutoFit/>
          </a:bodyPr>
          <a:lstStyle/>
          <a:p>
            <a:pPr algn="l">
              <a:lnSpc>
                <a:spcPts val="2940"/>
              </a:lnSpc>
            </a:pPr>
            <a:r>
              <a:rPr lang="en-US" sz="2100">
                <a:solidFill>
                  <a:srgbClr val="FFFFFF"/>
                </a:solidFill>
                <a:latin typeface="Inter"/>
                <a:ea typeface="Inter"/>
                <a:cs typeface="Inter"/>
                <a:sym typeface="Inter"/>
              </a:rPr>
              <a:t>Se sugiere implementar el prototipo funcional a través de programas piloto en instituciones sanitarias peruanas como clínicas de nivel I y II, ESSALUD y hospitales del MINSA. Esto permitirá validar a mayor escala la adherencia terapéutica y el impacto clínico del paciente en su propio domicilio. </a:t>
            </a:r>
          </a:p>
        </p:txBody>
      </p:sp>
      <p:sp>
        <p:nvSpPr>
          <p:cNvPr id="45" name="TextBox 45"/>
          <p:cNvSpPr txBox="1"/>
          <p:nvPr/>
        </p:nvSpPr>
        <p:spPr>
          <a:xfrm>
            <a:off x="1586671" y="6189561"/>
            <a:ext cx="7368437" cy="2213610"/>
          </a:xfrm>
          <a:prstGeom prst="rect">
            <a:avLst/>
          </a:prstGeom>
        </p:spPr>
        <p:txBody>
          <a:bodyPr lIns="0" tIns="0" rIns="0" bIns="0" rtlCol="0" anchor="t">
            <a:spAutoFit/>
          </a:bodyPr>
          <a:lstStyle/>
          <a:p>
            <a:pPr algn="l">
              <a:lnSpc>
                <a:spcPts val="2940"/>
              </a:lnSpc>
            </a:pPr>
            <a:r>
              <a:rPr lang="en-US" sz="2100">
                <a:solidFill>
                  <a:srgbClr val="FFFFFF"/>
                </a:solidFill>
                <a:latin typeface="Inter"/>
                <a:ea typeface="Inter"/>
                <a:cs typeface="Inter"/>
                <a:sym typeface="Inter"/>
              </a:rPr>
              <a:t>Se recomienda aprovechar la arquitectura escalable de la plataforma y el almacenamiento histórico de datos para expandir el sistema en el futuro hacia modelos de Inteligencia Artificial. Esto habilitará la capacidad de realizar clasificaciones automáticas y diagnósticos tempranos de patrones motores anómalos.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839814" y="509366"/>
            <a:ext cx="8006145" cy="8006145"/>
          </a:xfrm>
          <a:custGeom>
            <a:avLst/>
            <a:gdLst/>
            <a:ahLst/>
            <a:cxnLst/>
            <a:rect l="l" t="t" r="r" b="b"/>
            <a:pathLst>
              <a:path w="8006145" h="8006145">
                <a:moveTo>
                  <a:pt x="0" y="0"/>
                </a:moveTo>
                <a:lnTo>
                  <a:pt x="8006145" y="0"/>
                </a:lnTo>
                <a:lnTo>
                  <a:pt x="8006145" y="8006144"/>
                </a:lnTo>
                <a:lnTo>
                  <a:pt x="0" y="800614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0454518" y="1461162"/>
            <a:ext cx="7973912" cy="7973912"/>
          </a:xfrm>
          <a:custGeom>
            <a:avLst/>
            <a:gdLst/>
            <a:ahLst/>
            <a:cxnLst/>
            <a:rect l="l" t="t" r="r" b="b"/>
            <a:pathLst>
              <a:path w="7973912" h="7973912">
                <a:moveTo>
                  <a:pt x="0" y="0"/>
                </a:moveTo>
                <a:lnTo>
                  <a:pt x="7973912" y="0"/>
                </a:lnTo>
                <a:lnTo>
                  <a:pt x="7973912" y="7973912"/>
                </a:lnTo>
                <a:lnTo>
                  <a:pt x="0" y="7973912"/>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3867712">
            <a:off x="9356948" y="4961033"/>
            <a:ext cx="12959653" cy="1295965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7" name="Group 7"/>
          <p:cNvGrpSpPr/>
          <p:nvPr/>
        </p:nvGrpSpPr>
        <p:grpSpPr>
          <a:xfrm rot="-3411600">
            <a:off x="16690242" y="-1316573"/>
            <a:ext cx="2644809" cy="264480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66725" cap="sq">
              <a:gradFill>
                <a:gsLst>
                  <a:gs pos="0">
                    <a:srgbClr val="122354">
                      <a:alpha val="100000"/>
                    </a:srgbClr>
                  </a:gs>
                  <a:gs pos="100000">
                    <a:srgbClr val="12539F">
                      <a:alpha val="100000"/>
                    </a:srgbClr>
                  </a:gs>
                </a:gsLst>
                <a:lin ang="5400000"/>
              </a:gra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0" name="Group 10"/>
          <p:cNvGrpSpPr/>
          <p:nvPr/>
        </p:nvGrpSpPr>
        <p:grpSpPr>
          <a:xfrm>
            <a:off x="11097119" y="2103763"/>
            <a:ext cx="6688711" cy="668871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8825" r="-38825"/>
              </a:stretch>
            </a:blipFill>
            <a:ln w="152400" cap="sq">
              <a:gradFill>
                <a:gsLst>
                  <a:gs pos="0">
                    <a:srgbClr val="122354">
                      <a:alpha val="100000"/>
                    </a:srgbClr>
                  </a:gs>
                  <a:gs pos="100000">
                    <a:srgbClr val="12539F">
                      <a:alpha val="100000"/>
                    </a:srgbClr>
                  </a:gs>
                </a:gsLst>
                <a:lin ang="0"/>
              </a:gradFill>
              <a:prstDash val="solid"/>
              <a:miter/>
            </a:ln>
          </p:spPr>
        </p:sp>
      </p:grpSp>
      <p:grpSp>
        <p:nvGrpSpPr>
          <p:cNvPr id="12" name="Group 12"/>
          <p:cNvGrpSpPr/>
          <p:nvPr/>
        </p:nvGrpSpPr>
        <p:grpSpPr>
          <a:xfrm rot="2891737">
            <a:off x="7046474" y="-1516574"/>
            <a:ext cx="3044811" cy="304481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5" name="Group 15"/>
          <p:cNvGrpSpPr/>
          <p:nvPr/>
        </p:nvGrpSpPr>
        <p:grpSpPr>
          <a:xfrm rot="-7459027">
            <a:off x="-1893726" y="8685461"/>
            <a:ext cx="4129759" cy="412975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47675" cap="sq">
              <a:gradFill>
                <a:gsLst>
                  <a:gs pos="0">
                    <a:srgbClr val="7D95DB">
                      <a:alpha val="100000"/>
                    </a:srgbClr>
                  </a:gs>
                  <a:gs pos="100000">
                    <a:srgbClr val="12539F">
                      <a:alpha val="100000"/>
                    </a:srgbClr>
                  </a:gs>
                </a:gsLst>
                <a:lin ang="0"/>
              </a:gradFill>
              <a:prstDash val="solid"/>
              <a:miter/>
            </a:ln>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18" name="Group 18"/>
          <p:cNvGrpSpPr/>
          <p:nvPr/>
        </p:nvGrpSpPr>
        <p:grpSpPr>
          <a:xfrm rot="-7725373">
            <a:off x="360402" y="8266301"/>
            <a:ext cx="1899980" cy="189998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5400000"/>
            </a:gra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21" name="Freeform 21"/>
          <p:cNvSpPr/>
          <p:nvPr/>
        </p:nvSpPr>
        <p:spPr>
          <a:xfrm>
            <a:off x="-3348664" y="2800593"/>
            <a:ext cx="4662775" cy="4662775"/>
          </a:xfrm>
          <a:custGeom>
            <a:avLst/>
            <a:gdLst/>
            <a:ahLst/>
            <a:cxnLst/>
            <a:rect l="l" t="t" r="r" b="b"/>
            <a:pathLst>
              <a:path w="4662775" h="4662775">
                <a:moveTo>
                  <a:pt x="0" y="0"/>
                </a:moveTo>
                <a:lnTo>
                  <a:pt x="4662774" y="0"/>
                </a:lnTo>
                <a:lnTo>
                  <a:pt x="4662774" y="4662774"/>
                </a:lnTo>
                <a:lnTo>
                  <a:pt x="0" y="466277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22" name="Freeform 22"/>
          <p:cNvSpPr/>
          <p:nvPr/>
        </p:nvSpPr>
        <p:spPr>
          <a:xfrm>
            <a:off x="13279663" y="263726"/>
            <a:ext cx="979000" cy="245640"/>
          </a:xfrm>
          <a:custGeom>
            <a:avLst/>
            <a:gdLst/>
            <a:ahLst/>
            <a:cxnLst/>
            <a:rect l="l" t="t" r="r" b="b"/>
            <a:pathLst>
              <a:path w="979000" h="245640">
                <a:moveTo>
                  <a:pt x="0" y="0"/>
                </a:moveTo>
                <a:lnTo>
                  <a:pt x="979001" y="0"/>
                </a:lnTo>
                <a:lnTo>
                  <a:pt x="979001" y="245640"/>
                </a:lnTo>
                <a:lnTo>
                  <a:pt x="0" y="24564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23" name="Group 23"/>
          <p:cNvGrpSpPr/>
          <p:nvPr/>
        </p:nvGrpSpPr>
        <p:grpSpPr>
          <a:xfrm rot="-3411600">
            <a:off x="8998511" y="6890518"/>
            <a:ext cx="616739" cy="61673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7D95DB">
                      <a:alpha val="100000"/>
                    </a:srgbClr>
                  </a:gs>
                  <a:gs pos="100000">
                    <a:srgbClr val="12539F">
                      <a:alpha val="100000"/>
                    </a:srgbClr>
                  </a:gs>
                </a:gsLst>
                <a:lin ang="0"/>
              </a:gradFill>
              <a:prstDash val="solid"/>
              <a:miter/>
            </a:ln>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6" name="Group 26"/>
          <p:cNvGrpSpPr/>
          <p:nvPr/>
        </p:nvGrpSpPr>
        <p:grpSpPr>
          <a:xfrm rot="-3411600">
            <a:off x="7911019" y="6775479"/>
            <a:ext cx="722040" cy="72204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04775" cap="sq">
              <a:gradFill>
                <a:gsLst>
                  <a:gs pos="0">
                    <a:srgbClr val="122354">
                      <a:alpha val="100000"/>
                    </a:srgbClr>
                  </a:gs>
                  <a:gs pos="100000">
                    <a:srgbClr val="12539F">
                      <a:alpha val="100000"/>
                    </a:srgbClr>
                  </a:gs>
                </a:gsLst>
                <a:path path="circle">
                  <a:fillToRect r="100000" b="100000"/>
                </a:path>
                <a:tileRect l="-100000" t="-100000"/>
              </a:gradFill>
              <a:prstDash val="solid"/>
              <a:miter/>
            </a:ln>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29" name="Group 29"/>
          <p:cNvGrpSpPr/>
          <p:nvPr/>
        </p:nvGrpSpPr>
        <p:grpSpPr>
          <a:xfrm rot="-3411600">
            <a:off x="8379445" y="5986077"/>
            <a:ext cx="608165" cy="60816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22354">
                    <a:alpha val="100000"/>
                  </a:srgbClr>
                </a:gs>
                <a:gs pos="100000">
                  <a:srgbClr val="12539F">
                    <a:alpha val="100000"/>
                  </a:srgbClr>
                </a:gs>
              </a:gsLst>
              <a:lin ang="0"/>
            </a:gradFill>
            <a:ln cap="sq">
              <a:noFill/>
              <a:prstDash val="solid"/>
              <a:miter/>
            </a:ln>
          </p:spPr>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2" name="Group 32"/>
          <p:cNvGrpSpPr/>
          <p:nvPr/>
        </p:nvGrpSpPr>
        <p:grpSpPr>
          <a:xfrm rot="5315169">
            <a:off x="7409922" y="703851"/>
            <a:ext cx="1377236" cy="1377236"/>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42875" cap="sq">
              <a:gradFill>
                <a:gsLst>
                  <a:gs pos="0">
                    <a:srgbClr val="7D95DB">
                      <a:alpha val="100000"/>
                    </a:srgbClr>
                  </a:gs>
                  <a:gs pos="100000">
                    <a:srgbClr val="12539F">
                      <a:alpha val="100000"/>
                    </a:srgbClr>
                  </a:gs>
                </a:gsLst>
                <a:lin ang="0"/>
              </a:gradFill>
              <a:prstDash val="solid"/>
              <a:miter/>
            </a:ln>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grpSp>
        <p:nvGrpSpPr>
          <p:cNvPr id="35" name="Group 35"/>
          <p:cNvGrpSpPr/>
          <p:nvPr/>
        </p:nvGrpSpPr>
        <p:grpSpPr>
          <a:xfrm rot="-3411600">
            <a:off x="-858034" y="1320804"/>
            <a:ext cx="1521281" cy="1521281"/>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28600" cap="sq">
              <a:gradFill>
                <a:gsLst>
                  <a:gs pos="0">
                    <a:srgbClr val="7D95DB">
                      <a:alpha val="100000"/>
                    </a:srgbClr>
                  </a:gs>
                  <a:gs pos="100000">
                    <a:srgbClr val="12539F">
                      <a:alpha val="100000"/>
                    </a:srgbClr>
                  </a:gs>
                </a:gsLst>
                <a:lin ang="0"/>
              </a:gradFill>
              <a:prstDash val="solid"/>
              <a:miter/>
            </a:ln>
          </p:spPr>
        </p:sp>
        <p:sp>
          <p:nvSpPr>
            <p:cNvPr id="37" name="TextBox 37"/>
            <p:cNvSpPr txBox="1"/>
            <p:nvPr/>
          </p:nvSpPr>
          <p:spPr>
            <a:xfrm>
              <a:off x="76200" y="28575"/>
              <a:ext cx="660400" cy="708025"/>
            </a:xfrm>
            <a:prstGeom prst="rect">
              <a:avLst/>
            </a:prstGeom>
          </p:spPr>
          <p:txBody>
            <a:bodyPr lIns="50800" tIns="50800" rIns="50800" bIns="50800" rtlCol="0" anchor="ctr"/>
            <a:lstStyle/>
            <a:p>
              <a:pPr algn="ctr">
                <a:lnSpc>
                  <a:spcPts val="3220"/>
                </a:lnSpc>
              </a:pPr>
              <a:endParaRPr/>
            </a:p>
          </p:txBody>
        </p:sp>
      </p:grpSp>
      <p:sp>
        <p:nvSpPr>
          <p:cNvPr id="38" name="Freeform 38"/>
          <p:cNvSpPr/>
          <p:nvPr/>
        </p:nvSpPr>
        <p:spPr>
          <a:xfrm>
            <a:off x="15692294" y="9435074"/>
            <a:ext cx="2736136" cy="1497413"/>
          </a:xfrm>
          <a:custGeom>
            <a:avLst/>
            <a:gdLst/>
            <a:ahLst/>
            <a:cxnLst/>
            <a:rect l="l" t="t" r="r" b="b"/>
            <a:pathLst>
              <a:path w="2736136" h="1497413">
                <a:moveTo>
                  <a:pt x="0" y="0"/>
                </a:moveTo>
                <a:lnTo>
                  <a:pt x="2736136" y="0"/>
                </a:lnTo>
                <a:lnTo>
                  <a:pt x="2736136" y="1497412"/>
                </a:lnTo>
                <a:lnTo>
                  <a:pt x="0" y="149741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9" name="TextBox 39"/>
          <p:cNvSpPr txBox="1"/>
          <p:nvPr/>
        </p:nvSpPr>
        <p:spPr>
          <a:xfrm>
            <a:off x="1981558" y="4671830"/>
            <a:ext cx="6281112" cy="1552575"/>
          </a:xfrm>
          <a:prstGeom prst="rect">
            <a:avLst/>
          </a:prstGeom>
        </p:spPr>
        <p:txBody>
          <a:bodyPr lIns="0" tIns="0" rIns="0" bIns="0" rtlCol="0" anchor="t">
            <a:spAutoFit/>
          </a:bodyPr>
          <a:lstStyle/>
          <a:p>
            <a:pPr algn="l">
              <a:lnSpc>
                <a:spcPts val="12228"/>
              </a:lnSpc>
            </a:pPr>
            <a:r>
              <a:rPr lang="en-US" sz="10190" b="1">
                <a:gradFill>
                  <a:gsLst>
                    <a:gs pos="0">
                      <a:srgbClr val="122354">
                        <a:alpha val="100000"/>
                      </a:srgbClr>
                    </a:gs>
                    <a:gs pos="100000">
                      <a:srgbClr val="12539F">
                        <a:alpha val="100000"/>
                      </a:srgbClr>
                    </a:gs>
                  </a:gsLst>
                  <a:lin ang="5400000"/>
                </a:gradFill>
                <a:latin typeface="Montaser Arabic Bold"/>
                <a:ea typeface="Montaser Arabic Bold"/>
                <a:cs typeface="Montaser Arabic Bold"/>
                <a:sym typeface="Montaser Arabic Bold"/>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2170</Words>
  <Application>Microsoft Office PowerPoint</Application>
  <PresentationFormat>Personalizado</PresentationFormat>
  <Paragraphs>151</Paragraphs>
  <Slides>26</Slides>
  <Notes>0</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26</vt:i4>
      </vt:variant>
    </vt:vector>
  </HeadingPairs>
  <TitlesOfParts>
    <vt:vector size="36" baseType="lpstr">
      <vt:lpstr>Montaser Arabic Bold</vt:lpstr>
      <vt:lpstr>Stinger Fit Bold</vt:lpstr>
      <vt:lpstr>Calibri</vt:lpstr>
      <vt:lpstr>Alice Bold</vt:lpstr>
      <vt:lpstr>Inter Bold</vt:lpstr>
      <vt:lpstr>Inter</vt:lpstr>
      <vt:lpstr>Inter Medium</vt:lpstr>
      <vt:lpstr>Arial</vt:lpstr>
      <vt:lpstr>Office Theme</vt:lpstr>
      <vt:lpstr>Hoja de cálculo de Microsoft Excel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Integrantes: Alvarez Jara Lenin Allister Ccoyllo Sigüenza Denzel Leyton Enriquez Coronel Juan David Isidro Frisancho Kevin Aldair</dc:title>
  <cp:lastModifiedBy>Jackeline Beatriz Jara Vasquez</cp:lastModifiedBy>
  <cp:revision>3</cp:revision>
  <dcterms:created xsi:type="dcterms:W3CDTF">2006-08-16T00:00:00Z</dcterms:created>
  <dcterms:modified xsi:type="dcterms:W3CDTF">2026-06-28T19:08:45Z</dcterms:modified>
  <dc:identifier>DAHNLJB2SzY</dc:identifier>
</cp:coreProperties>
</file>